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Sequoia, Company purpose: 'define your company in a single declarative sentence.' Say the sentence. Do not add features. The line on the right is the promised land and it recurs on slides 7 and 20 — it is the sentence you want repeated after you leave the room.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facts before the argument so they can weigh everything that follows. Every value on this slide is yours to fill — none of it can come from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something that has already happened, not something you predict. Raskin: naming the change first keeps the room out of a defensive crouch — you are not telling them their process is broken, you are telling them the law moved. Three billion riyals down to three hundred and seventy-five thousand, which is the VAT registration line. A commission is an invoice. That invoice is now a cleared government document.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part that decides the outcome. The withholding rate on a partner payment is not one number — it is five, fifteen or twenty depending on what kind of payment it is, and it triples from five to fifteen if the counterparty is related to you. Getting that right requires knowing what the payment is and who the counterparty is. That is a data model. It is not a column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company here already has software that computes what it thinks it is owed. What no company has is a record the other side also settles against. And the two accounting judgements hanging off it are audited. When we say system of record we mean the record an auditor accepts, not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our claim about our competitors. This is the independent review marketplace's definition of what our competitors are, pulled from G2's API this morning. Six required capabilities, none of them financial in the settlement sense. The category boundary was drawn around the money. That is where we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data on this slide. Describe the state of the world, not the product. Raskin's test: the promised land is not having your technology, it is what life is like thanks to having it. If the sentence contains the word ledger or platform, it has been written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eureka is that we do not have to invent a shared record — the regulator built one. What ZATCA holds is that an invoice was issued at a rate. What it does not hold is why: who sourced the deal, under what protection window, whether the claim was eligible under which version of the agreement, whether the counterparty is related. Those facts determine the amount and the rate, and they exist nowhere but in email.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this slide with three real screenshots before you present: claim registration, the attribution record with its protection window, and an evidence pack as finance receives it. The design constraint is the important part — a company gets full value without its partner ever logging in. We are not asking two CFOs to agree on anything in year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row is the one that only works if you are built here. Five versus fifteen percent turns on whether the counterparty is related to you; fifteen versus twenty turns on whether it is a royalty or a management fee. A global tool ships that as a config flag. It is not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useful thing I can tell you about this roadmap is what we deliberately did not build. We could have started with the ledger. We didn't, because a ledger with no captured claims has nothing to settle and a network with no settled ledger has nothing to orchestrate. Toast, ServiceTitan and Shopify all did the record first and the money second. None of them did it the other way round. And ServiceTitan is still seventy percent subscription today — the flow layer is an addition, not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Sequoia's own question is: why hasn't this been built before now. The answer is that until three years ago there was no forcing function. This was a spreadsheet problem, and spreadsheet problems don't get budget. It became a filing obligation, and filings get budget. Notice the shape of the map — the EU's intra-EU requirement lands in 2030 and convergence in 2035. Saudi arrives in 2026 and 2027. We are not early to a trend. We are on time in the market that got there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give you the number that argues against me first. Partner share of IT spend is falling — 70.1 down to 66.7 percent. That is real. It is falling because AI infrastructure capex inflates the direct denominator, not because the channel is shrinking. The number I actually care about is the last one: the average customer now works with six point three partners. Reconciliation cost does not scale with revenue. It scales with counterparties.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not going to show you a market study, because Sequoia's own guidance says not to and because for this category the study genuinely does not exist — nobody sizes B2B partner commissions as a market. So here is the arithmetic instead. Every input in blue has a source on this page. Every input in amber is an assumption I am making and will defend. The one I am least certain of is the third rung, and I will show you exactly how I got there.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answer to who do you lose to is Excel and an emailed statement. I will take the rest head-on. AppDirect just bought Tackle and PartnerStack — it is the most serious competitor here and it can build ZATCA clearance. What it cannot do is become neutral, because it takes a cut of the transaction it would be adjudicating. That is not a feature gap. It is a structural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I want to be explicit about. First, we do not take a percentage of what a partner is owed. Second, when we do earn a flow fee in Phase 2, the honest number is basis points. Toast's headline take is two and a half percent; its net take is fifty-five basis points, because most of the gross is pass-through. Any founder who shows you two percent of a big number has not read the filings.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pre-revenue, so I am not going to show you a hockey stick. I am going to show you the things that would have to be false for this to be wrong.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pre-seed bar is two questions: can a venture-scale business be built in this market, and is this the team to build it. Answer the second by mapping each unsolved part of the problem to a person and the evidence they can solve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missing operating plan is the single most common pre-seed failure. Name the risk each milestone removes, then the date, then the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slide where you name the category. Nineteen slides borrow language the buyer already uses — ZATCA Phase 2, partner-led revenue. Coining a category early confuses buyers more often than it creates one. Five years out, a Saudi company and a German company settle a partner payout against a single record both auditors sign and both tax authorities accept. Somebody is going to build that record. The only real question is whose ledger both sides sign.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 appendix. Let it be found.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these in the back and offer them. Volunteering the objection is worth more than defending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not decoration. It is the reason the rest of the deck can be trusted: every number that was cut was cut because somebody would Google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page in the file. It is the instruction set for whoever edits the deck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1051560"/>
            <a:ext cx="146304" cy="146304"/>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87552" y="1252728"/>
            <a:ext cx="146304" cy="146304"/>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572768"/>
            <a:ext cx="8229600" cy="274320"/>
          </a:xfrm>
          <a:prstGeom prst="rect">
            <a:avLst/>
          </a:prstGeom>
          <a:noFill/>
        </p:spPr>
        <p:txBody>
          <a:bodyPr wrap="square" lIns="0" rIns="0" tIns="0" bIns="0" anchor="t">
            <a:spAutoFit/>
          </a:bodyPr>
          <a:lstStyle/>
          <a:p>
            <a:pPr algn="l">
              <a:lnSpc>
                <a:spcPct val="128000"/>
              </a:lnSpc>
            </a:pPr>
            <a:r>
              <a:rPr sz="1100" b="1" i="0" spc="300">
                <a:solidFill>
                  <a:srgbClr val="86A2FF"/>
                </a:solidFill>
                <a:latin typeface="Segoe UI"/>
              </a:rPr>
              <a:t>PRE-SEED · RIYADH, SAUDI ARABIA · AUGUST 2026</a:t>
            </a:r>
          </a:p>
        </p:txBody>
      </p:sp>
      <p:sp>
        <p:nvSpPr>
          <p:cNvPr id="7" name="TextBox 6"/>
          <p:cNvSpPr txBox="1"/>
          <p:nvPr/>
        </p:nvSpPr>
        <p:spPr>
          <a:xfrm>
            <a:off x="786384" y="2084831"/>
            <a:ext cx="7269480" cy="2194560"/>
          </a:xfrm>
          <a:prstGeom prst="rect">
            <a:avLst/>
          </a:prstGeom>
          <a:noFill/>
        </p:spPr>
        <p:txBody>
          <a:bodyPr wrap="square" lIns="0" rIns="0" tIns="0" bIns="0" anchor="t">
            <a:spAutoFit/>
          </a:bodyPr>
          <a:lstStyle/>
          <a:p>
            <a:pPr algn="l">
              <a:lnSpc>
                <a:spcPct val="102000"/>
              </a:lnSpc>
            </a:pPr>
            <a:r>
              <a:rPr sz="5400" b="0" i="0" spc="-80">
                <a:solidFill>
                  <a:srgbClr val="EAEEF7"/>
                </a:solidFill>
                <a:latin typeface="Georgia"/>
              </a:rPr>
              <a:t>The system of record
for the money one business
owes another.</a:t>
            </a:r>
          </a:p>
        </p:txBody>
      </p:sp>
      <p:sp>
        <p:nvSpPr>
          <p:cNvPr id="8" name="Rectangle 7"/>
          <p:cNvSpPr/>
          <p:nvPr/>
        </p:nvSpPr>
        <p:spPr>
          <a:xfrm>
            <a:off x="786384" y="4279392"/>
            <a:ext cx="2926080" cy="10972"/>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553712"/>
            <a:ext cx="8595360" cy="914400"/>
          </a:xfrm>
          <a:prstGeom prst="rect">
            <a:avLst/>
          </a:prstGeom>
          <a:noFill/>
        </p:spPr>
        <p:txBody>
          <a:bodyPr wrap="square" lIns="0" rIns="0" tIns="0" bIns="0" anchor="t">
            <a:spAutoFit/>
          </a:bodyPr>
          <a:lstStyle/>
          <a:p>
            <a:pPr algn="l">
              <a:lnSpc>
                <a:spcPct val="142000"/>
              </a:lnSpc>
            </a:pPr>
            <a:r>
              <a:rPr sz="1650" b="0" i="0">
                <a:solidFill>
                  <a:srgbClr val="A6B2CA"/>
                </a:solidFill>
                <a:latin typeface="Segoe UI"/>
              </a:rPr>
              <a:t>Reven is the shared, audited record of partner-sourced revenue — the claim, the attribution, the eligibility and the evidence — for the commissions, revenue shares, rebates and referral fees that two companies must agree on.</a:t>
            </a:r>
          </a:p>
        </p:txBody>
      </p:sp>
      <p:sp>
        <p:nvSpPr>
          <p:cNvPr id="10" name="TextBox 9"/>
          <p:cNvSpPr txBox="1"/>
          <p:nvPr/>
        </p:nvSpPr>
        <p:spPr>
          <a:xfrm>
            <a:off x="786384" y="5925312"/>
            <a:ext cx="9144000" cy="274320"/>
          </a:xfrm>
          <a:prstGeom prst="rect">
            <a:avLst/>
          </a:prstGeom>
          <a:noFill/>
        </p:spPr>
        <p:txBody>
          <a:bodyPr wrap="square" lIns="0" rIns="0" tIns="0" bIns="0" anchor="t">
            <a:spAutoFit/>
          </a:bodyPr>
          <a:lstStyle/>
          <a:p>
            <a:pPr algn="l">
              <a:lnSpc>
                <a:spcPct val="128000"/>
              </a:lnSpc>
            </a:pPr>
            <a:r>
              <a:rPr sz="950" b="0" i="0" spc="200">
                <a:solidFill>
                  <a:srgbClr val="48526E"/>
                </a:solidFill>
                <a:latin typeface="Segoe UI"/>
              </a:rPr>
              <a:t>CONFIDENTIAL</a:t>
            </a:r>
          </a:p>
        </p:txBody>
      </p:sp>
      <p:sp>
        <p:nvSpPr>
          <p:cNvPr id="11" name="TextBox 10"/>
          <p:cNvSpPr txBox="1"/>
          <p:nvPr/>
        </p:nvSpPr>
        <p:spPr>
          <a:xfrm>
            <a:off x="8205185" y="2139696"/>
            <a:ext cx="3200400" cy="1280160"/>
          </a:xfrm>
          <a:prstGeom prst="rect">
            <a:avLst/>
          </a:prstGeom>
          <a:noFill/>
        </p:spPr>
        <p:txBody>
          <a:bodyPr wrap="square" lIns="0" rIns="0" tIns="0" bIns="0" anchor="t">
            <a:spAutoFit/>
          </a:bodyPr>
          <a:lstStyle/>
          <a:p>
            <a:pPr algn="r">
              <a:lnSpc>
                <a:spcPct val="120000"/>
              </a:lnSpc>
            </a:pPr>
            <a:r>
              <a:rPr sz="4000" b="0" i="0">
                <a:solidFill>
                  <a:srgbClr val="2A5BF5"/>
                </a:solidFill>
                <a:latin typeface="Georgia"/>
              </a:rPr>
              <a:t>“</a:t>
            </a:r>
          </a:p>
          <a:p>
            <a:pPr algn="r">
              <a:lnSpc>
                <a:spcPct val="120000"/>
              </a:lnSpc>
              <a:spcBef>
                <a:spcPts val="600"/>
              </a:spcBef>
            </a:pPr>
            <a:r>
              <a:rPr sz="1900" b="0" i="0">
                <a:solidFill>
                  <a:srgbClr val="A6B2CA"/>
                </a:solidFill>
                <a:latin typeface="Georgia"/>
              </a:rPr>
              <a:t>Two companies,
one number,
no argument.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02</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FAST FACTS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800" b="0" i="0" spc="-40">
                <a:solidFill>
                  <a:srgbClr val="EAEEF7"/>
                </a:solidFill>
                <a:latin typeface="Georgia"/>
              </a:rPr>
              <a:t>Reven: [N] people in Riyadh, Phase 1 in build, pre-revenue,
raising [amount] for [N] months to reach [milestone].</a:t>
            </a:r>
          </a:p>
        </p:txBody>
      </p:sp>
      <p:sp>
        <p:nvSpPr>
          <p:cNvPr id="10" name="TextBox 9"/>
          <p:cNvSpPr txBox="1"/>
          <p:nvPr/>
        </p:nvSpPr>
        <p:spPr>
          <a:xfrm>
            <a:off x="786384" y="269748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FOUNDED</a:t>
            </a:r>
          </a:p>
        </p:txBody>
      </p:sp>
      <p:sp>
        <p:nvSpPr>
          <p:cNvPr id="11" name="Rectangle 10"/>
          <p:cNvSpPr/>
          <p:nvPr/>
        </p:nvSpPr>
        <p:spPr>
          <a:xfrm>
            <a:off x="786384" y="299008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11810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[Month Year]</a:t>
            </a:r>
          </a:p>
        </p:txBody>
      </p:sp>
      <p:sp>
        <p:nvSpPr>
          <p:cNvPr id="13" name="TextBox 12"/>
          <p:cNvSpPr txBox="1"/>
          <p:nvPr/>
        </p:nvSpPr>
        <p:spPr>
          <a:xfrm>
            <a:off x="3456432" y="269748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LOCATION</a:t>
            </a:r>
          </a:p>
        </p:txBody>
      </p:sp>
      <p:sp>
        <p:nvSpPr>
          <p:cNvPr id="14" name="Rectangle 13"/>
          <p:cNvSpPr/>
          <p:nvPr/>
        </p:nvSpPr>
        <p:spPr>
          <a:xfrm>
            <a:off x="3456432" y="299008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311810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Riyadh, KSA</a:t>
            </a:r>
          </a:p>
        </p:txBody>
      </p:sp>
      <p:sp>
        <p:nvSpPr>
          <p:cNvPr id="16" name="TextBox 15"/>
          <p:cNvSpPr txBox="1"/>
          <p:nvPr/>
        </p:nvSpPr>
        <p:spPr>
          <a:xfrm>
            <a:off x="6126480" y="269748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TEAM</a:t>
            </a:r>
          </a:p>
        </p:txBody>
      </p:sp>
      <p:sp>
        <p:nvSpPr>
          <p:cNvPr id="17" name="Rectangle 16"/>
          <p:cNvSpPr/>
          <p:nvPr/>
        </p:nvSpPr>
        <p:spPr>
          <a:xfrm>
            <a:off x="6126480" y="299008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11810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[N] full-time</a:t>
            </a:r>
          </a:p>
        </p:txBody>
      </p:sp>
      <p:sp>
        <p:nvSpPr>
          <p:cNvPr id="19" name="TextBox 18"/>
          <p:cNvSpPr txBox="1"/>
          <p:nvPr/>
        </p:nvSpPr>
        <p:spPr>
          <a:xfrm>
            <a:off x="8796528" y="269748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PRODUCT</a:t>
            </a:r>
          </a:p>
        </p:txBody>
      </p:sp>
      <p:sp>
        <p:nvSpPr>
          <p:cNvPr id="20" name="Rectangle 19"/>
          <p:cNvSpPr/>
          <p:nvPr/>
        </p:nvSpPr>
        <p:spPr>
          <a:xfrm>
            <a:off x="8796528" y="299008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96528" y="311810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Phase 1 — Capture, in build</a:t>
            </a:r>
          </a:p>
        </p:txBody>
      </p:sp>
      <p:sp>
        <p:nvSpPr>
          <p:cNvPr id="22" name="TextBox 21"/>
          <p:cNvSpPr txBox="1"/>
          <p:nvPr/>
        </p:nvSpPr>
        <p:spPr>
          <a:xfrm>
            <a:off x="786384" y="388620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REVENUE</a:t>
            </a:r>
          </a:p>
        </p:txBody>
      </p:sp>
      <p:sp>
        <p:nvSpPr>
          <p:cNvPr id="23" name="Rectangle 22"/>
          <p:cNvSpPr/>
          <p:nvPr/>
        </p:nvSpPr>
        <p:spPr>
          <a:xfrm>
            <a:off x="786384" y="417880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430682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Pre-revenue</a:t>
            </a:r>
          </a:p>
        </p:txBody>
      </p:sp>
      <p:sp>
        <p:nvSpPr>
          <p:cNvPr id="25" name="TextBox 24"/>
          <p:cNvSpPr txBox="1"/>
          <p:nvPr/>
        </p:nvSpPr>
        <p:spPr>
          <a:xfrm>
            <a:off x="3456432" y="388620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RAISING</a:t>
            </a:r>
          </a:p>
        </p:txBody>
      </p:sp>
      <p:sp>
        <p:nvSpPr>
          <p:cNvPr id="26" name="Rectangle 25"/>
          <p:cNvSpPr/>
          <p:nvPr/>
        </p:nvSpPr>
        <p:spPr>
          <a:xfrm>
            <a:off x="3456432" y="417880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56432" y="430682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[amount] · [equity]%</a:t>
            </a:r>
          </a:p>
        </p:txBody>
      </p:sp>
      <p:sp>
        <p:nvSpPr>
          <p:cNvPr id="28" name="TextBox 27"/>
          <p:cNvSpPr txBox="1"/>
          <p:nvPr/>
        </p:nvSpPr>
        <p:spPr>
          <a:xfrm>
            <a:off x="6126480" y="3886200"/>
            <a:ext cx="2468880" cy="256032"/>
          </a:xfrm>
          <a:prstGeom prst="rect">
            <a:avLst/>
          </a:prstGeom>
          <a:noFill/>
        </p:spPr>
        <p:txBody>
          <a:bodyPr wrap="square" lIns="0" rIns="0" tIns="0" bIns="0" anchor="t">
            <a:spAutoFit/>
          </a:bodyPr>
          <a:lstStyle/>
          <a:p>
            <a:pPr algn="l">
              <a:lnSpc>
                <a:spcPct val="128000"/>
              </a:lnSpc>
            </a:pPr>
            <a:r>
              <a:rPr sz="900" b="1" i="0" spc="180">
                <a:solidFill>
                  <a:srgbClr val="6E7A94"/>
                </a:solidFill>
                <a:latin typeface="Segoe UI"/>
              </a:rPr>
              <a:t>RUNWAY</a:t>
            </a:r>
          </a:p>
        </p:txBody>
      </p:sp>
      <p:sp>
        <p:nvSpPr>
          <p:cNvPr id="29" name="Rectangle 28"/>
          <p:cNvSpPr/>
          <p:nvPr/>
        </p:nvSpPr>
        <p:spPr>
          <a:xfrm>
            <a:off x="6126480" y="4178808"/>
            <a:ext cx="233172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4306824"/>
            <a:ext cx="2468880" cy="457200"/>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[N] months</a:t>
            </a:r>
          </a:p>
        </p:txBody>
      </p:sp>
      <p:sp>
        <p:nvSpPr>
          <p:cNvPr id="31" name="TextBox 30"/>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Sequoia, “How to Present to Investors” — the third of three opening slides, inside the first five minutes. Say “pre-revenue” plainly; hiding the stage reads as evasion.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03</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WHY NOW  ·  THE UNDENIABLE SHIFT</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In Saudi Arabia the commission invoice stopped being a PDF between two
companies and became a document the tax authority clears before it can
be issued — and the threshold has fallen 8,000-fold in three and a half years.</a:t>
            </a:r>
          </a:p>
        </p:txBody>
      </p:sp>
      <p:sp>
        <p:nvSpPr>
          <p:cNvPr id="10" name="Rectangle 9"/>
          <p:cNvSpPr/>
          <p:nvPr/>
        </p:nvSpPr>
        <p:spPr>
          <a:xfrm>
            <a:off x="786384" y="2560320"/>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560320"/>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176272"/>
            <a:ext cx="1463040" cy="274320"/>
          </a:xfrm>
          <a:prstGeom prst="rect">
            <a:avLst/>
          </a:prstGeom>
          <a:noFill/>
        </p:spPr>
        <p:txBody>
          <a:bodyPr wrap="square" lIns="0" rIns="0" tIns="0" bIns="0" anchor="t">
            <a:spAutoFit/>
          </a:bodyPr>
          <a:lstStyle/>
          <a:p>
            <a:pPr algn="l">
              <a:lnSpc>
                <a:spcPct val="128000"/>
              </a:lnSpc>
            </a:pPr>
            <a:r>
              <a:rPr sz="1250" b="1" i="0">
                <a:solidFill>
                  <a:srgbClr val="E0BE74"/>
                </a:solidFill>
                <a:latin typeface="Consolas"/>
              </a:rPr>
              <a:t>SAR 3bn</a:t>
            </a:r>
          </a:p>
        </p:txBody>
      </p:sp>
      <p:sp>
        <p:nvSpPr>
          <p:cNvPr id="13" name="TextBox 12"/>
          <p:cNvSpPr txBox="1"/>
          <p:nvPr/>
        </p:nvSpPr>
        <p:spPr>
          <a:xfrm>
            <a:off x="786384" y="2779776"/>
            <a:ext cx="1463040" cy="402336"/>
          </a:xfrm>
          <a:prstGeom prst="rect">
            <a:avLst/>
          </a:prstGeom>
          <a:noFill/>
        </p:spPr>
        <p:txBody>
          <a:bodyPr wrap="square" lIns="0" rIns="0" tIns="0" bIns="0" anchor="t">
            <a:spAutoFit/>
          </a:bodyPr>
          <a:lstStyle/>
          <a:p>
            <a:pPr algn="l">
              <a:lnSpc>
                <a:spcPct val="120000"/>
              </a:lnSpc>
            </a:pPr>
            <a:r>
              <a:rPr sz="950" b="1" i="0">
                <a:solidFill>
                  <a:srgbClr val="A6B2CA"/>
                </a:solidFill>
                <a:latin typeface="Segoe UI"/>
              </a:rPr>
              <a:t>Wave 1</a:t>
            </a:r>
          </a:p>
          <a:p>
            <a:pPr algn="l">
              <a:lnSpc>
                <a:spcPct val="120000"/>
              </a:lnSpc>
              <a:spcBef>
                <a:spcPts val="600"/>
              </a:spcBef>
            </a:pPr>
            <a:r>
              <a:rPr sz="900" b="0" i="0">
                <a:solidFill>
                  <a:srgbClr val="6E7A94"/>
                </a:solidFill>
                <a:latin typeface="Segoe UI"/>
              </a:rPr>
              <a:t>Jan 2023</a:t>
            </a:r>
          </a:p>
        </p:txBody>
      </p:sp>
      <p:sp>
        <p:nvSpPr>
          <p:cNvPr id="14" name="Rectangle 13"/>
          <p:cNvSpPr/>
          <p:nvPr/>
        </p:nvSpPr>
        <p:spPr>
          <a:xfrm>
            <a:off x="1400403" y="2725872"/>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6660" y="2910900"/>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09036" y="3105668"/>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03650" y="3319912"/>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534156"/>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28996" y="3758138"/>
            <a:ext cx="932688" cy="132588"/>
          </a:xfrm>
          <a:prstGeom prst="rect">
            <a:avLst/>
          </a:prstGeom>
          <a:solidFill>
            <a:srgbClr val="1E2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1966" y="4001597"/>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31966" y="4001597"/>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31966" y="3617549"/>
            <a:ext cx="1463040" cy="274320"/>
          </a:xfrm>
          <a:prstGeom prst="rect">
            <a:avLst/>
          </a:prstGeom>
          <a:noFill/>
        </p:spPr>
        <p:txBody>
          <a:bodyPr wrap="square" lIns="0" rIns="0" tIns="0" bIns="0" anchor="t">
            <a:spAutoFit/>
          </a:bodyPr>
          <a:lstStyle/>
          <a:p>
            <a:pPr algn="l">
              <a:lnSpc>
                <a:spcPct val="128000"/>
              </a:lnSpc>
            </a:pPr>
            <a:r>
              <a:rPr sz="1250" b="1" i="0">
                <a:solidFill>
                  <a:srgbClr val="E0BE74"/>
                </a:solidFill>
                <a:latin typeface="Consolas"/>
              </a:rPr>
              <a:t>SAR 375,000</a:t>
            </a:r>
          </a:p>
        </p:txBody>
      </p:sp>
      <p:sp>
        <p:nvSpPr>
          <p:cNvPr id="23" name="TextBox 22"/>
          <p:cNvSpPr txBox="1"/>
          <p:nvPr/>
        </p:nvSpPr>
        <p:spPr>
          <a:xfrm>
            <a:off x="6131966" y="4221053"/>
            <a:ext cx="1463040" cy="402336"/>
          </a:xfrm>
          <a:prstGeom prst="rect">
            <a:avLst/>
          </a:prstGeom>
          <a:noFill/>
        </p:spPr>
        <p:txBody>
          <a:bodyPr wrap="square" lIns="0" rIns="0" tIns="0" bIns="0" anchor="t">
            <a:spAutoFit/>
          </a:bodyPr>
          <a:lstStyle/>
          <a:p>
            <a:pPr algn="l">
              <a:lnSpc>
                <a:spcPct val="120000"/>
              </a:lnSpc>
            </a:pPr>
            <a:r>
              <a:rPr sz="950" b="1" i="0">
                <a:solidFill>
                  <a:srgbClr val="A6B2CA"/>
                </a:solidFill>
                <a:latin typeface="Segoe UI"/>
              </a:rPr>
              <a:t>Wave 24</a:t>
            </a:r>
          </a:p>
          <a:p>
            <a:pPr algn="l">
              <a:lnSpc>
                <a:spcPct val="120000"/>
              </a:lnSpc>
              <a:spcBef>
                <a:spcPts val="600"/>
              </a:spcBef>
            </a:pPr>
            <a:r>
              <a:rPr sz="900" b="0" i="0">
                <a:solidFill>
                  <a:srgbClr val="6E7A94"/>
                </a:solidFill>
                <a:latin typeface="Segoe UI"/>
              </a:rPr>
              <a:t>30 Jun 2026</a:t>
            </a:r>
          </a:p>
        </p:txBody>
      </p:sp>
      <p:sp>
        <p:nvSpPr>
          <p:cNvPr id="24" name="Rectangle 23"/>
          <p:cNvSpPr/>
          <p:nvPr/>
        </p:nvSpPr>
        <p:spPr>
          <a:xfrm>
            <a:off x="8010144" y="4507992"/>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10144" y="4507992"/>
            <a:ext cx="932688" cy="13258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10144" y="4123944"/>
            <a:ext cx="1463040" cy="274320"/>
          </a:xfrm>
          <a:prstGeom prst="rect">
            <a:avLst/>
          </a:prstGeom>
          <a:noFill/>
        </p:spPr>
        <p:txBody>
          <a:bodyPr wrap="square" lIns="0" rIns="0" tIns="0" bIns="0" anchor="t">
            <a:spAutoFit/>
          </a:bodyPr>
          <a:lstStyle/>
          <a:p>
            <a:pPr algn="l">
              <a:lnSpc>
                <a:spcPct val="128000"/>
              </a:lnSpc>
            </a:pPr>
            <a:r>
              <a:rPr sz="1250" b="1" i="0">
                <a:solidFill>
                  <a:srgbClr val="E0BE74"/>
                </a:solidFill>
                <a:latin typeface="Consolas"/>
              </a:rPr>
              <a:t>SAR 187,500</a:t>
            </a:r>
          </a:p>
        </p:txBody>
      </p:sp>
      <p:sp>
        <p:nvSpPr>
          <p:cNvPr id="27" name="TextBox 26"/>
          <p:cNvSpPr txBox="1"/>
          <p:nvPr/>
        </p:nvSpPr>
        <p:spPr>
          <a:xfrm>
            <a:off x="8010144" y="4727448"/>
            <a:ext cx="1463040" cy="402336"/>
          </a:xfrm>
          <a:prstGeom prst="rect">
            <a:avLst/>
          </a:prstGeom>
          <a:noFill/>
        </p:spPr>
        <p:txBody>
          <a:bodyPr wrap="square" lIns="0" rIns="0" tIns="0" bIns="0" anchor="t">
            <a:spAutoFit/>
          </a:bodyPr>
          <a:lstStyle/>
          <a:p>
            <a:pPr algn="l">
              <a:lnSpc>
                <a:spcPct val="120000"/>
              </a:lnSpc>
            </a:pPr>
            <a:r>
              <a:rPr sz="950" b="1" i="0">
                <a:solidFill>
                  <a:srgbClr val="A6B2CA"/>
                </a:solidFill>
                <a:latin typeface="Segoe UI"/>
              </a:rPr>
              <a:t>Wave 25</a:t>
            </a:r>
          </a:p>
          <a:p>
            <a:pPr algn="l">
              <a:lnSpc>
                <a:spcPct val="120000"/>
              </a:lnSpc>
              <a:spcBef>
                <a:spcPts val="600"/>
              </a:spcBef>
            </a:pPr>
            <a:r>
              <a:rPr sz="900" b="0" i="0">
                <a:solidFill>
                  <a:srgbClr val="6E7A94"/>
                </a:solidFill>
                <a:latin typeface="Segoe UI"/>
              </a:rPr>
              <a:t>1 Feb 2027</a:t>
            </a:r>
          </a:p>
        </p:txBody>
      </p:sp>
      <p:sp>
        <p:nvSpPr>
          <p:cNvPr id="28" name="Rectangle 27"/>
          <p:cNvSpPr/>
          <p:nvPr/>
        </p:nvSpPr>
        <p:spPr>
          <a:xfrm>
            <a:off x="658368" y="2468879"/>
            <a:ext cx="10972" cy="2834639"/>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440679"/>
            <a:ext cx="8412480" cy="274320"/>
          </a:xfrm>
          <a:prstGeom prst="rect">
            <a:avLst/>
          </a:prstGeom>
          <a:noFill/>
        </p:spPr>
        <p:txBody>
          <a:bodyPr wrap="square" lIns="0" rIns="0" tIns="0" bIns="0" anchor="t">
            <a:spAutoFit/>
          </a:bodyPr>
          <a:lstStyle/>
          <a:p>
            <a:pPr algn="l">
              <a:lnSpc>
                <a:spcPct val="128000"/>
              </a:lnSpc>
            </a:pPr>
            <a:r>
              <a:rPr sz="1050" b="0" i="0">
                <a:solidFill>
                  <a:srgbClr val="6E7A94"/>
                </a:solidFill>
                <a:latin typeface="Segoe UI"/>
              </a:rPr>
              <a:t>Every step was announced in advance. Thresholds do not go back up.</a:t>
            </a:r>
          </a:p>
        </p:txBody>
      </p:sp>
      <p:sp>
        <p:nvSpPr>
          <p:cNvPr id="30" name="Rounded Rectangle 29"/>
          <p:cNvSpPr/>
          <p:nvPr/>
        </p:nvSpPr>
        <p:spPr>
          <a:xfrm>
            <a:off x="9189719" y="2487168"/>
            <a:ext cx="2651760" cy="2788920"/>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09176" y="2724912"/>
            <a:ext cx="2240280" cy="274320"/>
          </a:xfrm>
          <a:prstGeom prst="rect">
            <a:avLst/>
          </a:prstGeom>
          <a:noFill/>
        </p:spPr>
        <p:txBody>
          <a:bodyPr wrap="square" lIns="0" rIns="0" tIns="0" bIns="0" anchor="t">
            <a:spAutoFit/>
          </a:bodyPr>
          <a:lstStyle/>
          <a:p>
            <a:pPr algn="l">
              <a:lnSpc>
                <a:spcPct val="128000"/>
              </a:lnSpc>
            </a:pPr>
            <a:r>
              <a:rPr sz="900" b="1" i="0" spc="180">
                <a:solidFill>
                  <a:srgbClr val="86A2FF"/>
                </a:solidFill>
                <a:latin typeface="Segoe UI"/>
              </a:rPr>
              <a:t>WHAT IT MEANS</a:t>
            </a:r>
          </a:p>
        </p:txBody>
      </p:sp>
      <p:sp>
        <p:nvSpPr>
          <p:cNvPr id="32" name="Rectangle 31"/>
          <p:cNvSpPr/>
          <p:nvPr/>
        </p:nvSpPr>
        <p:spPr>
          <a:xfrm>
            <a:off x="9409176" y="3177540"/>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83496" y="3072384"/>
            <a:ext cx="2011680" cy="822960"/>
          </a:xfrm>
          <a:prstGeom prst="rect">
            <a:avLst/>
          </a:prstGeom>
          <a:noFill/>
        </p:spPr>
        <p:txBody>
          <a:bodyPr wrap="square" lIns="0" rIns="0" tIns="0" bIns="0" anchor="t">
            <a:spAutoFit/>
          </a:bodyPr>
          <a:lstStyle/>
          <a:p>
            <a:pPr algn="l">
              <a:lnSpc>
                <a:spcPct val="145000"/>
              </a:lnSpc>
            </a:pPr>
            <a:r>
              <a:rPr sz="950" b="0" i="0">
                <a:solidFill>
                  <a:srgbClr val="A6B2CA"/>
                </a:solidFill>
                <a:latin typeface="Segoe UI"/>
              </a:rPr>
              <a:t>Phase 1 (generation) 4 Dec 2021; Phase 2 (integration) 1 Jan 2023.</a:t>
            </a:r>
          </a:p>
        </p:txBody>
      </p:sp>
      <p:sp>
        <p:nvSpPr>
          <p:cNvPr id="34" name="Rectangle 33"/>
          <p:cNvSpPr/>
          <p:nvPr/>
        </p:nvSpPr>
        <p:spPr>
          <a:xfrm>
            <a:off x="9409176" y="3835908"/>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83496" y="3730752"/>
            <a:ext cx="2011680" cy="822960"/>
          </a:xfrm>
          <a:prstGeom prst="rect">
            <a:avLst/>
          </a:prstGeom>
          <a:noFill/>
        </p:spPr>
        <p:txBody>
          <a:bodyPr wrap="square" lIns="0" rIns="0" tIns="0" bIns="0" anchor="t">
            <a:spAutoFit/>
          </a:bodyPr>
          <a:lstStyle/>
          <a:p>
            <a:pPr algn="l">
              <a:lnSpc>
                <a:spcPct val="145000"/>
              </a:lnSpc>
            </a:pPr>
            <a:r>
              <a:rPr sz="950" b="0" i="0">
                <a:solidFill>
                  <a:srgbClr val="A6B2CA"/>
                </a:solidFill>
                <a:latin typeface="Segoe UI"/>
              </a:rPr>
              <a:t>A standard B2B invoice is cleared by ZATCA before the buyer ever sees it.</a:t>
            </a:r>
          </a:p>
        </p:txBody>
      </p:sp>
      <p:sp>
        <p:nvSpPr>
          <p:cNvPr id="36" name="Rectangle 35"/>
          <p:cNvSpPr/>
          <p:nvPr/>
        </p:nvSpPr>
        <p:spPr>
          <a:xfrm>
            <a:off x="9409176" y="4494276"/>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83496" y="4389120"/>
            <a:ext cx="2011680" cy="822960"/>
          </a:xfrm>
          <a:prstGeom prst="rect">
            <a:avLst/>
          </a:prstGeom>
          <a:noFill/>
        </p:spPr>
        <p:txBody>
          <a:bodyPr wrap="square" lIns="0" rIns="0" tIns="0" bIns="0" anchor="t">
            <a:spAutoFit/>
          </a:bodyPr>
          <a:lstStyle/>
          <a:p>
            <a:pPr algn="l">
              <a:lnSpc>
                <a:spcPct val="145000"/>
              </a:lnSpc>
            </a:pPr>
            <a:r>
              <a:rPr sz="950" b="0" i="0">
                <a:solidFill>
                  <a:srgbClr val="A6B2CA"/>
                </a:solidFill>
                <a:latin typeface="Segoe UI"/>
              </a:rPr>
              <a:t>A clawback is a credit note (381). A true-up is a debit note (383). Both are cleared filings.</a:t>
            </a:r>
          </a:p>
        </p:txBody>
      </p:sp>
      <p:sp>
        <p:nvSpPr>
          <p:cNvPr id="38" name="TextBox 37"/>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ZATCA (Zakat, Tax and Customs Authority), e-invoicing roll-out phases and detailed guidelines. Wave 24 announced 26 Sep 2025, integration by 30 Jun 2026. Wave 25 announced 24 Jul 2026, integration by 1 Feb 2027 — confirm at source before circulating (see Assumption register, A-1).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04</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WHY NOW  ·  THE STAKES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The company that can characterise, evidence and file every partner
payment closes its month. The company that cannot is missing a filing
deadline by hand, at 1% a month, forever.</a:t>
            </a:r>
          </a:p>
        </p:txBody>
      </p:sp>
      <p:sp>
        <p:nvSpPr>
          <p:cNvPr id="10" name="TextBox 9"/>
          <p:cNvSpPr txBox="1"/>
          <p:nvPr/>
        </p:nvSpPr>
        <p:spPr>
          <a:xfrm>
            <a:off x="786384" y="2542032"/>
            <a:ext cx="2779776" cy="274320"/>
          </a:xfrm>
          <a:prstGeom prst="rect">
            <a:avLst/>
          </a:prstGeom>
          <a:noFill/>
        </p:spPr>
        <p:txBody>
          <a:bodyPr wrap="square" lIns="0" rIns="0" tIns="0" bIns="0" anchor="t">
            <a:spAutoFit/>
          </a:bodyPr>
          <a:lstStyle/>
          <a:p>
            <a:pPr algn="l">
              <a:lnSpc>
                <a:spcPct val="128000"/>
              </a:lnSpc>
            </a:pPr>
            <a:r>
              <a:rPr sz="900" b="1" i="0" spc="160">
                <a:solidFill>
                  <a:srgbClr val="86A2FF"/>
                </a:solidFill>
                <a:latin typeface="Segoe UI"/>
              </a:rPr>
              <a:t>PAYMENT TYPE</a:t>
            </a:r>
          </a:p>
        </p:txBody>
      </p:sp>
      <p:sp>
        <p:nvSpPr>
          <p:cNvPr id="11" name="TextBox 10"/>
          <p:cNvSpPr txBox="1"/>
          <p:nvPr/>
        </p:nvSpPr>
        <p:spPr>
          <a:xfrm>
            <a:off x="3712464" y="2542032"/>
            <a:ext cx="1060704" cy="274320"/>
          </a:xfrm>
          <a:prstGeom prst="rect">
            <a:avLst/>
          </a:prstGeom>
          <a:noFill/>
        </p:spPr>
        <p:txBody>
          <a:bodyPr wrap="square" lIns="0" rIns="0" tIns="0" bIns="0" anchor="t">
            <a:spAutoFit/>
          </a:bodyPr>
          <a:lstStyle/>
          <a:p>
            <a:pPr algn="l">
              <a:lnSpc>
                <a:spcPct val="128000"/>
              </a:lnSpc>
            </a:pPr>
            <a:r>
              <a:rPr sz="900" b="1" i="0" spc="160">
                <a:solidFill>
                  <a:srgbClr val="86A2FF"/>
                </a:solidFill>
                <a:latin typeface="Segoe UI"/>
              </a:rPr>
              <a:t>RATE</a:t>
            </a:r>
          </a:p>
        </p:txBody>
      </p:sp>
      <p:sp>
        <p:nvSpPr>
          <p:cNvPr id="12" name="TextBox 11"/>
          <p:cNvSpPr txBox="1"/>
          <p:nvPr/>
        </p:nvSpPr>
        <p:spPr>
          <a:xfrm>
            <a:off x="4919472" y="2542032"/>
            <a:ext cx="950976" cy="274320"/>
          </a:xfrm>
          <a:prstGeom prst="rect">
            <a:avLst/>
          </a:prstGeom>
          <a:noFill/>
        </p:spPr>
        <p:txBody>
          <a:bodyPr wrap="square" lIns="0" rIns="0" tIns="0" bIns="0" anchor="t">
            <a:spAutoFit/>
          </a:bodyPr>
          <a:lstStyle/>
          <a:p>
            <a:pPr algn="l">
              <a:lnSpc>
                <a:spcPct val="128000"/>
              </a:lnSpc>
            </a:pPr>
            <a:r>
              <a:rPr sz="900" b="1" i="0" spc="160">
                <a:solidFill>
                  <a:srgbClr val="86A2FF"/>
                </a:solidFill>
                <a:latin typeface="Segoe UI"/>
              </a:rPr>
              <a:t>BASIS</a:t>
            </a:r>
          </a:p>
        </p:txBody>
      </p:sp>
      <p:sp>
        <p:nvSpPr>
          <p:cNvPr id="13" name="Rectangle 12"/>
          <p:cNvSpPr/>
          <p:nvPr/>
        </p:nvSpPr>
        <p:spPr>
          <a:xfrm>
            <a:off x="786384" y="2852927"/>
            <a:ext cx="5230368"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999232"/>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Management fees</a:t>
            </a:r>
          </a:p>
        </p:txBody>
      </p:sp>
      <p:sp>
        <p:nvSpPr>
          <p:cNvPr id="15" name="TextBox 14"/>
          <p:cNvSpPr txBox="1"/>
          <p:nvPr/>
        </p:nvSpPr>
        <p:spPr>
          <a:xfrm>
            <a:off x="3712464" y="2999232"/>
            <a:ext cx="1060704" cy="498348"/>
          </a:xfrm>
          <a:prstGeom prst="rect">
            <a:avLst/>
          </a:prstGeom>
          <a:noFill/>
        </p:spPr>
        <p:txBody>
          <a:bodyPr wrap="square" lIns="0" rIns="0" tIns="0" bIns="0" anchor="t">
            <a:spAutoFit/>
          </a:bodyPr>
          <a:lstStyle/>
          <a:p>
            <a:pPr algn="l">
              <a:lnSpc>
                <a:spcPct val="124000"/>
              </a:lnSpc>
            </a:pPr>
            <a:r>
              <a:rPr sz="1050" b="0" i="0">
                <a:solidFill>
                  <a:srgbClr val="E0BE74"/>
                </a:solidFill>
                <a:latin typeface="Consolas"/>
              </a:rPr>
              <a:t>20%</a:t>
            </a:r>
          </a:p>
        </p:txBody>
      </p:sp>
      <p:sp>
        <p:nvSpPr>
          <p:cNvPr id="16" name="TextBox 15"/>
          <p:cNvSpPr txBox="1"/>
          <p:nvPr/>
        </p:nvSpPr>
        <p:spPr>
          <a:xfrm>
            <a:off x="4919472" y="2999232"/>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Art. 68</a:t>
            </a:r>
          </a:p>
        </p:txBody>
      </p:sp>
      <p:sp>
        <p:nvSpPr>
          <p:cNvPr id="17" name="Rectangle 16"/>
          <p:cNvSpPr/>
          <p:nvPr/>
        </p:nvSpPr>
        <p:spPr>
          <a:xfrm>
            <a:off x="640080" y="3415284"/>
            <a:ext cx="5522976" cy="498348"/>
          </a:xfrm>
          <a:prstGeom prst="rect">
            <a:avLst/>
          </a:prstGeom>
          <a:solidFill>
            <a:srgbClr val="101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3497579"/>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Royalties / IP</a:t>
            </a:r>
          </a:p>
        </p:txBody>
      </p:sp>
      <p:sp>
        <p:nvSpPr>
          <p:cNvPr id="19" name="TextBox 18"/>
          <p:cNvSpPr txBox="1"/>
          <p:nvPr/>
        </p:nvSpPr>
        <p:spPr>
          <a:xfrm>
            <a:off x="3712464" y="3497579"/>
            <a:ext cx="1060704" cy="498348"/>
          </a:xfrm>
          <a:prstGeom prst="rect">
            <a:avLst/>
          </a:prstGeom>
          <a:noFill/>
        </p:spPr>
        <p:txBody>
          <a:bodyPr wrap="square" lIns="0" rIns="0" tIns="0" bIns="0" anchor="t">
            <a:spAutoFit/>
          </a:bodyPr>
          <a:lstStyle/>
          <a:p>
            <a:pPr algn="l">
              <a:lnSpc>
                <a:spcPct val="124000"/>
              </a:lnSpc>
            </a:pPr>
            <a:r>
              <a:rPr sz="1050" b="0" i="0">
                <a:solidFill>
                  <a:srgbClr val="E0BE74"/>
                </a:solidFill>
                <a:latin typeface="Consolas"/>
              </a:rPr>
              <a:t>15%</a:t>
            </a:r>
          </a:p>
        </p:txBody>
      </p:sp>
      <p:sp>
        <p:nvSpPr>
          <p:cNvPr id="20" name="TextBox 19"/>
          <p:cNvSpPr txBox="1"/>
          <p:nvPr/>
        </p:nvSpPr>
        <p:spPr>
          <a:xfrm>
            <a:off x="4919472" y="3497579"/>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Art. 68</a:t>
            </a:r>
          </a:p>
        </p:txBody>
      </p:sp>
      <p:sp>
        <p:nvSpPr>
          <p:cNvPr id="21" name="TextBox 20"/>
          <p:cNvSpPr txBox="1"/>
          <p:nvPr/>
        </p:nvSpPr>
        <p:spPr>
          <a:xfrm>
            <a:off x="786384" y="3995928"/>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Technical / consulting — unrelated</a:t>
            </a:r>
          </a:p>
        </p:txBody>
      </p:sp>
      <p:sp>
        <p:nvSpPr>
          <p:cNvPr id="22" name="TextBox 21"/>
          <p:cNvSpPr txBox="1"/>
          <p:nvPr/>
        </p:nvSpPr>
        <p:spPr>
          <a:xfrm>
            <a:off x="3712464" y="3995928"/>
            <a:ext cx="1060704" cy="498348"/>
          </a:xfrm>
          <a:prstGeom prst="rect">
            <a:avLst/>
          </a:prstGeom>
          <a:noFill/>
        </p:spPr>
        <p:txBody>
          <a:bodyPr wrap="square" lIns="0" rIns="0" tIns="0" bIns="0" anchor="t">
            <a:spAutoFit/>
          </a:bodyPr>
          <a:lstStyle/>
          <a:p>
            <a:pPr algn="l">
              <a:lnSpc>
                <a:spcPct val="124000"/>
              </a:lnSpc>
            </a:pPr>
            <a:r>
              <a:rPr sz="1050" b="0" i="0">
                <a:solidFill>
                  <a:srgbClr val="E0BE74"/>
                </a:solidFill>
                <a:latin typeface="Consolas"/>
              </a:rPr>
              <a:t>5%</a:t>
            </a:r>
          </a:p>
        </p:txBody>
      </p:sp>
      <p:sp>
        <p:nvSpPr>
          <p:cNvPr id="23" name="TextBox 22"/>
          <p:cNvSpPr txBox="1"/>
          <p:nvPr/>
        </p:nvSpPr>
        <p:spPr>
          <a:xfrm>
            <a:off x="4919472" y="3995928"/>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Art. 68</a:t>
            </a:r>
          </a:p>
        </p:txBody>
      </p:sp>
      <p:sp>
        <p:nvSpPr>
          <p:cNvPr id="24" name="Rectangle 23"/>
          <p:cNvSpPr/>
          <p:nvPr/>
        </p:nvSpPr>
        <p:spPr>
          <a:xfrm>
            <a:off x="640080" y="4411980"/>
            <a:ext cx="5522976" cy="498348"/>
          </a:xfrm>
          <a:prstGeom prst="rect">
            <a:avLst/>
          </a:prstGeom>
          <a:solidFill>
            <a:srgbClr val="101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4494276"/>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Technical / consulting — related</a:t>
            </a:r>
          </a:p>
        </p:txBody>
      </p:sp>
      <p:sp>
        <p:nvSpPr>
          <p:cNvPr id="26" name="TextBox 25"/>
          <p:cNvSpPr txBox="1"/>
          <p:nvPr/>
        </p:nvSpPr>
        <p:spPr>
          <a:xfrm>
            <a:off x="3712464" y="4494276"/>
            <a:ext cx="1060704" cy="498348"/>
          </a:xfrm>
          <a:prstGeom prst="rect">
            <a:avLst/>
          </a:prstGeom>
          <a:noFill/>
        </p:spPr>
        <p:txBody>
          <a:bodyPr wrap="square" lIns="0" rIns="0" tIns="0" bIns="0" anchor="t">
            <a:spAutoFit/>
          </a:bodyPr>
          <a:lstStyle/>
          <a:p>
            <a:pPr algn="l">
              <a:lnSpc>
                <a:spcPct val="124000"/>
              </a:lnSpc>
            </a:pPr>
            <a:r>
              <a:rPr sz="1050" b="0" i="0">
                <a:solidFill>
                  <a:srgbClr val="E4695A"/>
                </a:solidFill>
                <a:latin typeface="Consolas"/>
              </a:rPr>
              <a:t>15%</a:t>
            </a:r>
          </a:p>
        </p:txBody>
      </p:sp>
      <p:sp>
        <p:nvSpPr>
          <p:cNvPr id="27" name="TextBox 26"/>
          <p:cNvSpPr txBox="1"/>
          <p:nvPr/>
        </p:nvSpPr>
        <p:spPr>
          <a:xfrm>
            <a:off x="4919472" y="4494276"/>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3× the rate</a:t>
            </a:r>
          </a:p>
        </p:txBody>
      </p:sp>
      <p:sp>
        <p:nvSpPr>
          <p:cNvPr id="28" name="TextBox 27"/>
          <p:cNvSpPr txBox="1"/>
          <p:nvPr/>
        </p:nvSpPr>
        <p:spPr>
          <a:xfrm>
            <a:off x="786384" y="4992624"/>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Rent, freight, air tickets</a:t>
            </a:r>
          </a:p>
        </p:txBody>
      </p:sp>
      <p:sp>
        <p:nvSpPr>
          <p:cNvPr id="29" name="TextBox 28"/>
          <p:cNvSpPr txBox="1"/>
          <p:nvPr/>
        </p:nvSpPr>
        <p:spPr>
          <a:xfrm>
            <a:off x="3712464" y="4992624"/>
            <a:ext cx="1060704" cy="498348"/>
          </a:xfrm>
          <a:prstGeom prst="rect">
            <a:avLst/>
          </a:prstGeom>
          <a:noFill/>
        </p:spPr>
        <p:txBody>
          <a:bodyPr wrap="square" lIns="0" rIns="0" tIns="0" bIns="0" anchor="t">
            <a:spAutoFit/>
          </a:bodyPr>
          <a:lstStyle/>
          <a:p>
            <a:pPr algn="l">
              <a:lnSpc>
                <a:spcPct val="124000"/>
              </a:lnSpc>
            </a:pPr>
            <a:r>
              <a:rPr sz="1050" b="0" i="0">
                <a:solidFill>
                  <a:srgbClr val="E0BE74"/>
                </a:solidFill>
                <a:latin typeface="Consolas"/>
              </a:rPr>
              <a:t>5%</a:t>
            </a:r>
          </a:p>
        </p:txBody>
      </p:sp>
      <p:sp>
        <p:nvSpPr>
          <p:cNvPr id="30" name="TextBox 29"/>
          <p:cNvSpPr txBox="1"/>
          <p:nvPr/>
        </p:nvSpPr>
        <p:spPr>
          <a:xfrm>
            <a:off x="4919472" y="4992624"/>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Art. 68</a:t>
            </a:r>
          </a:p>
        </p:txBody>
      </p:sp>
      <p:sp>
        <p:nvSpPr>
          <p:cNvPr id="31" name="Rectangle 30"/>
          <p:cNvSpPr/>
          <p:nvPr/>
        </p:nvSpPr>
        <p:spPr>
          <a:xfrm>
            <a:off x="640080" y="5408676"/>
            <a:ext cx="5522976" cy="498348"/>
          </a:xfrm>
          <a:prstGeom prst="rect">
            <a:avLst/>
          </a:prstGeom>
          <a:solidFill>
            <a:srgbClr val="101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490972"/>
            <a:ext cx="2779776" cy="498348"/>
          </a:xfrm>
          <a:prstGeom prst="rect">
            <a:avLst/>
          </a:prstGeom>
          <a:noFill/>
        </p:spPr>
        <p:txBody>
          <a:bodyPr wrap="square" lIns="0" rIns="0" tIns="0" bIns="0" anchor="t">
            <a:spAutoFit/>
          </a:bodyPr>
          <a:lstStyle/>
          <a:p>
            <a:pPr algn="l">
              <a:lnSpc>
                <a:spcPct val="124000"/>
              </a:lnSpc>
            </a:pPr>
            <a:r>
              <a:rPr sz="1050" b="1" i="0">
                <a:solidFill>
                  <a:srgbClr val="EAEEF7"/>
                </a:solidFill>
                <a:latin typeface="Segoe UI"/>
              </a:rPr>
              <a:t>VAT on the commission leg</a:t>
            </a:r>
          </a:p>
        </p:txBody>
      </p:sp>
      <p:sp>
        <p:nvSpPr>
          <p:cNvPr id="33" name="TextBox 32"/>
          <p:cNvSpPr txBox="1"/>
          <p:nvPr/>
        </p:nvSpPr>
        <p:spPr>
          <a:xfrm>
            <a:off x="3712464" y="5490972"/>
            <a:ext cx="1060704" cy="498348"/>
          </a:xfrm>
          <a:prstGeom prst="rect">
            <a:avLst/>
          </a:prstGeom>
          <a:noFill/>
        </p:spPr>
        <p:txBody>
          <a:bodyPr wrap="square" lIns="0" rIns="0" tIns="0" bIns="0" anchor="t">
            <a:spAutoFit/>
          </a:bodyPr>
          <a:lstStyle/>
          <a:p>
            <a:pPr algn="l">
              <a:lnSpc>
                <a:spcPct val="124000"/>
              </a:lnSpc>
            </a:pPr>
            <a:r>
              <a:rPr sz="1050" b="0" i="0">
                <a:solidFill>
                  <a:srgbClr val="E0BE74"/>
                </a:solidFill>
                <a:latin typeface="Consolas"/>
              </a:rPr>
              <a:t>15%</a:t>
            </a:r>
          </a:p>
        </p:txBody>
      </p:sp>
      <p:sp>
        <p:nvSpPr>
          <p:cNvPr id="34" name="TextBox 33"/>
          <p:cNvSpPr txBox="1"/>
          <p:nvPr/>
        </p:nvSpPr>
        <p:spPr>
          <a:xfrm>
            <a:off x="4919472" y="5490972"/>
            <a:ext cx="950976" cy="498348"/>
          </a:xfrm>
          <a:prstGeom prst="rect">
            <a:avLst/>
          </a:prstGeom>
          <a:noFill/>
        </p:spPr>
        <p:txBody>
          <a:bodyPr wrap="square" lIns="0" rIns="0" tIns="0" bIns="0" anchor="t">
            <a:spAutoFit/>
          </a:bodyPr>
          <a:lstStyle/>
          <a:p>
            <a:pPr algn="l">
              <a:lnSpc>
                <a:spcPct val="124000"/>
              </a:lnSpc>
            </a:pPr>
            <a:r>
              <a:rPr sz="1050" b="0" i="0">
                <a:solidFill>
                  <a:srgbClr val="A6B2CA"/>
                </a:solidFill>
                <a:latin typeface="Segoe UI"/>
              </a:rPr>
              <a:t>Separate supply*</a:t>
            </a:r>
          </a:p>
        </p:txBody>
      </p:sp>
      <p:sp>
        <p:nvSpPr>
          <p:cNvPr id="35" name="Rounded Rectangle 34"/>
          <p:cNvSpPr/>
          <p:nvPr/>
        </p:nvSpPr>
        <p:spPr>
          <a:xfrm>
            <a:off x="6263640" y="2487168"/>
            <a:ext cx="5138928" cy="340156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74536" y="2724912"/>
            <a:ext cx="4572000" cy="310896"/>
          </a:xfrm>
          <a:prstGeom prst="rect">
            <a:avLst/>
          </a:prstGeom>
          <a:noFill/>
        </p:spPr>
        <p:txBody>
          <a:bodyPr wrap="square" lIns="0" rIns="0" tIns="0" bIns="0" anchor="t">
            <a:spAutoFit/>
          </a:bodyPr>
          <a:lstStyle/>
          <a:p>
            <a:pPr algn="l">
              <a:lnSpc>
                <a:spcPct val="128000"/>
              </a:lnSpc>
            </a:pPr>
            <a:r>
              <a:rPr sz="1500" b="0" i="0">
                <a:solidFill>
                  <a:srgbClr val="EAEEF7"/>
                </a:solidFill>
                <a:latin typeface="Georgia"/>
              </a:rPr>
              <a:t>The rate is a judgement, not a lookup</a:t>
            </a:r>
          </a:p>
        </p:txBody>
      </p:sp>
      <p:sp>
        <p:nvSpPr>
          <p:cNvPr id="37" name="Rectangle 36"/>
          <p:cNvSpPr/>
          <p:nvPr/>
        </p:nvSpPr>
        <p:spPr>
          <a:xfrm>
            <a:off x="6574536" y="3250692"/>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48855" y="3145536"/>
            <a:ext cx="42976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5% or 15%?  </a:t>
            </a:r>
            <a:r>
              <a:rPr sz="1050" b="0" i="0">
                <a:solidFill>
                  <a:srgbClr val="A6B2CA"/>
                </a:solidFill>
                <a:latin typeface="Segoe UI"/>
              </a:rPr>
              <a:t>turns on whether the counterparty is related to you.</a:t>
            </a:r>
          </a:p>
        </p:txBody>
      </p:sp>
      <p:sp>
        <p:nvSpPr>
          <p:cNvPr id="39" name="Rectangle 38"/>
          <p:cNvSpPr/>
          <p:nvPr/>
        </p:nvSpPr>
        <p:spPr>
          <a:xfrm>
            <a:off x="6574536" y="3927348"/>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48855" y="3822191"/>
            <a:ext cx="42976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15% or 20%?  </a:t>
            </a:r>
            <a:r>
              <a:rPr sz="1050" b="0" i="0">
                <a:solidFill>
                  <a:srgbClr val="A6B2CA"/>
                </a:solidFill>
                <a:latin typeface="Segoe UI"/>
              </a:rPr>
              <a:t>turns on whether the payment is a royalty or a management fee.</a:t>
            </a:r>
          </a:p>
        </p:txBody>
      </p:sp>
      <p:sp>
        <p:nvSpPr>
          <p:cNvPr id="41" name="Rectangle 40"/>
          <p:cNvSpPr/>
          <p:nvPr/>
        </p:nvSpPr>
        <p:spPr>
          <a:xfrm>
            <a:off x="6574536" y="4604004"/>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48855" y="4498848"/>
            <a:ext cx="42976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Separate supply, or none at all?  </a:t>
            </a:r>
            <a:r>
              <a:rPr sz="1050" b="0" i="0">
                <a:solidFill>
                  <a:srgbClr val="A6B2CA"/>
                </a:solidFill>
                <a:latin typeface="Segoe UI"/>
              </a:rPr>
              <a:t>turns on whether the agent is disclosed or undisclosed — partner and reseller arrangements often sit on the undisclosed side.</a:t>
            </a:r>
          </a:p>
        </p:txBody>
      </p:sp>
      <p:sp>
        <p:nvSpPr>
          <p:cNvPr id="43" name="Rounded Rectangle 42"/>
          <p:cNvSpPr/>
          <p:nvPr/>
        </p:nvSpPr>
        <p:spPr>
          <a:xfrm>
            <a:off x="6574536" y="5138928"/>
            <a:ext cx="4572000" cy="566928"/>
          </a:xfrm>
          <a:prstGeom prst="roundRect">
            <a:avLst>
              <a:gd name="adj" fmla="val 6000"/>
            </a:avLst>
          </a:prstGeom>
          <a:solidFill>
            <a:srgbClr val="1A140B"/>
          </a:solidFill>
          <a:ln w="12700">
            <a:solidFill>
              <a:srgbClr val="B98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75704" y="5266944"/>
            <a:ext cx="4251960" cy="365760"/>
          </a:xfrm>
          <a:prstGeom prst="rect">
            <a:avLst/>
          </a:prstGeom>
          <a:noFill/>
        </p:spPr>
        <p:txBody>
          <a:bodyPr wrap="square" lIns="0" rIns="0" tIns="0" bIns="0" anchor="t">
            <a:spAutoFit/>
          </a:bodyPr>
          <a:lstStyle/>
          <a:p>
            <a:pPr algn="l">
              <a:lnSpc>
                <a:spcPct val="128000"/>
              </a:lnSpc>
            </a:pPr>
            <a:r>
              <a:rPr sz="1000" b="1" i="0">
                <a:solidFill>
                  <a:srgbClr val="E0BE74"/>
                </a:solidFill>
                <a:latin typeface="Segoe UI"/>
              </a:rPr>
              <a:t>Returns due by the 10th, every month.  1% of unpaid tax per 30 days — simple, uncapped.</a:t>
            </a:r>
          </a:p>
        </p:txBody>
      </p:sp>
      <p:sp>
        <p:nvSpPr>
          <p:cNvPr id="45" name="TextBox 44"/>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Saudi Income Tax Law Article 68; ZATCA withholding-tax guidance; ZATCA VAT Agents Guideline. *A disclosed agent's commission is a supply of services separate from the supply it arranges; an undisclosed agent is generally treated as principal.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05</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PROBLEM</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700" b="0" i="0" spc="-40">
                <a:solidFill>
                  <a:srgbClr val="EAEEF7"/>
                </a:solidFill>
                <a:latin typeface="Georgia"/>
              </a:rPr>
              <a:t>Two companies, two ledgers, one payment — and neither version is the one
a regulator or an auditor will accept.</a:t>
            </a:r>
          </a:p>
        </p:txBody>
      </p:sp>
      <p:sp>
        <p:nvSpPr>
          <p:cNvPr id="10" name="Rounded Rectangle 9"/>
          <p:cNvSpPr/>
          <p:nvPr/>
        </p:nvSpPr>
        <p:spPr>
          <a:xfrm>
            <a:off x="786384" y="2542032"/>
            <a:ext cx="2880360" cy="1078992"/>
          </a:xfrm>
          <a:prstGeom prst="roundRect">
            <a:avLst>
              <a:gd name="adj" fmla="val 5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2798063"/>
            <a:ext cx="2377440" cy="274320"/>
          </a:xfrm>
          <a:prstGeom prst="rect">
            <a:avLst/>
          </a:prstGeom>
          <a:noFill/>
        </p:spPr>
        <p:txBody>
          <a:bodyPr wrap="square" lIns="0" rIns="0" tIns="0" bIns="0" anchor="t">
            <a:spAutoFit/>
          </a:bodyPr>
          <a:lstStyle/>
          <a:p>
            <a:pPr algn="l">
              <a:lnSpc>
                <a:spcPct val="128000"/>
              </a:lnSpc>
            </a:pPr>
            <a:r>
              <a:rPr sz="1400" b="0" i="0">
                <a:solidFill>
                  <a:srgbClr val="EAEEF7"/>
                </a:solidFill>
                <a:latin typeface="Georgia"/>
              </a:rPr>
              <a:t>Company A</a:t>
            </a:r>
          </a:p>
        </p:txBody>
      </p:sp>
      <p:sp>
        <p:nvSpPr>
          <p:cNvPr id="12" name="TextBox 11"/>
          <p:cNvSpPr txBox="1"/>
          <p:nvPr/>
        </p:nvSpPr>
        <p:spPr>
          <a:xfrm>
            <a:off x="1060704" y="3145536"/>
            <a:ext cx="2377440" cy="457200"/>
          </a:xfrm>
          <a:prstGeom prst="rect">
            <a:avLst/>
          </a:prstGeom>
          <a:noFill/>
        </p:spPr>
        <p:txBody>
          <a:bodyPr wrap="square" lIns="0" rIns="0" tIns="0" bIns="0" anchor="t">
            <a:spAutoFit/>
          </a:bodyPr>
          <a:lstStyle/>
          <a:p>
            <a:pPr algn="l">
              <a:lnSpc>
                <a:spcPct val="128000"/>
              </a:lnSpc>
            </a:pPr>
            <a:r>
              <a:rPr sz="1000" b="0" i="0">
                <a:solidFill>
                  <a:srgbClr val="6E7A94"/>
                </a:solidFill>
                <a:latin typeface="Segoe UI"/>
              </a:rPr>
              <a:t>computes what it is owed</a:t>
            </a:r>
          </a:p>
        </p:txBody>
      </p:sp>
      <p:sp>
        <p:nvSpPr>
          <p:cNvPr id="13" name="Rounded Rectangle 12"/>
          <p:cNvSpPr/>
          <p:nvPr/>
        </p:nvSpPr>
        <p:spPr>
          <a:xfrm>
            <a:off x="4855464" y="2542032"/>
            <a:ext cx="2880360" cy="1078992"/>
          </a:xfrm>
          <a:prstGeom prst="roundRect">
            <a:avLst>
              <a:gd name="adj" fmla="val 5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2798063"/>
            <a:ext cx="2377440" cy="274320"/>
          </a:xfrm>
          <a:prstGeom prst="rect">
            <a:avLst/>
          </a:prstGeom>
          <a:noFill/>
        </p:spPr>
        <p:txBody>
          <a:bodyPr wrap="square" lIns="0" rIns="0" tIns="0" bIns="0" anchor="t">
            <a:spAutoFit/>
          </a:bodyPr>
          <a:lstStyle/>
          <a:p>
            <a:pPr algn="l">
              <a:lnSpc>
                <a:spcPct val="128000"/>
              </a:lnSpc>
            </a:pPr>
            <a:r>
              <a:rPr sz="1400" b="0" i="0">
                <a:solidFill>
                  <a:srgbClr val="EAEEF7"/>
                </a:solidFill>
                <a:latin typeface="Georgia"/>
              </a:rPr>
              <a:t>Company B</a:t>
            </a:r>
          </a:p>
        </p:txBody>
      </p:sp>
      <p:sp>
        <p:nvSpPr>
          <p:cNvPr id="15" name="TextBox 14"/>
          <p:cNvSpPr txBox="1"/>
          <p:nvPr/>
        </p:nvSpPr>
        <p:spPr>
          <a:xfrm>
            <a:off x="5129784" y="3145536"/>
            <a:ext cx="2377440" cy="457200"/>
          </a:xfrm>
          <a:prstGeom prst="rect">
            <a:avLst/>
          </a:prstGeom>
          <a:noFill/>
        </p:spPr>
        <p:txBody>
          <a:bodyPr wrap="square" lIns="0" rIns="0" tIns="0" bIns="0" anchor="t">
            <a:spAutoFit/>
          </a:bodyPr>
          <a:lstStyle/>
          <a:p>
            <a:pPr algn="l">
              <a:lnSpc>
                <a:spcPct val="128000"/>
              </a:lnSpc>
            </a:pPr>
            <a:r>
              <a:rPr sz="1000" b="0" i="0">
                <a:solidFill>
                  <a:srgbClr val="6E7A94"/>
                </a:solidFill>
                <a:latin typeface="Segoe UI"/>
              </a:rPr>
              <a:t>computes what it owes</a:t>
            </a:r>
          </a:p>
        </p:txBody>
      </p:sp>
      <p:sp>
        <p:nvSpPr>
          <p:cNvPr id="16" name="TextBox 15"/>
          <p:cNvSpPr txBox="1"/>
          <p:nvPr/>
        </p:nvSpPr>
        <p:spPr>
          <a:xfrm>
            <a:off x="3730752" y="2871215"/>
            <a:ext cx="1097280" cy="457200"/>
          </a:xfrm>
          <a:prstGeom prst="rect">
            <a:avLst/>
          </a:prstGeom>
          <a:noFill/>
        </p:spPr>
        <p:txBody>
          <a:bodyPr wrap="square" lIns="0" rIns="0" tIns="0" bIns="0" anchor="t">
            <a:spAutoFit/>
          </a:bodyPr>
          <a:lstStyle/>
          <a:p>
            <a:pPr algn="ctr">
              <a:lnSpc>
                <a:spcPct val="130000"/>
              </a:lnSpc>
            </a:pPr>
            <a:r>
              <a:rPr sz="1100" b="0" i="0">
                <a:solidFill>
                  <a:srgbClr val="48526E"/>
                </a:solidFill>
                <a:latin typeface="Segoe UI"/>
              </a:rPr>
              <a:t>email
⇄</a:t>
            </a:r>
          </a:p>
        </p:txBody>
      </p:sp>
      <p:sp>
        <p:nvSpPr>
          <p:cNvPr id="17" name="Rounded Rectangle 16"/>
          <p:cNvSpPr/>
          <p:nvPr/>
        </p:nvSpPr>
        <p:spPr>
          <a:xfrm>
            <a:off x="9061704" y="2542032"/>
            <a:ext cx="2788920" cy="1078992"/>
          </a:xfrm>
          <a:prstGeom prst="roundRect">
            <a:avLst>
              <a:gd name="adj" fmla="val 5000"/>
            </a:avLst>
          </a:prstGeom>
          <a:solidFill>
            <a:srgbClr val="0E1A14"/>
          </a:solidFill>
          <a:ln w="12700">
            <a:solidFill>
              <a:srgbClr val="4FC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6024" y="2798063"/>
            <a:ext cx="2286000" cy="274320"/>
          </a:xfrm>
          <a:prstGeom prst="rect">
            <a:avLst/>
          </a:prstGeom>
          <a:noFill/>
        </p:spPr>
        <p:txBody>
          <a:bodyPr wrap="square" lIns="0" rIns="0" tIns="0" bIns="0" anchor="t">
            <a:spAutoFit/>
          </a:bodyPr>
          <a:lstStyle/>
          <a:p>
            <a:pPr algn="l">
              <a:lnSpc>
                <a:spcPct val="128000"/>
              </a:lnSpc>
            </a:pPr>
            <a:r>
              <a:rPr sz="1400" b="0" i="0">
                <a:solidFill>
                  <a:srgbClr val="4FC088"/>
                </a:solidFill>
                <a:latin typeface="Georgia"/>
              </a:rPr>
              <a:t>The cleared invoice</a:t>
            </a:r>
          </a:p>
        </p:txBody>
      </p:sp>
      <p:sp>
        <p:nvSpPr>
          <p:cNvPr id="19" name="TextBox 18"/>
          <p:cNvSpPr txBox="1"/>
          <p:nvPr/>
        </p:nvSpPr>
        <p:spPr>
          <a:xfrm>
            <a:off x="9336024" y="3127248"/>
            <a:ext cx="2286000" cy="402336"/>
          </a:xfrm>
          <a:prstGeom prst="rect">
            <a:avLst/>
          </a:prstGeom>
          <a:noFill/>
        </p:spPr>
        <p:txBody>
          <a:bodyPr wrap="square" lIns="0" rIns="0" tIns="0" bIns="0" anchor="t">
            <a:spAutoFit/>
          </a:bodyPr>
          <a:lstStyle/>
          <a:p>
            <a:pPr algn="l">
              <a:lnSpc>
                <a:spcPct val="130000"/>
              </a:lnSpc>
            </a:pPr>
            <a:r>
              <a:rPr sz="950" b="0" i="0">
                <a:solidFill>
                  <a:srgbClr val="A6B2CA"/>
                </a:solidFill>
                <a:latin typeface="Segoe UI"/>
              </a:rPr>
              <a:t>legally real — and neither
ledger touches it</a:t>
            </a:r>
          </a:p>
        </p:txBody>
      </p:sp>
      <p:sp>
        <p:nvSpPr>
          <p:cNvPr id="20" name="TextBox 19"/>
          <p:cNvSpPr txBox="1"/>
          <p:nvPr/>
        </p:nvSpPr>
        <p:spPr>
          <a:xfrm>
            <a:off x="786384" y="3931920"/>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01</a:t>
            </a:r>
          </a:p>
        </p:txBody>
      </p:sp>
      <p:sp>
        <p:nvSpPr>
          <p:cNvPr id="21" name="Rectangle 20"/>
          <p:cNvSpPr/>
          <p:nvPr/>
        </p:nvSpPr>
        <p:spPr>
          <a:xfrm>
            <a:off x="786384" y="4261104"/>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462272"/>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The failure is bilateral</a:t>
            </a:r>
          </a:p>
        </p:txBody>
      </p:sp>
      <p:sp>
        <p:nvSpPr>
          <p:cNvPr id="23" name="TextBox 22"/>
          <p:cNvSpPr txBox="1"/>
          <p:nvPr/>
        </p:nvSpPr>
        <p:spPr>
          <a:xfrm>
            <a:off x="786384" y="5138928"/>
            <a:ext cx="3429000" cy="14173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Not that one company computes wrong — that two companies compute separately and reconcile by email. Every commission tool on the market solves one side of it.</a:t>
            </a:r>
          </a:p>
        </p:txBody>
      </p:sp>
      <p:sp>
        <p:nvSpPr>
          <p:cNvPr id="24" name="TextBox 23"/>
          <p:cNvSpPr txBox="1"/>
          <p:nvPr/>
        </p:nvSpPr>
        <p:spPr>
          <a:xfrm>
            <a:off x="4562856" y="3931920"/>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02</a:t>
            </a:r>
          </a:p>
        </p:txBody>
      </p:sp>
      <p:sp>
        <p:nvSpPr>
          <p:cNvPr id="25" name="Rectangle 24"/>
          <p:cNvSpPr/>
          <p:nvPr/>
        </p:nvSpPr>
        <p:spPr>
          <a:xfrm>
            <a:off x="4562856" y="4261104"/>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2856" y="4462272"/>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Gross-or-net is a restatement risk</a:t>
            </a:r>
          </a:p>
        </p:txBody>
      </p:sp>
      <p:sp>
        <p:nvSpPr>
          <p:cNvPr id="27" name="TextBox 26"/>
          <p:cNvSpPr txBox="1"/>
          <p:nvPr/>
        </p:nvSpPr>
        <p:spPr>
          <a:xfrm>
            <a:off x="4562856" y="5138928"/>
            <a:ext cx="3429000" cy="14173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IFRS 15 B34–B38 / ASC 606 decide gross versus net on a principal-versus-agent control test. The evidence for that judgement is attribution fact, and it lives in spreadsheets.</a:t>
            </a:r>
          </a:p>
        </p:txBody>
      </p:sp>
      <p:sp>
        <p:nvSpPr>
          <p:cNvPr id="28" name="TextBox 27"/>
          <p:cNvSpPr txBox="1"/>
          <p:nvPr/>
        </p:nvSpPr>
        <p:spPr>
          <a:xfrm>
            <a:off x="8339327" y="3931920"/>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03</a:t>
            </a:r>
          </a:p>
        </p:txBody>
      </p:sp>
      <p:sp>
        <p:nvSpPr>
          <p:cNvPr id="29" name="Rectangle 28"/>
          <p:cNvSpPr/>
          <p:nvPr/>
        </p:nvSpPr>
        <p:spPr>
          <a:xfrm>
            <a:off x="8339327" y="4261104"/>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9327" y="4462272"/>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Commission is a capitalised asset</a:t>
            </a:r>
          </a:p>
        </p:txBody>
      </p:sp>
      <p:sp>
        <p:nvSpPr>
          <p:cNvPr id="31" name="TextBox 30"/>
          <p:cNvSpPr txBox="1"/>
          <p:nvPr/>
        </p:nvSpPr>
        <p:spPr>
          <a:xfrm>
            <a:off x="8339327" y="5138928"/>
            <a:ext cx="3429000" cy="14173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Under ASC 340-40 the cost of obtaining a contract is capitalised and amortised over the expected customer life. This is audited data — which is why the buyer is the controller.</a:t>
            </a:r>
          </a:p>
        </p:txBody>
      </p:sp>
      <p:sp>
        <p:nvSpPr>
          <p:cNvPr id="32" name="TextBox 31"/>
          <p:cNvSpPr txBox="1"/>
          <p:nvPr/>
        </p:nvSpPr>
        <p:spPr>
          <a:xfrm>
            <a:off x="786384" y="601675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IFRS 15 ¶B34–B38 · ASC 606 · ASC 340-40. No research house — Gartner, Forrester, IDC or Omdia/Canalys — publishes a total for B2B partner commissions, revenue shares, rebates and referral fees as a single category. The money is unmeasured because it is unowned.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06</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PROBLEM  ·  COMPETITIVE ALTERNATIVES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600" b="0" i="0" spc="-40">
                <a:solidFill>
                  <a:srgbClr val="EAEEF7"/>
                </a:solidFill>
                <a:latin typeface="Georgia"/>
              </a:rPr>
              <a:t>The incumbent is the spreadsheet — and the reason no partner-software
vendor displaced it is that the category was defined to stop before the money.</a:t>
            </a:r>
          </a:p>
        </p:txBody>
      </p:sp>
      <p:sp>
        <p:nvSpPr>
          <p:cNvPr id="10" name="Rounded Rectangle 9"/>
          <p:cNvSpPr/>
          <p:nvPr/>
        </p:nvSpPr>
        <p:spPr>
          <a:xfrm>
            <a:off x="786384" y="2395728"/>
            <a:ext cx="5806440" cy="31272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615184"/>
            <a:ext cx="521208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G2's six inclusion criteria for Partner Relationship Management</a:t>
            </a:r>
          </a:p>
        </p:txBody>
      </p:sp>
      <p:sp>
        <p:nvSpPr>
          <p:cNvPr id="12" name="TextBox 11"/>
          <p:cNvSpPr txBox="1"/>
          <p:nvPr/>
        </p:nvSpPr>
        <p:spPr>
          <a:xfrm>
            <a:off x="1097280" y="3017520"/>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1</a:t>
            </a:r>
          </a:p>
        </p:txBody>
      </p:sp>
      <p:sp>
        <p:nvSpPr>
          <p:cNvPr id="13" name="TextBox 12"/>
          <p:cNvSpPr txBox="1"/>
          <p:nvPr/>
        </p:nvSpPr>
        <p:spPr>
          <a:xfrm>
            <a:off x="1426464" y="2999232"/>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Portals to communicate and exchange information and content</a:t>
            </a:r>
          </a:p>
        </p:txBody>
      </p:sp>
      <p:sp>
        <p:nvSpPr>
          <p:cNvPr id="14" name="TextBox 13"/>
          <p:cNvSpPr txBox="1"/>
          <p:nvPr/>
        </p:nvSpPr>
        <p:spPr>
          <a:xfrm>
            <a:off x="1097280" y="3364991"/>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2</a:t>
            </a:r>
          </a:p>
        </p:txBody>
      </p:sp>
      <p:sp>
        <p:nvSpPr>
          <p:cNvPr id="15" name="TextBox 14"/>
          <p:cNvSpPr txBox="1"/>
          <p:nvPr/>
        </p:nvSpPr>
        <p:spPr>
          <a:xfrm>
            <a:off x="1426464" y="3346703"/>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Onboarding, training and certification of partners</a:t>
            </a:r>
          </a:p>
        </p:txBody>
      </p:sp>
      <p:sp>
        <p:nvSpPr>
          <p:cNvPr id="16" name="TextBox 15"/>
          <p:cNvSpPr txBox="1"/>
          <p:nvPr/>
        </p:nvSpPr>
        <p:spPr>
          <a:xfrm>
            <a:off x="1097280" y="3712463"/>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3</a:t>
            </a:r>
          </a:p>
        </p:txBody>
      </p:sp>
      <p:sp>
        <p:nvSpPr>
          <p:cNvPr id="17" name="TextBox 16"/>
          <p:cNvSpPr txBox="1"/>
          <p:nvPr/>
        </p:nvSpPr>
        <p:spPr>
          <a:xfrm>
            <a:off x="1426464" y="3694176"/>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Access management by user, group or role</a:t>
            </a:r>
          </a:p>
        </p:txBody>
      </p:sp>
      <p:sp>
        <p:nvSpPr>
          <p:cNvPr id="18" name="TextBox 17"/>
          <p:cNvSpPr txBox="1"/>
          <p:nvPr/>
        </p:nvSpPr>
        <p:spPr>
          <a:xfrm>
            <a:off x="1097280" y="4059935"/>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4</a:t>
            </a:r>
          </a:p>
        </p:txBody>
      </p:sp>
      <p:sp>
        <p:nvSpPr>
          <p:cNvPr id="19" name="TextBox 18"/>
          <p:cNvSpPr txBox="1"/>
          <p:nvPr/>
        </p:nvSpPr>
        <p:spPr>
          <a:xfrm>
            <a:off x="1426464" y="4041648"/>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Workflows, notifications and alerts</a:t>
            </a:r>
          </a:p>
        </p:txBody>
      </p:sp>
      <p:sp>
        <p:nvSpPr>
          <p:cNvPr id="20" name="TextBox 19"/>
          <p:cNvSpPr txBox="1"/>
          <p:nvPr/>
        </p:nvSpPr>
        <p:spPr>
          <a:xfrm>
            <a:off x="1097280" y="4407407"/>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5</a:t>
            </a:r>
          </a:p>
        </p:txBody>
      </p:sp>
      <p:sp>
        <p:nvSpPr>
          <p:cNvPr id="21" name="TextBox 20"/>
          <p:cNvSpPr txBox="1"/>
          <p:nvPr/>
        </p:nvSpPr>
        <p:spPr>
          <a:xfrm>
            <a:off x="1426464" y="4389120"/>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Deal management or deal registration</a:t>
            </a:r>
          </a:p>
        </p:txBody>
      </p:sp>
      <p:sp>
        <p:nvSpPr>
          <p:cNvPr id="22" name="TextBox 21"/>
          <p:cNvSpPr txBox="1"/>
          <p:nvPr/>
        </p:nvSpPr>
        <p:spPr>
          <a:xfrm>
            <a:off x="1097280" y="4754879"/>
            <a:ext cx="274320" cy="274320"/>
          </a:xfrm>
          <a:prstGeom prst="rect">
            <a:avLst/>
          </a:prstGeom>
          <a:noFill/>
        </p:spPr>
        <p:txBody>
          <a:bodyPr wrap="square" lIns="0" rIns="0" tIns="0" bIns="0" anchor="t">
            <a:spAutoFit/>
          </a:bodyPr>
          <a:lstStyle/>
          <a:p>
            <a:pPr algn="l">
              <a:lnSpc>
                <a:spcPct val="128000"/>
              </a:lnSpc>
            </a:pPr>
            <a:r>
              <a:rPr sz="950" b="0" i="0">
                <a:solidFill>
                  <a:srgbClr val="48526E"/>
                </a:solidFill>
                <a:latin typeface="Consolas"/>
              </a:rPr>
              <a:t>6</a:t>
            </a:r>
          </a:p>
        </p:txBody>
      </p:sp>
      <p:sp>
        <p:nvSpPr>
          <p:cNvPr id="23" name="TextBox 22"/>
          <p:cNvSpPr txBox="1"/>
          <p:nvPr/>
        </p:nvSpPr>
        <p:spPr>
          <a:xfrm>
            <a:off x="1426464" y="4736592"/>
            <a:ext cx="4800600" cy="329184"/>
          </a:xfrm>
          <a:prstGeom prst="rect">
            <a:avLst/>
          </a:prstGeom>
          <a:noFill/>
        </p:spPr>
        <p:txBody>
          <a:bodyPr wrap="square" lIns="0" rIns="0" tIns="0" bIns="0" anchor="t">
            <a:spAutoFit/>
          </a:bodyPr>
          <a:lstStyle/>
          <a:p>
            <a:pPr algn="l">
              <a:lnSpc>
                <a:spcPct val="128000"/>
              </a:lnSpc>
            </a:pPr>
            <a:r>
              <a:rPr sz="1000" b="0" i="0">
                <a:solidFill>
                  <a:srgbClr val="A6B2CA"/>
                </a:solidFill>
                <a:latin typeface="Segoe UI"/>
              </a:rPr>
              <a:t>Tracking the effectiveness of MDF, co-op and co-branded activity</a:t>
            </a:r>
          </a:p>
        </p:txBody>
      </p:sp>
      <p:sp>
        <p:nvSpPr>
          <p:cNvPr id="24" name="TextBox 23"/>
          <p:cNvSpPr txBox="1"/>
          <p:nvPr/>
        </p:nvSpPr>
        <p:spPr>
          <a:xfrm>
            <a:off x="1097280" y="5175504"/>
            <a:ext cx="5212080" cy="274320"/>
          </a:xfrm>
          <a:prstGeom prst="rect">
            <a:avLst/>
          </a:prstGeom>
          <a:noFill/>
        </p:spPr>
        <p:txBody>
          <a:bodyPr wrap="square" lIns="0" rIns="0" tIns="0" bIns="0" anchor="t">
            <a:spAutoFit/>
          </a:bodyPr>
          <a:lstStyle/>
          <a:p>
            <a:pPr algn="l">
              <a:lnSpc>
                <a:spcPct val="128000"/>
              </a:lnSpc>
            </a:pPr>
            <a:r>
              <a:rPr sz="1050" b="1" i="0">
                <a:solidFill>
                  <a:srgbClr val="E4695A"/>
                </a:solidFill>
                <a:latin typeface="Segoe UI"/>
              </a:rPr>
              <a:t>No payout.   No invoicing.   No tax.   No reconciliation.   No ledger.</a:t>
            </a:r>
          </a:p>
        </p:txBody>
      </p:sp>
      <p:sp>
        <p:nvSpPr>
          <p:cNvPr id="25" name="Rectangle 24"/>
          <p:cNvSpPr/>
          <p:nvPr/>
        </p:nvSpPr>
        <p:spPr>
          <a:xfrm>
            <a:off x="7086600" y="2450592"/>
            <a:ext cx="32004" cy="137160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97496" y="2414016"/>
            <a:ext cx="3977639" cy="1280160"/>
          </a:xfrm>
          <a:prstGeom prst="rect">
            <a:avLst/>
          </a:prstGeom>
          <a:noFill/>
        </p:spPr>
        <p:txBody>
          <a:bodyPr wrap="square" lIns="0" rIns="0" tIns="0" bIns="0" anchor="t">
            <a:spAutoFit/>
          </a:bodyPr>
          <a:lstStyle/>
          <a:p>
            <a:pPr algn="l">
              <a:lnSpc>
                <a:spcPct val="134000"/>
              </a:lnSpc>
            </a:pPr>
            <a:r>
              <a:rPr sz="1350" b="0" i="0">
                <a:solidFill>
                  <a:srgbClr val="EAEEF7"/>
                </a:solidFill>
                <a:latin typeface="Georgia"/>
              </a:rPr>
              <a:t>“While some PRM solutions may also track compliance with laws, contractual agreements, and incentive and loyalty programs, these are typically considered as secondary capabilities.”</a:t>
            </a:r>
          </a:p>
        </p:txBody>
      </p:sp>
      <p:sp>
        <p:nvSpPr>
          <p:cNvPr id="27" name="TextBox 26"/>
          <p:cNvSpPr txBox="1"/>
          <p:nvPr/>
        </p:nvSpPr>
        <p:spPr>
          <a:xfrm>
            <a:off x="7397496" y="3675888"/>
            <a:ext cx="3977639" cy="274320"/>
          </a:xfrm>
          <a:prstGeom prst="rect">
            <a:avLst/>
          </a:prstGeom>
          <a:noFill/>
        </p:spPr>
        <p:txBody>
          <a:bodyPr wrap="square" lIns="0" rIns="0" tIns="0" bIns="0" anchor="t">
            <a:spAutoFit/>
          </a:bodyPr>
          <a:lstStyle/>
          <a:p>
            <a:pPr algn="l">
              <a:lnSpc>
                <a:spcPct val="128000"/>
              </a:lnSpc>
            </a:pPr>
            <a:r>
              <a:rPr sz="950" b="0" i="0" spc="140">
                <a:solidFill>
                  <a:srgbClr val="6E7A94"/>
                </a:solidFill>
                <a:latin typeface="Segoe UI"/>
              </a:rPr>
              <a:t>G2 — PRM CATEGORY DEFINITION</a:t>
            </a:r>
          </a:p>
        </p:txBody>
      </p:sp>
      <p:sp>
        <p:nvSpPr>
          <p:cNvPr id="28" name="Rounded Rectangle 27"/>
          <p:cNvSpPr/>
          <p:nvPr/>
        </p:nvSpPr>
        <p:spPr>
          <a:xfrm>
            <a:off x="7086600" y="4133087"/>
            <a:ext cx="4315968" cy="13898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60920" y="4334256"/>
            <a:ext cx="3840480" cy="274320"/>
          </a:xfrm>
          <a:prstGeom prst="rect">
            <a:avLst/>
          </a:prstGeom>
          <a:noFill/>
        </p:spPr>
        <p:txBody>
          <a:bodyPr wrap="square" lIns="0" rIns="0" tIns="0" bIns="0" anchor="t">
            <a:spAutoFit/>
          </a:bodyPr>
          <a:lstStyle/>
          <a:p>
            <a:pPr algn="l">
              <a:lnSpc>
                <a:spcPct val="128000"/>
              </a:lnSpc>
            </a:pPr>
            <a:r>
              <a:rPr sz="1050" b="1" i="0">
                <a:solidFill>
                  <a:srgbClr val="86A2FF"/>
                </a:solidFill>
                <a:latin typeface="Segoe UI"/>
              </a:rPr>
              <a:t>And where payout does appear</a:t>
            </a:r>
          </a:p>
        </p:txBody>
      </p:sp>
      <p:sp>
        <p:nvSpPr>
          <p:cNvPr id="30" name="TextBox 29"/>
          <p:cNvSpPr txBox="1"/>
          <p:nvPr/>
        </p:nvSpPr>
        <p:spPr>
          <a:xfrm>
            <a:off x="7360920" y="4645152"/>
            <a:ext cx="3794760" cy="822960"/>
          </a:xfrm>
          <a:prstGeom prst="rect">
            <a:avLst/>
          </a:prstGeom>
          <a:noFill/>
        </p:spPr>
        <p:txBody>
          <a:bodyPr wrap="square" lIns="0" rIns="0" tIns="0" bIns="0" anchor="t">
            <a:spAutoFit/>
          </a:bodyPr>
          <a:lstStyle/>
          <a:p>
            <a:pPr algn="l">
              <a:lnSpc>
                <a:spcPct val="140000"/>
              </a:lnSpc>
            </a:pPr>
            <a:r>
              <a:rPr sz="950" b="0" i="0">
                <a:solidFill>
                  <a:srgbClr val="A6B2CA"/>
                </a:solidFill>
                <a:latin typeface="Segoe UI"/>
              </a:rPr>
              <a:t>…it is Rebate Management — a supplier-to-reseller category outside the partnerships tree. One party disbursing money in one direction. Not a ledger two counterparties both settle against.</a:t>
            </a:r>
          </a:p>
        </p:txBody>
      </p:sp>
      <p:sp>
        <p:nvSpPr>
          <p:cNvPr id="31" name="TextBox 30"/>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G2 Data API, category “partner-relationship-management-prm” and its parent “Partnerships Management” (five child categories), retrieved 5 August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C1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07</a:t>
            </a:r>
          </a:p>
        </p:txBody>
      </p:sp>
      <p:sp>
        <p:nvSpPr>
          <p:cNvPr id="8" name="TextBox 7"/>
          <p:cNvSpPr txBox="1"/>
          <p:nvPr/>
        </p:nvSpPr>
        <p:spPr>
          <a:xfrm>
            <a:off x="786384" y="1417320"/>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SOLUTION  ·  THE PROMISED LAND</a:t>
            </a:r>
          </a:p>
        </p:txBody>
      </p:sp>
      <p:sp>
        <p:nvSpPr>
          <p:cNvPr id="9" name="TextBox 8"/>
          <p:cNvSpPr txBox="1"/>
          <p:nvPr/>
        </p:nvSpPr>
        <p:spPr>
          <a:xfrm>
            <a:off x="786384" y="1828800"/>
            <a:ext cx="10332720" cy="1737360"/>
          </a:xfrm>
          <a:prstGeom prst="rect">
            <a:avLst/>
          </a:prstGeom>
          <a:noFill/>
        </p:spPr>
        <p:txBody>
          <a:bodyPr wrap="square" lIns="0" rIns="0" tIns="0" bIns="0" anchor="t">
            <a:spAutoFit/>
          </a:bodyPr>
          <a:lstStyle/>
          <a:p>
            <a:pPr algn="l">
              <a:lnSpc>
                <a:spcPct val="116000"/>
              </a:lnSpc>
            </a:pPr>
            <a:r>
              <a:rPr sz="3200" b="0" i="0" spc="-40">
                <a:solidFill>
                  <a:srgbClr val="EAEEF7"/>
                </a:solidFill>
                <a:latin typeface="Georgia"/>
              </a:rPr>
              <a:t>Both companies close the month against one number
neither has to argue about — and it is the same
number the tax authority already cleared.</a:t>
            </a:r>
          </a:p>
        </p:txBody>
      </p:sp>
      <p:sp>
        <p:nvSpPr>
          <p:cNvPr id="10" name="Rounded Rectangle 9"/>
          <p:cNvSpPr/>
          <p:nvPr/>
        </p:nvSpPr>
        <p:spPr>
          <a:xfrm>
            <a:off x="786384" y="4160520"/>
            <a:ext cx="3017520" cy="896112"/>
          </a:xfrm>
          <a:prstGeom prst="roundRect">
            <a:avLst>
              <a:gd name="adj" fmla="val 5000"/>
            </a:avLst>
          </a:prstGeom>
          <a:solidFill>
            <a:srgbClr val="14203C"/>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379976"/>
            <a:ext cx="2468880" cy="274320"/>
          </a:xfrm>
          <a:prstGeom prst="rect">
            <a:avLst/>
          </a:prstGeom>
          <a:noFill/>
        </p:spPr>
        <p:txBody>
          <a:bodyPr wrap="square" lIns="0" rIns="0" tIns="0" bIns="0" anchor="t">
            <a:spAutoFit/>
          </a:bodyPr>
          <a:lstStyle/>
          <a:p>
            <a:pPr algn="l">
              <a:lnSpc>
                <a:spcPct val="128000"/>
              </a:lnSpc>
            </a:pPr>
            <a:r>
              <a:rPr sz="1150" b="0" i="0">
                <a:solidFill>
                  <a:srgbClr val="A6B2CA"/>
                </a:solidFill>
                <a:latin typeface="Segoe UI"/>
              </a:rPr>
              <a:t>Company A · finance</a:t>
            </a:r>
          </a:p>
        </p:txBody>
      </p:sp>
      <p:sp>
        <p:nvSpPr>
          <p:cNvPr id="12" name="TextBox 11"/>
          <p:cNvSpPr txBox="1"/>
          <p:nvPr/>
        </p:nvSpPr>
        <p:spPr>
          <a:xfrm>
            <a:off x="1060704" y="4672583"/>
            <a:ext cx="2468880" cy="274320"/>
          </a:xfrm>
          <a:prstGeom prst="rect">
            <a:avLst/>
          </a:prstGeom>
          <a:noFill/>
        </p:spPr>
        <p:txBody>
          <a:bodyPr wrap="square" lIns="0" rIns="0" tIns="0" bIns="0" anchor="t">
            <a:spAutoFit/>
          </a:bodyPr>
          <a:lstStyle/>
          <a:p>
            <a:pPr algn="l">
              <a:lnSpc>
                <a:spcPct val="128000"/>
              </a:lnSpc>
            </a:pPr>
            <a:r>
              <a:rPr sz="1200" b="1" i="0">
                <a:solidFill>
                  <a:srgbClr val="4FC088"/>
                </a:solidFill>
                <a:latin typeface="Segoe UI"/>
              </a:rPr>
              <a:t>✓  closes</a:t>
            </a:r>
          </a:p>
        </p:txBody>
      </p:sp>
      <p:sp>
        <p:nvSpPr>
          <p:cNvPr id="13" name="Rounded Rectangle 12"/>
          <p:cNvSpPr/>
          <p:nvPr/>
        </p:nvSpPr>
        <p:spPr>
          <a:xfrm>
            <a:off x="8147304" y="4160520"/>
            <a:ext cx="3017520" cy="896112"/>
          </a:xfrm>
          <a:prstGeom prst="roundRect">
            <a:avLst>
              <a:gd name="adj" fmla="val 5000"/>
            </a:avLst>
          </a:prstGeom>
          <a:solidFill>
            <a:srgbClr val="14203C"/>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1624" y="4379976"/>
            <a:ext cx="2468880" cy="274320"/>
          </a:xfrm>
          <a:prstGeom prst="rect">
            <a:avLst/>
          </a:prstGeom>
          <a:noFill/>
        </p:spPr>
        <p:txBody>
          <a:bodyPr wrap="square" lIns="0" rIns="0" tIns="0" bIns="0" anchor="t">
            <a:spAutoFit/>
          </a:bodyPr>
          <a:lstStyle/>
          <a:p>
            <a:pPr algn="l">
              <a:lnSpc>
                <a:spcPct val="128000"/>
              </a:lnSpc>
            </a:pPr>
            <a:r>
              <a:rPr sz="1150" b="0" i="0">
                <a:solidFill>
                  <a:srgbClr val="A6B2CA"/>
                </a:solidFill>
                <a:latin typeface="Segoe UI"/>
              </a:rPr>
              <a:t>Company B · finance</a:t>
            </a:r>
          </a:p>
        </p:txBody>
      </p:sp>
      <p:sp>
        <p:nvSpPr>
          <p:cNvPr id="15" name="TextBox 14"/>
          <p:cNvSpPr txBox="1"/>
          <p:nvPr/>
        </p:nvSpPr>
        <p:spPr>
          <a:xfrm>
            <a:off x="8421624" y="4672583"/>
            <a:ext cx="2468880" cy="274320"/>
          </a:xfrm>
          <a:prstGeom prst="rect">
            <a:avLst/>
          </a:prstGeom>
          <a:noFill/>
        </p:spPr>
        <p:txBody>
          <a:bodyPr wrap="square" lIns="0" rIns="0" tIns="0" bIns="0" anchor="t">
            <a:spAutoFit/>
          </a:bodyPr>
          <a:lstStyle/>
          <a:p>
            <a:pPr algn="l">
              <a:lnSpc>
                <a:spcPct val="128000"/>
              </a:lnSpc>
            </a:pPr>
            <a:r>
              <a:rPr sz="1200" b="1" i="0">
                <a:solidFill>
                  <a:srgbClr val="4FC088"/>
                </a:solidFill>
                <a:latin typeface="Segoe UI"/>
              </a:rPr>
              <a:t>✓  closes</a:t>
            </a:r>
          </a:p>
        </p:txBody>
      </p:sp>
      <p:sp>
        <p:nvSpPr>
          <p:cNvPr id="16" name="Rounded Rectangle 15"/>
          <p:cNvSpPr/>
          <p:nvPr/>
        </p:nvSpPr>
        <p:spPr>
          <a:xfrm>
            <a:off x="4489704" y="4050791"/>
            <a:ext cx="3401568" cy="1115568"/>
          </a:xfrm>
          <a:prstGeom prst="roundRect">
            <a:avLst>
              <a:gd name="adj" fmla="val 5000"/>
            </a:avLst>
          </a:prstGeom>
          <a:solidFill>
            <a:srgbClr val="101A32"/>
          </a:solidFill>
          <a:ln w="12700">
            <a:solidFill>
              <a:srgbClr val="2A5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4251959"/>
            <a:ext cx="2926080" cy="274320"/>
          </a:xfrm>
          <a:prstGeom prst="rect">
            <a:avLst/>
          </a:prstGeom>
          <a:noFill/>
        </p:spPr>
        <p:txBody>
          <a:bodyPr wrap="square" lIns="0" rIns="0" tIns="0" bIns="0" anchor="t">
            <a:spAutoFit/>
          </a:bodyPr>
          <a:lstStyle/>
          <a:p>
            <a:pPr algn="ctr">
              <a:lnSpc>
                <a:spcPct val="128000"/>
              </a:lnSpc>
            </a:pPr>
            <a:r>
              <a:rPr sz="950" b="1" i="0" spc="220">
                <a:solidFill>
                  <a:srgbClr val="86A2FF"/>
                </a:solidFill>
                <a:latin typeface="Segoe UI"/>
              </a:rPr>
              <a:t>ONE RECORD</a:t>
            </a:r>
          </a:p>
        </p:txBody>
      </p:sp>
      <p:sp>
        <p:nvSpPr>
          <p:cNvPr id="18" name="TextBox 17"/>
          <p:cNvSpPr txBox="1"/>
          <p:nvPr/>
        </p:nvSpPr>
        <p:spPr>
          <a:xfrm>
            <a:off x="4718304" y="4562856"/>
            <a:ext cx="2926080" cy="457200"/>
          </a:xfrm>
          <a:prstGeom prst="rect">
            <a:avLst/>
          </a:prstGeom>
          <a:noFill/>
        </p:spPr>
        <p:txBody>
          <a:bodyPr wrap="square" lIns="0" rIns="0" tIns="0" bIns="0" anchor="t">
            <a:spAutoFit/>
          </a:bodyPr>
          <a:lstStyle/>
          <a:p>
            <a:pPr algn="ctr">
              <a:lnSpc>
                <a:spcPct val="120000"/>
              </a:lnSpc>
            </a:pPr>
            <a:r>
              <a:rPr sz="1300" b="0" i="0">
                <a:solidFill>
                  <a:srgbClr val="EAEEF7"/>
                </a:solidFill>
                <a:latin typeface="Georgia"/>
              </a:rPr>
              <a:t>cleared · attributed
· evidenced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08</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SOLUTION  ·  THE INSIGHT</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A ledger only one side trusts is just an invoice. The durable asset is one
mutually approved ruleset both counterparties settle against — and the
regulator has already made the settlement document itself shared.</a:t>
            </a:r>
          </a:p>
        </p:txBody>
      </p:sp>
      <p:sp>
        <p:nvSpPr>
          <p:cNvPr id="10" name="Rounded Rectangle 9"/>
          <p:cNvSpPr/>
          <p:nvPr/>
        </p:nvSpPr>
        <p:spPr>
          <a:xfrm>
            <a:off x="786384" y="3246120"/>
            <a:ext cx="2331720" cy="960120"/>
          </a:xfrm>
          <a:prstGeom prst="roundRect">
            <a:avLst>
              <a:gd name="adj" fmla="val 5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465576"/>
            <a:ext cx="1920240" cy="274320"/>
          </a:xfrm>
          <a:prstGeom prst="rect">
            <a:avLst/>
          </a:prstGeom>
          <a:noFill/>
        </p:spPr>
        <p:txBody>
          <a:bodyPr wrap="square" lIns="0" rIns="0" tIns="0" bIns="0" anchor="t">
            <a:spAutoFit/>
          </a:bodyPr>
          <a:lstStyle/>
          <a:p>
            <a:pPr algn="l">
              <a:lnSpc>
                <a:spcPct val="128000"/>
              </a:lnSpc>
            </a:pPr>
            <a:r>
              <a:rPr sz="1300" b="0" i="0">
                <a:solidFill>
                  <a:srgbClr val="EAEEF7"/>
                </a:solidFill>
                <a:latin typeface="Georgia"/>
              </a:rPr>
              <a:t>Company A</a:t>
            </a:r>
          </a:p>
        </p:txBody>
      </p:sp>
      <p:sp>
        <p:nvSpPr>
          <p:cNvPr id="12" name="TextBox 11"/>
          <p:cNvSpPr txBox="1"/>
          <p:nvPr/>
        </p:nvSpPr>
        <p:spPr>
          <a:xfrm>
            <a:off x="1024128" y="3776472"/>
            <a:ext cx="1920240" cy="274320"/>
          </a:xfrm>
          <a:prstGeom prst="rect">
            <a:avLst/>
          </a:prstGeom>
          <a:noFill/>
        </p:spPr>
        <p:txBody>
          <a:bodyPr wrap="square" lIns="0" rIns="0" tIns="0" bIns="0" anchor="t">
            <a:spAutoFit/>
          </a:bodyPr>
          <a:lstStyle/>
          <a:p>
            <a:pPr algn="l">
              <a:lnSpc>
                <a:spcPct val="128000"/>
              </a:lnSpc>
            </a:pPr>
            <a:r>
              <a:rPr sz="950" b="0" i="0">
                <a:solidFill>
                  <a:srgbClr val="6E7A94"/>
                </a:solidFill>
                <a:latin typeface="Consolas"/>
              </a:rPr>
              <a:t>access point</a:t>
            </a:r>
          </a:p>
        </p:txBody>
      </p:sp>
      <p:sp>
        <p:nvSpPr>
          <p:cNvPr id="13" name="Rounded Rectangle 12"/>
          <p:cNvSpPr/>
          <p:nvPr/>
        </p:nvSpPr>
        <p:spPr>
          <a:xfrm>
            <a:off x="8421624" y="3246120"/>
            <a:ext cx="2331720" cy="960120"/>
          </a:xfrm>
          <a:prstGeom prst="roundRect">
            <a:avLst>
              <a:gd name="adj" fmla="val 5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9367" y="3465576"/>
            <a:ext cx="1920240" cy="274320"/>
          </a:xfrm>
          <a:prstGeom prst="rect">
            <a:avLst/>
          </a:prstGeom>
          <a:noFill/>
        </p:spPr>
        <p:txBody>
          <a:bodyPr wrap="square" lIns="0" rIns="0" tIns="0" bIns="0" anchor="t">
            <a:spAutoFit/>
          </a:bodyPr>
          <a:lstStyle/>
          <a:p>
            <a:pPr algn="l">
              <a:lnSpc>
                <a:spcPct val="128000"/>
              </a:lnSpc>
            </a:pPr>
            <a:r>
              <a:rPr sz="1300" b="0" i="0">
                <a:solidFill>
                  <a:srgbClr val="EAEEF7"/>
                </a:solidFill>
                <a:latin typeface="Georgia"/>
              </a:rPr>
              <a:t>Company B</a:t>
            </a:r>
          </a:p>
        </p:txBody>
      </p:sp>
      <p:sp>
        <p:nvSpPr>
          <p:cNvPr id="15" name="TextBox 14"/>
          <p:cNvSpPr txBox="1"/>
          <p:nvPr/>
        </p:nvSpPr>
        <p:spPr>
          <a:xfrm>
            <a:off x="8659367" y="3776472"/>
            <a:ext cx="1920240" cy="274320"/>
          </a:xfrm>
          <a:prstGeom prst="rect">
            <a:avLst/>
          </a:prstGeom>
          <a:noFill/>
        </p:spPr>
        <p:txBody>
          <a:bodyPr wrap="square" lIns="0" rIns="0" tIns="0" bIns="0" anchor="t">
            <a:spAutoFit/>
          </a:bodyPr>
          <a:lstStyle/>
          <a:p>
            <a:pPr algn="l">
              <a:lnSpc>
                <a:spcPct val="128000"/>
              </a:lnSpc>
            </a:pPr>
            <a:r>
              <a:rPr sz="950" b="0" i="0">
                <a:solidFill>
                  <a:srgbClr val="6E7A94"/>
                </a:solidFill>
                <a:latin typeface="Consolas"/>
              </a:rPr>
              <a:t>access point</a:t>
            </a:r>
          </a:p>
        </p:txBody>
      </p:sp>
      <p:sp>
        <p:nvSpPr>
          <p:cNvPr id="16" name="Rounded Rectangle 15"/>
          <p:cNvSpPr/>
          <p:nvPr/>
        </p:nvSpPr>
        <p:spPr>
          <a:xfrm>
            <a:off x="3712464" y="3044951"/>
            <a:ext cx="4526280" cy="1371600"/>
          </a:xfrm>
          <a:prstGeom prst="roundRect">
            <a:avLst>
              <a:gd name="adj" fmla="val 5000"/>
            </a:avLst>
          </a:prstGeom>
          <a:solidFill>
            <a:srgbClr val="14203C"/>
          </a:solidFill>
          <a:ln w="17780">
            <a:solidFill>
              <a:srgbClr val="2A5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8496" y="3227832"/>
            <a:ext cx="4023360" cy="274320"/>
          </a:xfrm>
          <a:prstGeom prst="rect">
            <a:avLst/>
          </a:prstGeom>
          <a:noFill/>
        </p:spPr>
        <p:txBody>
          <a:bodyPr wrap="square" lIns="0" rIns="0" tIns="0" bIns="0" anchor="t">
            <a:spAutoFit/>
          </a:bodyPr>
          <a:lstStyle/>
          <a:p>
            <a:pPr algn="l">
              <a:lnSpc>
                <a:spcPct val="128000"/>
              </a:lnSpc>
            </a:pPr>
            <a:r>
              <a:rPr sz="950" b="1" i="0" spc="220">
                <a:solidFill>
                  <a:srgbClr val="86A2FF"/>
                </a:solidFill>
                <a:latin typeface="Segoe UI"/>
              </a:rPr>
              <a:t>THE SHARED RULESET</a:t>
            </a:r>
          </a:p>
        </p:txBody>
      </p:sp>
      <p:sp>
        <p:nvSpPr>
          <p:cNvPr id="18" name="TextBox 17"/>
          <p:cNvSpPr txBox="1"/>
          <p:nvPr/>
        </p:nvSpPr>
        <p:spPr>
          <a:xfrm>
            <a:off x="3968496" y="3538727"/>
            <a:ext cx="4023360" cy="731520"/>
          </a:xfrm>
          <a:prstGeom prst="rect">
            <a:avLst/>
          </a:prstGeom>
          <a:noFill/>
        </p:spPr>
        <p:txBody>
          <a:bodyPr wrap="square" lIns="0" rIns="0" tIns="0" bIns="0" anchor="t">
            <a:spAutoFit/>
          </a:bodyPr>
          <a:lstStyle/>
          <a:p>
            <a:pPr algn="l">
              <a:lnSpc>
                <a:spcPct val="140000"/>
              </a:lnSpc>
            </a:pPr>
            <a:r>
              <a:rPr sz="1100" b="0" i="0">
                <a:solidFill>
                  <a:srgbClr val="A6B2CA"/>
                </a:solidFill>
                <a:latin typeface="Segoe UI"/>
              </a:rPr>
              <a:t>approved by both · versioned · append-only
claim · attribution · eligibility · characterisation · evidence</a:t>
            </a:r>
          </a:p>
        </p:txBody>
      </p:sp>
      <p:sp>
        <p:nvSpPr>
          <p:cNvPr id="19" name="Rectangle 18"/>
          <p:cNvSpPr/>
          <p:nvPr/>
        </p:nvSpPr>
        <p:spPr>
          <a:xfrm>
            <a:off x="3118103" y="3721608"/>
            <a:ext cx="594360"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38744" y="3721608"/>
            <a:ext cx="182880"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2624" y="4690872"/>
            <a:ext cx="1965960" cy="566928"/>
          </a:xfrm>
          <a:prstGeom prst="roundRect">
            <a:avLst>
              <a:gd name="adj" fmla="val 6000"/>
            </a:avLst>
          </a:prstGeom>
          <a:solidFill>
            <a:srgbClr val="0E1A14"/>
          </a:solidFill>
          <a:ln w="12700">
            <a:solidFill>
              <a:srgbClr val="4FC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5504" y="4837176"/>
            <a:ext cx="1737360" cy="274320"/>
          </a:xfrm>
          <a:prstGeom prst="rect">
            <a:avLst/>
          </a:prstGeom>
          <a:noFill/>
        </p:spPr>
        <p:txBody>
          <a:bodyPr wrap="square" lIns="0" rIns="0" tIns="0" bIns="0" anchor="t">
            <a:spAutoFit/>
          </a:bodyPr>
          <a:lstStyle/>
          <a:p>
            <a:pPr algn="ctr">
              <a:lnSpc>
                <a:spcPct val="128000"/>
              </a:lnSpc>
            </a:pPr>
            <a:r>
              <a:rPr sz="1100" b="1" i="0">
                <a:solidFill>
                  <a:srgbClr val="4FC088"/>
                </a:solidFill>
                <a:latin typeface="Segoe UI"/>
              </a:rPr>
              <a:t>ZATCA · Fatoora</a:t>
            </a:r>
          </a:p>
        </p:txBody>
      </p:sp>
      <p:sp>
        <p:nvSpPr>
          <p:cNvPr id="23" name="Rectangle 22"/>
          <p:cNvSpPr/>
          <p:nvPr/>
        </p:nvSpPr>
        <p:spPr>
          <a:xfrm>
            <a:off x="5971032" y="4416552"/>
            <a:ext cx="10972" cy="274320"/>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 y="5244084"/>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 y="5138928"/>
            <a:ext cx="10149840" cy="822960"/>
          </a:xfrm>
          <a:prstGeom prst="rect">
            <a:avLst/>
          </a:prstGeom>
          <a:noFill/>
        </p:spPr>
        <p:txBody>
          <a:bodyPr wrap="square" lIns="0" rIns="0" tIns="0" bIns="0" anchor="t">
            <a:spAutoFit/>
          </a:bodyPr>
          <a:lstStyle/>
          <a:p>
            <a:pPr algn="l">
              <a:lnSpc>
                <a:spcPct val="145000"/>
              </a:lnSpc>
            </a:pPr>
            <a:r>
              <a:rPr sz="1100" b="1" i="0">
                <a:solidFill>
                  <a:srgbClr val="EAEEF7"/>
                </a:solidFill>
                <a:latin typeface="Segoe UI"/>
              </a:rPr>
              <a:t>The shared artefact already legally exists.  </a:t>
            </a:r>
            <a:r>
              <a:rPr sz="1100" b="0" i="0">
                <a:solidFill>
                  <a:srgbClr val="A6B2CA"/>
                </a:solidFill>
                <a:latin typeface="Segoe UI"/>
              </a:rPr>
              <a:t>ZATCA clears the standard B2B invoice before issuance, so both counterparties are already bound to one stamped document, one identity, one timestamp. We do not have to persuade two companies to adopt a shared record — we attach the partner economics to the record they are already legally bound to.</a:t>
            </a:r>
          </a:p>
        </p:txBody>
      </p:sp>
      <p:sp>
        <p:nvSpPr>
          <p:cNvPr id="26" name="TextBox 25"/>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Architecture pattern: Peppol's four-corner model (five-corner where a regulator sits in the loop) — each side connects only to its own access point, interoperability guaranteed by a shared specification rather than pairwise integration.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09</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PRODUCT  ·  SHIPPING NOW</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Phase 1 delivers complete value to one company on day one, requires zero
consent from the counterparty — and captures exactly the data the
settlement layer will need.</a:t>
            </a:r>
          </a:p>
        </p:txBody>
      </p:sp>
      <p:sp>
        <p:nvSpPr>
          <p:cNvPr id="10" name="Rectangle 9"/>
          <p:cNvSpPr/>
          <p:nvPr/>
        </p:nvSpPr>
        <p:spPr>
          <a:xfrm>
            <a:off x="786384" y="2743200"/>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633472"/>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Partner registry</a:t>
            </a:r>
          </a:p>
        </p:txBody>
      </p:sp>
      <p:sp>
        <p:nvSpPr>
          <p:cNvPr id="12" name="TextBox 11"/>
          <p:cNvSpPr txBox="1"/>
          <p:nvPr/>
        </p:nvSpPr>
        <p:spPr>
          <a:xfrm>
            <a:off x="1042416" y="2889504"/>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identity, lifecycle, ownership, onboarding</a:t>
            </a:r>
          </a:p>
        </p:txBody>
      </p:sp>
      <p:sp>
        <p:nvSpPr>
          <p:cNvPr id="13" name="Rectangle 12"/>
          <p:cNvSpPr/>
          <p:nvPr/>
        </p:nvSpPr>
        <p:spPr>
          <a:xfrm>
            <a:off x="6409944" y="2743200"/>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65976" y="2633472"/>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Claim registration</a:t>
            </a:r>
          </a:p>
        </p:txBody>
      </p:sp>
      <p:sp>
        <p:nvSpPr>
          <p:cNvPr id="15" name="TextBox 14"/>
          <p:cNvSpPr txBox="1"/>
          <p:nvPr/>
        </p:nvSpPr>
        <p:spPr>
          <a:xfrm>
            <a:off x="6665976" y="2889504"/>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the deal/claim is the atomic object — not the partner profile</a:t>
            </a:r>
          </a:p>
        </p:txBody>
      </p:sp>
      <p:sp>
        <p:nvSpPr>
          <p:cNvPr id="16" name="Rectangle 15"/>
          <p:cNvSpPr/>
          <p:nvPr/>
        </p:nvSpPr>
        <p:spPr>
          <a:xfrm>
            <a:off x="786384" y="3419856"/>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3310128"/>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Attribution of record</a:t>
            </a:r>
          </a:p>
        </p:txBody>
      </p:sp>
      <p:sp>
        <p:nvSpPr>
          <p:cNvPr id="18" name="TextBox 17"/>
          <p:cNvSpPr txBox="1"/>
          <p:nvPr/>
        </p:nvSpPr>
        <p:spPr>
          <a:xfrm>
            <a:off x="1042416" y="3566160"/>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one canonical decision: model-advised, human-decided, contestable</a:t>
            </a:r>
          </a:p>
        </p:txBody>
      </p:sp>
      <p:sp>
        <p:nvSpPr>
          <p:cNvPr id="19" name="Rectangle 18"/>
          <p:cNvSpPr/>
          <p:nvPr/>
        </p:nvSpPr>
        <p:spPr>
          <a:xfrm>
            <a:off x="6409944" y="3419856"/>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5976" y="3310128"/>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Protection windows</a:t>
            </a:r>
          </a:p>
        </p:txBody>
      </p:sp>
      <p:sp>
        <p:nvSpPr>
          <p:cNvPr id="21" name="TextBox 20"/>
          <p:cNvSpPr txBox="1"/>
          <p:nvPr/>
        </p:nvSpPr>
        <p:spPr>
          <a:xfrm>
            <a:off x="6665976" y="3566160"/>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deal protection as an audited right, with expiry notification</a:t>
            </a:r>
          </a:p>
        </p:txBody>
      </p:sp>
      <p:sp>
        <p:nvSpPr>
          <p:cNvPr id="22" name="Rectangle 21"/>
          <p:cNvSpPr/>
          <p:nvPr/>
        </p:nvSpPr>
        <p:spPr>
          <a:xfrm>
            <a:off x="786384" y="4096511"/>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3986783"/>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Eligibility preview</a:t>
            </a:r>
          </a:p>
        </p:txBody>
      </p:sp>
      <p:sp>
        <p:nvSpPr>
          <p:cNvPr id="24" name="TextBox 23"/>
          <p:cNvSpPr txBox="1"/>
          <p:nvPr/>
        </p:nvSpPr>
        <p:spPr>
          <a:xfrm>
            <a:off x="1042416" y="4242816"/>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computed by one authoritative service, always with an explanation</a:t>
            </a:r>
          </a:p>
        </p:txBody>
      </p:sp>
      <p:sp>
        <p:nvSpPr>
          <p:cNvPr id="25" name="Rectangle 24"/>
          <p:cNvSpPr/>
          <p:nvPr/>
        </p:nvSpPr>
        <p:spPr>
          <a:xfrm>
            <a:off x="6409944" y="4096511"/>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5976" y="3986783"/>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Evidence packs</a:t>
            </a:r>
          </a:p>
        </p:txBody>
      </p:sp>
      <p:sp>
        <p:nvSpPr>
          <p:cNvPr id="27" name="TextBox 26"/>
          <p:cNvSpPr txBox="1"/>
          <p:nvPr/>
        </p:nvSpPr>
        <p:spPr>
          <a:xfrm>
            <a:off x="6665976" y="4242816"/>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the claim, the attribution, the ruleset version, the documents</a:t>
            </a:r>
          </a:p>
        </p:txBody>
      </p:sp>
      <p:sp>
        <p:nvSpPr>
          <p:cNvPr id="28" name="Rectangle 27"/>
          <p:cNvSpPr/>
          <p:nvPr/>
        </p:nvSpPr>
        <p:spPr>
          <a:xfrm>
            <a:off x="786384" y="4773168"/>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2416" y="4663440"/>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Tax-field capture</a:t>
            </a:r>
          </a:p>
        </p:txBody>
      </p:sp>
      <p:sp>
        <p:nvSpPr>
          <p:cNvPr id="30" name="TextBox 29"/>
          <p:cNvSpPr txBox="1"/>
          <p:nvPr/>
        </p:nvSpPr>
        <p:spPr>
          <a:xfrm>
            <a:off x="1042416" y="4919472"/>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characterisation and counterparty relationship recorded at claim time</a:t>
            </a:r>
          </a:p>
        </p:txBody>
      </p:sp>
      <p:sp>
        <p:nvSpPr>
          <p:cNvPr id="31" name="Rectangle 30"/>
          <p:cNvSpPr/>
          <p:nvPr/>
        </p:nvSpPr>
        <p:spPr>
          <a:xfrm>
            <a:off x="6409944" y="4773168"/>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65976" y="4663440"/>
            <a:ext cx="5120640" cy="256032"/>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Append-only ledger</a:t>
            </a:r>
          </a:p>
        </p:txBody>
      </p:sp>
      <p:sp>
        <p:nvSpPr>
          <p:cNvPr id="33" name="TextBox 32"/>
          <p:cNvSpPr txBox="1"/>
          <p:nvPr/>
        </p:nvSpPr>
        <p:spPr>
          <a:xfrm>
            <a:off x="6665976" y="4919472"/>
            <a:ext cx="5120640" cy="292608"/>
          </a:xfrm>
          <a:prstGeom prst="rect">
            <a:avLst/>
          </a:prstGeom>
          <a:noFill/>
        </p:spPr>
        <p:txBody>
          <a:bodyPr wrap="square" lIns="0" rIns="0" tIns="0" bIns="0" anchor="t">
            <a:spAutoFit/>
          </a:bodyPr>
          <a:lstStyle/>
          <a:p>
            <a:pPr algn="l">
              <a:lnSpc>
                <a:spcPct val="128000"/>
              </a:lnSpc>
            </a:pPr>
            <a:r>
              <a:rPr sz="950" b="0" i="0">
                <a:solidFill>
                  <a:srgbClr val="6E7A94"/>
                </a:solidFill>
                <a:latin typeface="Segoe UI"/>
              </a:rPr>
              <a:t>accrued and eligible states recorded — never executed</a:t>
            </a:r>
          </a:p>
        </p:txBody>
      </p:sp>
      <p:sp>
        <p:nvSpPr>
          <p:cNvPr id="34" name="Rounded Rectangle 33"/>
          <p:cNvSpPr/>
          <p:nvPr/>
        </p:nvSpPr>
        <p:spPr>
          <a:xfrm>
            <a:off x="786384" y="5340096"/>
            <a:ext cx="10607040" cy="457200"/>
          </a:xfrm>
          <a:prstGeom prst="roundRect">
            <a:avLst>
              <a:gd name="adj" fmla="val 5000"/>
            </a:avLst>
          </a:prstGeom>
          <a:solidFill>
            <a:srgbClr val="1A0F0E"/>
          </a:solidFill>
          <a:ln w="12700">
            <a:solidFill>
              <a:srgbClr val="E469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0704" y="5440680"/>
            <a:ext cx="10058400" cy="274320"/>
          </a:xfrm>
          <a:prstGeom prst="rect">
            <a:avLst/>
          </a:prstGeom>
          <a:noFill/>
        </p:spPr>
        <p:txBody>
          <a:bodyPr wrap="square" lIns="0" rIns="0" tIns="0" bIns="0" anchor="t">
            <a:spAutoFit/>
          </a:bodyPr>
          <a:lstStyle/>
          <a:p>
            <a:pPr algn="l">
              <a:lnSpc>
                <a:spcPct val="128000"/>
              </a:lnSpc>
            </a:pPr>
            <a:r>
              <a:rPr sz="1050" b="1" i="0">
                <a:solidFill>
                  <a:srgbClr val="F0A096"/>
                </a:solidFill>
                <a:latin typeface="Segoe UI"/>
              </a:rPr>
              <a:t>No money movement.  No approval-to-pay.  No payment-rail integration.  No automated tax clearance.  Phase 1 calculates, records and prepares — nothing else.</a:t>
            </a:r>
          </a:p>
        </p:txBody>
      </p:sp>
      <p:sp>
        <p:nvSpPr>
          <p:cNvPr id="36" name="TextBox 35"/>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Cold-start precedent: Crossbeam's account mapping scaled because each side uploads only its own list and only the intersection is revealed — no negotiation, no shared ruleset, no agreement about money. Crossbeam and Reveal merged June 2024; 25,000+ companies had adopted one or the other by 2024, and Crossbeam now cites over 30,000. Phase 1 must clear the same bar.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10</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PRODUCT  ·  WHAT EACH THING IS FOR</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700" b="0" i="0" spc="-40">
                <a:solidFill>
                  <a:srgbClr val="EAEEF7"/>
                </a:solidFill>
                <a:latin typeface="Georgia"/>
              </a:rPr>
              <a:t>Every capability exists to remove one specific thing standing between
a finance team and a closed month.</a:t>
            </a:r>
          </a:p>
        </p:txBody>
      </p:sp>
      <p:sp>
        <p:nvSpPr>
          <p:cNvPr id="10" name="TextBox 9"/>
          <p:cNvSpPr txBox="1"/>
          <p:nvPr/>
        </p:nvSpPr>
        <p:spPr>
          <a:xfrm>
            <a:off x="786384" y="2542032"/>
            <a:ext cx="5989320" cy="566928"/>
          </a:xfrm>
          <a:prstGeom prst="rect">
            <a:avLst/>
          </a:prstGeom>
          <a:noFill/>
        </p:spPr>
        <p:txBody>
          <a:bodyPr wrap="square" lIns="0" rIns="0" tIns="0" bIns="0" anchor="t">
            <a:spAutoFit/>
          </a:bodyPr>
          <a:lstStyle/>
          <a:p>
            <a:pPr algn="l">
              <a:lnSpc>
                <a:spcPct val="116000"/>
              </a:lnSpc>
            </a:pPr>
            <a:r>
              <a:rPr sz="1500" b="0" i="0">
                <a:solidFill>
                  <a:srgbClr val="EAEEF7"/>
                </a:solidFill>
                <a:latin typeface="Georgia"/>
              </a:rPr>
              <a:t>“Finance rebuilds the partner statement by hand every month.”</a:t>
            </a:r>
          </a:p>
        </p:txBody>
      </p:sp>
      <p:sp>
        <p:nvSpPr>
          <p:cNvPr id="11" name="TextBox 10"/>
          <p:cNvSpPr txBox="1"/>
          <p:nvPr/>
        </p:nvSpPr>
        <p:spPr>
          <a:xfrm>
            <a:off x="7141464" y="2578608"/>
            <a:ext cx="4251960" cy="603504"/>
          </a:xfrm>
          <a:prstGeom prst="rect">
            <a:avLst/>
          </a:prstGeom>
          <a:noFill/>
        </p:spPr>
        <p:txBody>
          <a:bodyPr wrap="square" lIns="0" rIns="0" tIns="0" bIns="0" anchor="t">
            <a:spAutoFit/>
          </a:bodyPr>
          <a:lstStyle/>
          <a:p>
            <a:pPr algn="l">
              <a:lnSpc>
                <a:spcPct val="142000"/>
              </a:lnSpc>
            </a:pPr>
            <a:r>
              <a:rPr sz="950" b="0" i="0">
                <a:solidFill>
                  <a:srgbClr val="A6B2CA"/>
                </a:solidFill>
                <a:latin typeface="Segoe UI"/>
              </a:rPr>
              <a:t>Evidence pack — the claim, the attribution, the ruleset version and the supporting documents, exported in the form finance accepts.</a:t>
            </a:r>
          </a:p>
        </p:txBody>
      </p:sp>
      <p:sp>
        <p:nvSpPr>
          <p:cNvPr id="12" name="Rectangle 11"/>
          <p:cNvSpPr/>
          <p:nvPr/>
        </p:nvSpPr>
        <p:spPr>
          <a:xfrm>
            <a:off x="786384" y="3255263"/>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01568"/>
            <a:ext cx="5989320" cy="566928"/>
          </a:xfrm>
          <a:prstGeom prst="rect">
            <a:avLst/>
          </a:prstGeom>
          <a:noFill/>
        </p:spPr>
        <p:txBody>
          <a:bodyPr wrap="square" lIns="0" rIns="0" tIns="0" bIns="0" anchor="t">
            <a:spAutoFit/>
          </a:bodyPr>
          <a:lstStyle/>
          <a:p>
            <a:pPr algn="l">
              <a:lnSpc>
                <a:spcPct val="116000"/>
              </a:lnSpc>
            </a:pPr>
            <a:r>
              <a:rPr sz="1500" b="0" i="0">
                <a:solidFill>
                  <a:srgbClr val="EAEEF7"/>
                </a:solidFill>
                <a:latin typeface="Georgia"/>
              </a:rPr>
              <a:t>“Nobody agrees who sourced the deal, and the argument happens after the money is due.”</a:t>
            </a:r>
          </a:p>
        </p:txBody>
      </p:sp>
      <p:sp>
        <p:nvSpPr>
          <p:cNvPr id="14" name="TextBox 13"/>
          <p:cNvSpPr txBox="1"/>
          <p:nvPr/>
        </p:nvSpPr>
        <p:spPr>
          <a:xfrm>
            <a:off x="7141464" y="3438144"/>
            <a:ext cx="4251960" cy="603504"/>
          </a:xfrm>
          <a:prstGeom prst="rect">
            <a:avLst/>
          </a:prstGeom>
          <a:noFill/>
        </p:spPr>
        <p:txBody>
          <a:bodyPr wrap="square" lIns="0" rIns="0" tIns="0" bIns="0" anchor="t">
            <a:spAutoFit/>
          </a:bodyPr>
          <a:lstStyle/>
          <a:p>
            <a:pPr algn="l">
              <a:lnSpc>
                <a:spcPct val="142000"/>
              </a:lnSpc>
            </a:pPr>
            <a:r>
              <a:rPr sz="950" b="0" i="0">
                <a:solidFill>
                  <a:srgbClr val="A6B2CA"/>
                </a:solidFill>
                <a:latin typeface="Segoe UI"/>
              </a:rPr>
              <a:t>Attribution-of-record + protection windows — the decision is made and timestamped before the deal closes, not litigated after.</a:t>
            </a:r>
          </a:p>
        </p:txBody>
      </p:sp>
      <p:sp>
        <p:nvSpPr>
          <p:cNvPr id="15" name="Rectangle 14"/>
          <p:cNvSpPr/>
          <p:nvPr/>
        </p:nvSpPr>
        <p:spPr>
          <a:xfrm>
            <a:off x="786384" y="4114800"/>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261104"/>
            <a:ext cx="5989320" cy="566928"/>
          </a:xfrm>
          <a:prstGeom prst="rect">
            <a:avLst/>
          </a:prstGeom>
          <a:noFill/>
        </p:spPr>
        <p:txBody>
          <a:bodyPr wrap="square" lIns="0" rIns="0" tIns="0" bIns="0" anchor="t">
            <a:spAutoFit/>
          </a:bodyPr>
          <a:lstStyle/>
          <a:p>
            <a:pPr algn="l">
              <a:lnSpc>
                <a:spcPct val="116000"/>
              </a:lnSpc>
            </a:pPr>
            <a:r>
              <a:rPr sz="1500" b="0" i="0">
                <a:solidFill>
                  <a:srgbClr val="EAEEF7"/>
                </a:solidFill>
                <a:latin typeface="Georgia"/>
              </a:rPr>
              <a:t>“Is this 5%, 15% or 20% — and is this counterparty related to us?”</a:t>
            </a:r>
          </a:p>
        </p:txBody>
      </p:sp>
      <p:sp>
        <p:nvSpPr>
          <p:cNvPr id="17" name="TextBox 16"/>
          <p:cNvSpPr txBox="1"/>
          <p:nvPr/>
        </p:nvSpPr>
        <p:spPr>
          <a:xfrm>
            <a:off x="7141464" y="4297680"/>
            <a:ext cx="4251960" cy="603504"/>
          </a:xfrm>
          <a:prstGeom prst="rect">
            <a:avLst/>
          </a:prstGeom>
          <a:noFill/>
        </p:spPr>
        <p:txBody>
          <a:bodyPr wrap="square" lIns="0" rIns="0" tIns="0" bIns="0" anchor="t">
            <a:spAutoFit/>
          </a:bodyPr>
          <a:lstStyle/>
          <a:p>
            <a:pPr algn="l">
              <a:lnSpc>
                <a:spcPct val="142000"/>
              </a:lnSpc>
            </a:pPr>
            <a:r>
              <a:rPr sz="950" b="0" i="0">
                <a:solidFill>
                  <a:srgbClr val="A6B2CA"/>
                </a:solidFill>
                <a:latin typeface="Segoe UI"/>
              </a:rPr>
              <a:t>Tax-field capture — characterisation and counterparty relationship recorded at claim time, carried through to the payout and the filing.</a:t>
            </a:r>
          </a:p>
        </p:txBody>
      </p:sp>
      <p:sp>
        <p:nvSpPr>
          <p:cNvPr id="18" name="Rectangle 17"/>
          <p:cNvSpPr/>
          <p:nvPr/>
        </p:nvSpPr>
        <p:spPr>
          <a:xfrm>
            <a:off x="786384" y="4974336"/>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120640"/>
            <a:ext cx="5989320" cy="566928"/>
          </a:xfrm>
          <a:prstGeom prst="rect">
            <a:avLst/>
          </a:prstGeom>
          <a:noFill/>
        </p:spPr>
        <p:txBody>
          <a:bodyPr wrap="square" lIns="0" rIns="0" tIns="0" bIns="0" anchor="t">
            <a:spAutoFit/>
          </a:bodyPr>
          <a:lstStyle/>
          <a:p>
            <a:pPr algn="l">
              <a:lnSpc>
                <a:spcPct val="116000"/>
              </a:lnSpc>
            </a:pPr>
            <a:r>
              <a:rPr sz="1500" b="0" i="0">
                <a:solidFill>
                  <a:srgbClr val="EAEEF7"/>
                </a:solidFill>
                <a:latin typeface="Georgia"/>
              </a:rPr>
              <a:t>“A clawback is a phone call, and then a fight.”</a:t>
            </a:r>
          </a:p>
        </p:txBody>
      </p:sp>
      <p:sp>
        <p:nvSpPr>
          <p:cNvPr id="20" name="TextBox 19"/>
          <p:cNvSpPr txBox="1"/>
          <p:nvPr/>
        </p:nvSpPr>
        <p:spPr>
          <a:xfrm>
            <a:off x="7141464" y="5157216"/>
            <a:ext cx="4251960" cy="603504"/>
          </a:xfrm>
          <a:prstGeom prst="rect">
            <a:avLst/>
          </a:prstGeom>
          <a:noFill/>
        </p:spPr>
        <p:txBody>
          <a:bodyPr wrap="square" lIns="0" rIns="0" tIns="0" bIns="0" anchor="t">
            <a:spAutoFit/>
          </a:bodyPr>
          <a:lstStyle/>
          <a:p>
            <a:pPr algn="l">
              <a:lnSpc>
                <a:spcPct val="142000"/>
              </a:lnSpc>
            </a:pPr>
            <a:r>
              <a:rPr sz="950" b="0" i="0">
                <a:solidFill>
                  <a:srgbClr val="A6B2CA"/>
                </a:solidFill>
                <a:latin typeface="Segoe UI"/>
              </a:rPr>
              <a:t>Credit and debit note handling — a true-up is a 383, a clawback is a 381; each sequenced, timestamped and cleared.</a:t>
            </a:r>
          </a:p>
        </p:txBody>
      </p:sp>
      <p:sp>
        <p:nvSpPr>
          <p:cNvPr id="21" name="Rectangle 20"/>
          <p:cNvSpPr/>
          <p:nvPr/>
        </p:nvSpPr>
        <p:spPr>
          <a:xfrm>
            <a:off x="786384" y="5833872"/>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Titled by the obstacle, never by the feature — Raskin's fourth beat. “Evidence pack” is a feature; “finance stops rebuilding the statement by hand” is what someone pays for.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11</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ROADMAP  ·  SEQUENCING AS JUDGEMENT</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600" b="0" i="0" spc="-40">
                <a:solidFill>
                  <a:srgbClr val="EAEEF7"/>
                </a:solidFill>
                <a:latin typeface="Georgia"/>
              </a:rPr>
              <a:t>You cannot settle what you never captured, and you cannot orchestrate a
network with no settled truth — so the money layer is earned in sequence.</a:t>
            </a:r>
          </a:p>
        </p:txBody>
      </p:sp>
      <p:sp>
        <p:nvSpPr>
          <p:cNvPr id="10" name="Rounded Rectangle 9"/>
          <p:cNvSpPr/>
          <p:nvPr/>
        </p:nvSpPr>
        <p:spPr>
          <a:xfrm>
            <a:off x="786384" y="2359152"/>
            <a:ext cx="3383280" cy="2944368"/>
          </a:xfrm>
          <a:prstGeom prst="roundRect">
            <a:avLst>
              <a:gd name="adj" fmla="val 3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359152"/>
            <a:ext cx="3383280" cy="4114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633472"/>
            <a:ext cx="2761488" cy="274320"/>
          </a:xfrm>
          <a:prstGeom prst="rect">
            <a:avLst/>
          </a:prstGeom>
          <a:noFill/>
        </p:spPr>
        <p:txBody>
          <a:bodyPr wrap="square" lIns="0" rIns="0" tIns="0" bIns="0" anchor="t">
            <a:spAutoFit/>
          </a:bodyPr>
          <a:lstStyle/>
          <a:p>
            <a:pPr algn="l">
              <a:lnSpc>
                <a:spcPct val="128000"/>
              </a:lnSpc>
            </a:pPr>
            <a:r>
              <a:rPr sz="900" b="1" i="0" spc="220">
                <a:solidFill>
                  <a:srgbClr val="2A5BF5"/>
                </a:solidFill>
                <a:latin typeface="Segoe UI"/>
              </a:rPr>
              <a:t>PHASE 1</a:t>
            </a:r>
          </a:p>
        </p:txBody>
      </p:sp>
      <p:sp>
        <p:nvSpPr>
          <p:cNvPr id="13" name="TextBox 12"/>
          <p:cNvSpPr txBox="1"/>
          <p:nvPr/>
        </p:nvSpPr>
        <p:spPr>
          <a:xfrm>
            <a:off x="1097280" y="2926080"/>
            <a:ext cx="2761488" cy="457200"/>
          </a:xfrm>
          <a:prstGeom prst="rect">
            <a:avLst/>
          </a:prstGeom>
          <a:noFill/>
        </p:spPr>
        <p:txBody>
          <a:bodyPr wrap="square" lIns="0" rIns="0" tIns="0" bIns="0" anchor="t">
            <a:spAutoFit/>
          </a:bodyPr>
          <a:lstStyle/>
          <a:p>
            <a:pPr algn="l">
              <a:lnSpc>
                <a:spcPct val="128000"/>
              </a:lnSpc>
            </a:pPr>
            <a:r>
              <a:rPr sz="2100" b="0" i="0" spc="-30">
                <a:solidFill>
                  <a:srgbClr val="EAEEF7"/>
                </a:solidFill>
                <a:latin typeface="Georgia"/>
              </a:rPr>
              <a:t>Capture</a:t>
            </a:r>
          </a:p>
        </p:txBody>
      </p:sp>
      <p:sp>
        <p:nvSpPr>
          <p:cNvPr id="14" name="TextBox 13"/>
          <p:cNvSpPr txBox="1"/>
          <p:nvPr/>
        </p:nvSpPr>
        <p:spPr>
          <a:xfrm>
            <a:off x="1097280" y="3401568"/>
            <a:ext cx="2761488" cy="274320"/>
          </a:xfrm>
          <a:prstGeom prst="rect">
            <a:avLst/>
          </a:prstGeom>
          <a:noFill/>
        </p:spPr>
        <p:txBody>
          <a:bodyPr wrap="square" lIns="0" rIns="0" tIns="0" bIns="0" anchor="t">
            <a:spAutoFit/>
          </a:bodyPr>
          <a:lstStyle/>
          <a:p>
            <a:pPr algn="l">
              <a:lnSpc>
                <a:spcPct val="128000"/>
              </a:lnSpc>
            </a:pPr>
            <a:r>
              <a:rPr sz="950" b="0" i="0" spc="60">
                <a:solidFill>
                  <a:srgbClr val="6E7A94"/>
                </a:solidFill>
                <a:latin typeface="Consolas"/>
              </a:rPr>
              <a:t>Months 0–9</a:t>
            </a:r>
          </a:p>
        </p:txBody>
      </p:sp>
      <p:sp>
        <p:nvSpPr>
          <p:cNvPr id="15" name="TextBox 14"/>
          <p:cNvSpPr txBox="1"/>
          <p:nvPr/>
        </p:nvSpPr>
        <p:spPr>
          <a:xfrm>
            <a:off x="1097280" y="3730752"/>
            <a:ext cx="2761488" cy="822960"/>
          </a:xfrm>
          <a:prstGeom prst="rect">
            <a:avLst/>
          </a:prstGeom>
          <a:noFill/>
        </p:spPr>
        <p:txBody>
          <a:bodyPr wrap="square" lIns="0" rIns="0" tIns="0" bIns="0" anchor="t">
            <a:spAutoFit/>
          </a:bodyPr>
          <a:lstStyle/>
          <a:p>
            <a:pPr algn="l">
              <a:lnSpc>
                <a:spcPct val="140000"/>
              </a:lnSpc>
            </a:pPr>
            <a:r>
              <a:rPr sz="1050" b="0" i="0">
                <a:solidFill>
                  <a:srgbClr val="A6B2CA"/>
                </a:solidFill>
                <a:latin typeface="Segoe UI"/>
              </a:rPr>
              <a:t>Claim-centric PRM. Registry, claim registration, attribution-of-record, protection, eligibility preview, evidence packs, tax capture.</a:t>
            </a:r>
          </a:p>
        </p:txBody>
      </p:sp>
      <p:sp>
        <p:nvSpPr>
          <p:cNvPr id="16" name="Rectangle 15"/>
          <p:cNvSpPr/>
          <p:nvPr/>
        </p:nvSpPr>
        <p:spPr>
          <a:xfrm>
            <a:off x="1097280" y="4517136"/>
            <a:ext cx="2761488"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 y="4727448"/>
            <a:ext cx="50292" cy="50292"/>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626864"/>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Full value to one company — zero counterparty consent</a:t>
            </a:r>
          </a:p>
        </p:txBody>
      </p:sp>
      <p:sp>
        <p:nvSpPr>
          <p:cNvPr id="19" name="Rectangle 18"/>
          <p:cNvSpPr/>
          <p:nvPr/>
        </p:nvSpPr>
        <p:spPr>
          <a:xfrm>
            <a:off x="1097280" y="5111496"/>
            <a:ext cx="50292" cy="50292"/>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5010912"/>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Earns the attribution record: the fact base for the rate</a:t>
            </a:r>
          </a:p>
        </p:txBody>
      </p:sp>
      <p:sp>
        <p:nvSpPr>
          <p:cNvPr id="21" name="Rounded Rectangle 20"/>
          <p:cNvSpPr/>
          <p:nvPr/>
        </p:nvSpPr>
        <p:spPr>
          <a:xfrm>
            <a:off x="4398264" y="2359152"/>
            <a:ext cx="3383280" cy="2944368"/>
          </a:xfrm>
          <a:prstGeom prst="roundRect">
            <a:avLst>
              <a:gd name="adj" fmla="val 3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98264" y="2359152"/>
            <a:ext cx="3383280" cy="41148"/>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2633472"/>
            <a:ext cx="2761488" cy="274320"/>
          </a:xfrm>
          <a:prstGeom prst="rect">
            <a:avLst/>
          </a:prstGeom>
          <a:noFill/>
        </p:spPr>
        <p:txBody>
          <a:bodyPr wrap="square" lIns="0" rIns="0" tIns="0" bIns="0" anchor="t">
            <a:spAutoFit/>
          </a:bodyPr>
          <a:lstStyle/>
          <a:p>
            <a:pPr algn="l">
              <a:lnSpc>
                <a:spcPct val="128000"/>
              </a:lnSpc>
            </a:pPr>
            <a:r>
              <a:rPr sz="900" b="1" i="0" spc="220">
                <a:solidFill>
                  <a:srgbClr val="CBA254"/>
                </a:solidFill>
                <a:latin typeface="Segoe UI"/>
              </a:rPr>
              <a:t>PHASE 2</a:t>
            </a:r>
          </a:p>
        </p:txBody>
      </p:sp>
      <p:sp>
        <p:nvSpPr>
          <p:cNvPr id="24" name="TextBox 23"/>
          <p:cNvSpPr txBox="1"/>
          <p:nvPr/>
        </p:nvSpPr>
        <p:spPr>
          <a:xfrm>
            <a:off x="4709160" y="2926080"/>
            <a:ext cx="2761488" cy="457200"/>
          </a:xfrm>
          <a:prstGeom prst="rect">
            <a:avLst/>
          </a:prstGeom>
          <a:noFill/>
        </p:spPr>
        <p:txBody>
          <a:bodyPr wrap="square" lIns="0" rIns="0" tIns="0" bIns="0" anchor="t">
            <a:spAutoFit/>
          </a:bodyPr>
          <a:lstStyle/>
          <a:p>
            <a:pPr algn="l">
              <a:lnSpc>
                <a:spcPct val="128000"/>
              </a:lnSpc>
            </a:pPr>
            <a:r>
              <a:rPr sz="2100" b="0" i="0" spc="-30">
                <a:solidFill>
                  <a:srgbClr val="EAEEF7"/>
                </a:solidFill>
                <a:latin typeface="Georgia"/>
              </a:rPr>
              <a:t>Settle</a:t>
            </a:r>
          </a:p>
        </p:txBody>
      </p:sp>
      <p:sp>
        <p:nvSpPr>
          <p:cNvPr id="25" name="TextBox 24"/>
          <p:cNvSpPr txBox="1"/>
          <p:nvPr/>
        </p:nvSpPr>
        <p:spPr>
          <a:xfrm>
            <a:off x="4709160" y="3401568"/>
            <a:ext cx="2761488" cy="274320"/>
          </a:xfrm>
          <a:prstGeom prst="rect">
            <a:avLst/>
          </a:prstGeom>
          <a:noFill/>
        </p:spPr>
        <p:txBody>
          <a:bodyPr wrap="square" lIns="0" rIns="0" tIns="0" bIns="0" anchor="t">
            <a:spAutoFit/>
          </a:bodyPr>
          <a:lstStyle/>
          <a:p>
            <a:pPr algn="l">
              <a:lnSpc>
                <a:spcPct val="128000"/>
              </a:lnSpc>
            </a:pPr>
            <a:r>
              <a:rPr sz="950" b="0" i="0" spc="60">
                <a:solidFill>
                  <a:srgbClr val="6E7A94"/>
                </a:solidFill>
                <a:latin typeface="Consolas"/>
              </a:rPr>
              <a:t>Months 9–24</a:t>
            </a:r>
          </a:p>
        </p:txBody>
      </p:sp>
      <p:sp>
        <p:nvSpPr>
          <p:cNvPr id="26" name="TextBox 25"/>
          <p:cNvSpPr txBox="1"/>
          <p:nvPr/>
        </p:nvSpPr>
        <p:spPr>
          <a:xfrm>
            <a:off x="4709160" y="3730752"/>
            <a:ext cx="2761488" cy="822960"/>
          </a:xfrm>
          <a:prstGeom prst="rect">
            <a:avLst/>
          </a:prstGeom>
          <a:noFill/>
        </p:spPr>
        <p:txBody>
          <a:bodyPr wrap="square" lIns="0" rIns="0" tIns="0" bIns="0" anchor="t">
            <a:spAutoFit/>
          </a:bodyPr>
          <a:lstStyle/>
          <a:p>
            <a:pPr algn="l">
              <a:lnSpc>
                <a:spcPct val="140000"/>
              </a:lnSpc>
            </a:pPr>
            <a:r>
              <a:rPr sz="1050" b="0" i="0">
                <a:solidFill>
                  <a:srgbClr val="A6B2CA"/>
                </a:solidFill>
                <a:latin typeface="Segoe UI"/>
              </a:rPr>
              <a:t>Rule engine + append-only bilateral ledger. Both counterparties settle against one mutually approved ruleset. Disputes, e-invoicing, withholding, ERP.</a:t>
            </a:r>
          </a:p>
        </p:txBody>
      </p:sp>
      <p:sp>
        <p:nvSpPr>
          <p:cNvPr id="27" name="Rectangle 26"/>
          <p:cNvSpPr/>
          <p:nvPr/>
        </p:nvSpPr>
        <p:spPr>
          <a:xfrm>
            <a:off x="4709160" y="4517136"/>
            <a:ext cx="2761488"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09160" y="4727448"/>
            <a:ext cx="50292" cy="50292"/>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92040" y="4626864"/>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A ledger with no captured claims has nothing to reconcile</a:t>
            </a:r>
          </a:p>
        </p:txBody>
      </p:sp>
      <p:sp>
        <p:nvSpPr>
          <p:cNvPr id="30" name="Rectangle 29"/>
          <p:cNvSpPr/>
          <p:nvPr/>
        </p:nvSpPr>
        <p:spPr>
          <a:xfrm>
            <a:off x="4709160" y="5111496"/>
            <a:ext cx="50292" cy="50292"/>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5010912"/>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Earns the right to charge on the flow through our record</a:t>
            </a:r>
          </a:p>
        </p:txBody>
      </p:sp>
      <p:sp>
        <p:nvSpPr>
          <p:cNvPr id="32" name="Rounded Rectangle 31"/>
          <p:cNvSpPr/>
          <p:nvPr/>
        </p:nvSpPr>
        <p:spPr>
          <a:xfrm>
            <a:off x="8010144" y="2359152"/>
            <a:ext cx="3383280" cy="2944368"/>
          </a:xfrm>
          <a:prstGeom prst="roundRect">
            <a:avLst>
              <a:gd name="adj" fmla="val 3000"/>
            </a:avLst>
          </a:prstGeom>
          <a:solidFill>
            <a:srgbClr val="0D1528"/>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0144" y="2359152"/>
            <a:ext cx="3383280" cy="41148"/>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2633472"/>
            <a:ext cx="2761488" cy="274320"/>
          </a:xfrm>
          <a:prstGeom prst="rect">
            <a:avLst/>
          </a:prstGeom>
          <a:noFill/>
        </p:spPr>
        <p:txBody>
          <a:bodyPr wrap="square" lIns="0" rIns="0" tIns="0" bIns="0" anchor="t">
            <a:spAutoFit/>
          </a:bodyPr>
          <a:lstStyle/>
          <a:p>
            <a:pPr algn="l">
              <a:lnSpc>
                <a:spcPct val="128000"/>
              </a:lnSpc>
            </a:pPr>
            <a:r>
              <a:rPr sz="900" b="1" i="0" spc="220">
                <a:solidFill>
                  <a:srgbClr val="8C97B2"/>
                </a:solidFill>
                <a:latin typeface="Segoe UI"/>
              </a:rPr>
              <a:t>PHASE 3</a:t>
            </a:r>
          </a:p>
        </p:txBody>
      </p:sp>
      <p:sp>
        <p:nvSpPr>
          <p:cNvPr id="35" name="TextBox 34"/>
          <p:cNvSpPr txBox="1"/>
          <p:nvPr/>
        </p:nvSpPr>
        <p:spPr>
          <a:xfrm>
            <a:off x="8321040" y="2926080"/>
            <a:ext cx="2761488" cy="457200"/>
          </a:xfrm>
          <a:prstGeom prst="rect">
            <a:avLst/>
          </a:prstGeom>
          <a:noFill/>
        </p:spPr>
        <p:txBody>
          <a:bodyPr wrap="square" lIns="0" rIns="0" tIns="0" bIns="0" anchor="t">
            <a:spAutoFit/>
          </a:bodyPr>
          <a:lstStyle/>
          <a:p>
            <a:pPr algn="l">
              <a:lnSpc>
                <a:spcPct val="128000"/>
              </a:lnSpc>
            </a:pPr>
            <a:r>
              <a:rPr sz="2100" b="0" i="0" spc="-30">
                <a:solidFill>
                  <a:srgbClr val="EAEEF7"/>
                </a:solidFill>
                <a:latin typeface="Georgia"/>
              </a:rPr>
              <a:t>Orchestrate</a:t>
            </a:r>
          </a:p>
        </p:txBody>
      </p:sp>
      <p:sp>
        <p:nvSpPr>
          <p:cNvPr id="36" name="TextBox 35"/>
          <p:cNvSpPr txBox="1"/>
          <p:nvPr/>
        </p:nvSpPr>
        <p:spPr>
          <a:xfrm>
            <a:off x="8321040" y="3401568"/>
            <a:ext cx="2761488" cy="274320"/>
          </a:xfrm>
          <a:prstGeom prst="rect">
            <a:avLst/>
          </a:prstGeom>
          <a:noFill/>
        </p:spPr>
        <p:txBody>
          <a:bodyPr wrap="square" lIns="0" rIns="0" tIns="0" bIns="0" anchor="t">
            <a:spAutoFit/>
          </a:bodyPr>
          <a:lstStyle/>
          <a:p>
            <a:pPr algn="l">
              <a:lnSpc>
                <a:spcPct val="128000"/>
              </a:lnSpc>
            </a:pPr>
            <a:r>
              <a:rPr sz="950" b="0" i="0" spc="60">
                <a:solidFill>
                  <a:srgbClr val="6E7A94"/>
                </a:solidFill>
                <a:latin typeface="Consolas"/>
              </a:rPr>
              <a:t>Months 24+</a:t>
            </a:r>
          </a:p>
        </p:txBody>
      </p:sp>
      <p:sp>
        <p:nvSpPr>
          <p:cNvPr id="37" name="TextBox 36"/>
          <p:cNvSpPr txBox="1"/>
          <p:nvPr/>
        </p:nvSpPr>
        <p:spPr>
          <a:xfrm>
            <a:off x="8321040" y="3730752"/>
            <a:ext cx="2761488" cy="822960"/>
          </a:xfrm>
          <a:prstGeom prst="rect">
            <a:avLst/>
          </a:prstGeom>
          <a:noFill/>
        </p:spPr>
        <p:txBody>
          <a:bodyPr wrap="square" lIns="0" rIns="0" tIns="0" bIns="0" anchor="t">
            <a:spAutoFit/>
          </a:bodyPr>
          <a:lstStyle/>
          <a:p>
            <a:pPr algn="l">
              <a:lnSpc>
                <a:spcPct val="140000"/>
              </a:lnSpc>
            </a:pPr>
            <a:r>
              <a:rPr sz="1050" b="0" i="0">
                <a:solidFill>
                  <a:srgbClr val="A6B2CA"/>
                </a:solidFill>
                <a:latin typeface="Segoe UI"/>
              </a:rPr>
              <a:t>Cross-company partner network, partner P&amp;L, forecasting, co-sell — and basis points on settled flow. Money movement stays a separate, later decision.</a:t>
            </a:r>
          </a:p>
        </p:txBody>
      </p:sp>
      <p:sp>
        <p:nvSpPr>
          <p:cNvPr id="38" name="Rectangle 37"/>
          <p:cNvSpPr/>
          <p:nvPr/>
        </p:nvSpPr>
        <p:spPr>
          <a:xfrm>
            <a:off x="8321040" y="4517136"/>
            <a:ext cx="2761488"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21040" y="4727448"/>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03920" y="4626864"/>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A network whose members dispute last quarter is a directory</a:t>
            </a:r>
          </a:p>
        </p:txBody>
      </p:sp>
      <p:sp>
        <p:nvSpPr>
          <p:cNvPr id="41" name="Rectangle 40"/>
          <p:cNvSpPr/>
          <p:nvPr/>
        </p:nvSpPr>
        <p:spPr>
          <a:xfrm>
            <a:off x="8321040" y="5111496"/>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0" y="5010912"/>
            <a:ext cx="2560320" cy="402336"/>
          </a:xfrm>
          <a:prstGeom prst="rect">
            <a:avLst/>
          </a:prstGeom>
          <a:noFill/>
        </p:spPr>
        <p:txBody>
          <a:bodyPr wrap="square" lIns="0" rIns="0" tIns="0" bIns="0" anchor="t">
            <a:spAutoFit/>
          </a:bodyPr>
          <a:lstStyle/>
          <a:p>
            <a:pPr algn="l">
              <a:lnSpc>
                <a:spcPct val="134000"/>
              </a:lnSpc>
            </a:pPr>
            <a:r>
              <a:rPr sz="950" b="0" i="0">
                <a:solidFill>
                  <a:srgbClr val="A6B2CA"/>
                </a:solidFill>
                <a:latin typeface="Segoe UI"/>
              </a:rPr>
              <a:t>Earns network economies: a late-stage power, not an origination one</a:t>
            </a:r>
          </a:p>
        </p:txBody>
      </p:sp>
      <p:sp>
        <p:nvSpPr>
          <p:cNvPr id="43" name="Rounded Rectangle 42"/>
          <p:cNvSpPr/>
          <p:nvPr/>
        </p:nvSpPr>
        <p:spPr>
          <a:xfrm>
            <a:off x="786384" y="5321808"/>
            <a:ext cx="10607040" cy="365760"/>
          </a:xfrm>
          <a:prstGeom prst="roundRect">
            <a:avLst>
              <a:gd name="adj" fmla="val 5000"/>
            </a:avLst>
          </a:prstGeom>
          <a:solidFill>
            <a:srgbClr val="0D1528"/>
          </a:solidFill>
          <a:ln w="12700">
            <a:solidFill>
              <a:srgbClr val="182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 y="5413248"/>
            <a:ext cx="10149840" cy="274320"/>
          </a:xfrm>
          <a:prstGeom prst="rect">
            <a:avLst/>
          </a:prstGeom>
          <a:noFill/>
        </p:spPr>
        <p:txBody>
          <a:bodyPr wrap="square" lIns="0" rIns="0" tIns="0" bIns="0" anchor="t">
            <a:spAutoFit/>
          </a:bodyPr>
          <a:lstStyle/>
          <a:p>
            <a:pPr algn="l">
              <a:lnSpc>
                <a:spcPct val="128000"/>
              </a:lnSpc>
            </a:pPr>
            <a:r>
              <a:rPr sz="950" b="1" i="0">
                <a:solidFill>
                  <a:srgbClr val="E0955E"/>
                </a:solidFill>
                <a:latin typeface="Segoe UI"/>
              </a:rPr>
              <a:t>Written kill criteria:  </a:t>
            </a:r>
            <a:r>
              <a:rPr sz="950" b="0" i="0">
                <a:solidFill>
                  <a:srgbClr val="A6B2CA"/>
                </a:solidFill>
                <a:latin typeface="Segoe UI"/>
              </a:rPr>
              <a:t>Capture must sell standalone at target ACV before we build Settle. A counterparty pair must sign one ruleset before we build Orchestrate.</a:t>
            </a:r>
          </a:p>
        </p:txBody>
      </p:sp>
      <p:sp>
        <p:nvSpPr>
          <p:cNvPr id="45" name="Rounded Rectangle 44"/>
          <p:cNvSpPr/>
          <p:nvPr/>
        </p:nvSpPr>
        <p:spPr>
          <a:xfrm>
            <a:off x="786384" y="5724144"/>
            <a:ext cx="10607040" cy="365760"/>
          </a:xfrm>
          <a:prstGeom prst="roundRect">
            <a:avLst>
              <a:gd name="adj" fmla="val 5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 y="5815584"/>
            <a:ext cx="10149840" cy="274320"/>
          </a:xfrm>
          <a:prstGeom prst="rect">
            <a:avLst/>
          </a:prstGeom>
          <a:noFill/>
        </p:spPr>
        <p:txBody>
          <a:bodyPr wrap="square" lIns="0" rIns="0" tIns="0" bIns="0" anchor="t">
            <a:spAutoFit/>
          </a:bodyPr>
          <a:lstStyle/>
          <a:p>
            <a:pPr algn="l">
              <a:lnSpc>
                <a:spcPct val="128000"/>
              </a:lnSpc>
            </a:pPr>
            <a:r>
              <a:rPr sz="1000" b="1" i="0">
                <a:solidFill>
                  <a:srgbClr val="EAEEF7"/>
                </a:solidFill>
                <a:latin typeface="Segoe UI"/>
              </a:rPr>
              <a:t>Toast FY2024:  </a:t>
            </a:r>
            <a:r>
              <a:rPr sz="1000" b="0" i="0">
                <a:solidFill>
                  <a:srgbClr val="A6B2CA"/>
                </a:solidFill>
                <a:latin typeface="Segoe UI"/>
              </a:rPr>
              <a:t>81.7% of revenue is fintech, but a 2.55% gross take is </a:t>
            </a:r>
            <a:r>
              <a:rPr sz="1000" b="1" i="0">
                <a:solidFill>
                  <a:srgbClr val="E0BE74"/>
                </a:solidFill>
                <a:latin typeface="Consolas"/>
              </a:rPr>
              <a:t>55 bps net</a:t>
            </a:r>
            <a:r>
              <a:rPr sz="1000" b="0" i="0">
                <a:solidFill>
                  <a:srgbClr val="A6B2CA"/>
                </a:solidFill>
                <a:latin typeface="Segoe UI"/>
              </a:rPr>
              <a:t>.    ServiceTitan:  </a:t>
            </a:r>
            <a:r>
              <a:rPr sz="1000" b="1" i="0">
                <a:solidFill>
                  <a:srgbClr val="EAEEF7"/>
                </a:solidFill>
                <a:latin typeface="Segoe UI"/>
              </a:rPr>
              <a:t>~70% still subscription</a:t>
            </a:r>
            <a:r>
              <a:rPr sz="1000" b="0" i="0">
                <a:solidFill>
                  <a:srgbClr val="A6B2CA"/>
                </a:solidFill>
                <a:latin typeface="Segoe UI"/>
              </a:rPr>
              <a:t>, payments take ~25 bps of GTV.</a:t>
            </a:r>
          </a:p>
        </p:txBody>
      </p:sp>
      <p:sp>
        <p:nvSpPr>
          <p:cNvPr id="47" name="TextBox 46"/>
          <p:cNvSpPr txBox="1"/>
          <p:nvPr/>
        </p:nvSpPr>
        <p:spPr>
          <a:xfrm>
            <a:off x="786384" y="6144768"/>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Toast FY2024 SEC filings · ServiceTitan S-1 · Shopify FY2024 (verify at filing) · a16z, “Vertical Operating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12</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WHY NOW  ·  FORCE 1, THE RATCHET</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600" b="0" i="0" spc="-40">
                <a:solidFill>
                  <a:srgbClr val="EAEEF7"/>
                </a:solidFill>
                <a:latin typeface="Georgia"/>
              </a:rPr>
              <a:t>This is not a market we have to create. It is a deadline that exists whether
or not we do — and Saudi Arabia reaches it about three years before the EU.</a:t>
            </a:r>
          </a:p>
        </p:txBody>
      </p:sp>
      <p:sp>
        <p:nvSpPr>
          <p:cNvPr id="10" name="Rectangle 9"/>
          <p:cNvSpPr/>
          <p:nvPr/>
        </p:nvSpPr>
        <p:spPr>
          <a:xfrm>
            <a:off x="786384" y="3310128"/>
            <a:ext cx="10515600"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Jan 2025</a:t>
            </a:r>
          </a:p>
          <a:p>
            <a:pPr algn="l">
              <a:lnSpc>
                <a:spcPct val="120000"/>
              </a:lnSpc>
              <a:spcBef>
                <a:spcPts val="600"/>
              </a:spcBef>
            </a:pPr>
            <a:r>
              <a:rPr sz="850" b="0" i="0">
                <a:solidFill>
                  <a:srgbClr val="48526E"/>
                </a:solidFill>
                <a:latin typeface="Segoe UI"/>
              </a:rPr>
              <a:t>DE receipt</a:t>
            </a:r>
          </a:p>
        </p:txBody>
      </p:sp>
      <p:sp>
        <p:nvSpPr>
          <p:cNvPr id="14" name="Rectangle 13"/>
          <p:cNvSpPr/>
          <p:nvPr/>
        </p:nvSpPr>
        <p:spPr>
          <a:xfrm>
            <a:off x="1551051"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78483" y="3364992"/>
            <a:ext cx="10972" cy="493776"/>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3307" y="3877056"/>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Jan 2026</a:t>
            </a:r>
          </a:p>
          <a:p>
            <a:pPr algn="l">
              <a:lnSpc>
                <a:spcPct val="120000"/>
              </a:lnSpc>
              <a:spcBef>
                <a:spcPts val="600"/>
              </a:spcBef>
            </a:pPr>
            <a:r>
              <a:rPr sz="850" b="0" i="0">
                <a:solidFill>
                  <a:srgbClr val="48526E"/>
                </a:solidFill>
                <a:latin typeface="Segoe UI"/>
              </a:rPr>
              <a:t>Belgium B2B</a:t>
            </a:r>
          </a:p>
        </p:txBody>
      </p:sp>
      <p:sp>
        <p:nvSpPr>
          <p:cNvPr id="17" name="Rectangle 16"/>
          <p:cNvSpPr/>
          <p:nvPr/>
        </p:nvSpPr>
        <p:spPr>
          <a:xfrm>
            <a:off x="2366695"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94127"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28951"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Feb 2026</a:t>
            </a:r>
          </a:p>
          <a:p>
            <a:pPr algn="l">
              <a:lnSpc>
                <a:spcPct val="120000"/>
              </a:lnSpc>
              <a:spcBef>
                <a:spcPts val="600"/>
              </a:spcBef>
            </a:pPr>
            <a:r>
              <a:rPr sz="850" b="0" i="0">
                <a:solidFill>
                  <a:srgbClr val="48526E"/>
                </a:solidFill>
                <a:latin typeface="Segoe UI"/>
              </a:rPr>
              <a:t>Poland KSeF</a:t>
            </a:r>
          </a:p>
        </p:txBody>
      </p:sp>
      <p:sp>
        <p:nvSpPr>
          <p:cNvPr id="20" name="Rectangle 19"/>
          <p:cNvSpPr/>
          <p:nvPr/>
        </p:nvSpPr>
        <p:spPr>
          <a:xfrm>
            <a:off x="3386251" y="3259836"/>
            <a:ext cx="68580" cy="10515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11931" y="2596896"/>
            <a:ext cx="1600200" cy="457200"/>
          </a:xfrm>
          <a:prstGeom prst="rect">
            <a:avLst/>
          </a:prstGeom>
          <a:noFill/>
        </p:spPr>
        <p:txBody>
          <a:bodyPr wrap="square" lIns="0" rIns="0" tIns="0" bIns="0" anchor="t">
            <a:spAutoFit/>
          </a:bodyPr>
          <a:lstStyle/>
          <a:p>
            <a:pPr algn="l">
              <a:lnSpc>
                <a:spcPct val="120000"/>
              </a:lnSpc>
            </a:pPr>
            <a:r>
              <a:rPr sz="1000" b="1" i="0">
                <a:solidFill>
                  <a:srgbClr val="86A2FF"/>
                </a:solidFill>
                <a:latin typeface="Segoe UI"/>
              </a:rPr>
              <a:t>KSA Wave 24</a:t>
            </a:r>
          </a:p>
          <a:p>
            <a:pPr algn="l">
              <a:lnSpc>
                <a:spcPct val="120000"/>
              </a:lnSpc>
              <a:spcBef>
                <a:spcPts val="600"/>
              </a:spcBef>
            </a:pPr>
            <a:r>
              <a:rPr sz="900" b="0" i="0">
                <a:solidFill>
                  <a:srgbClr val="A6B2CA"/>
                </a:solidFill>
                <a:latin typeface="Consolas"/>
              </a:rPr>
              <a:t>Jun 2026</a:t>
            </a:r>
          </a:p>
        </p:txBody>
      </p:sp>
      <p:sp>
        <p:nvSpPr>
          <p:cNvPr id="22" name="Rectangle 21"/>
          <p:cNvSpPr/>
          <p:nvPr/>
        </p:nvSpPr>
        <p:spPr>
          <a:xfrm>
            <a:off x="3413683" y="3090672"/>
            <a:ext cx="10972" cy="1737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01896"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29328"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64152"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Jul 2026</a:t>
            </a:r>
          </a:p>
          <a:p>
            <a:pPr algn="l">
              <a:lnSpc>
                <a:spcPct val="120000"/>
              </a:lnSpc>
              <a:spcBef>
                <a:spcPts val="600"/>
              </a:spcBef>
            </a:pPr>
            <a:r>
              <a:rPr sz="850" b="0" i="0">
                <a:solidFill>
                  <a:srgbClr val="48526E"/>
                </a:solidFill>
                <a:latin typeface="Segoe UI"/>
              </a:rPr>
              <a:t>UAE ASP</a:t>
            </a:r>
          </a:p>
        </p:txBody>
      </p:sp>
      <p:sp>
        <p:nvSpPr>
          <p:cNvPr id="26" name="Rectangle 25"/>
          <p:cNvSpPr/>
          <p:nvPr/>
        </p:nvSpPr>
        <p:spPr>
          <a:xfrm>
            <a:off x="5017541"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4973" y="3364992"/>
            <a:ext cx="10972" cy="493776"/>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79797" y="3877056"/>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Sep 2026</a:t>
            </a:r>
          </a:p>
          <a:p>
            <a:pPr algn="l">
              <a:lnSpc>
                <a:spcPct val="120000"/>
              </a:lnSpc>
              <a:spcBef>
                <a:spcPts val="600"/>
              </a:spcBef>
            </a:pPr>
            <a:r>
              <a:rPr sz="850" b="0" i="0">
                <a:solidFill>
                  <a:srgbClr val="48526E"/>
                </a:solidFill>
                <a:latin typeface="Segoe UI"/>
              </a:rPr>
              <a:t>France receive</a:t>
            </a:r>
          </a:p>
        </p:txBody>
      </p:sp>
      <p:sp>
        <p:nvSpPr>
          <p:cNvPr id="29" name="Rectangle 28"/>
          <p:cNvSpPr/>
          <p:nvPr/>
        </p:nvSpPr>
        <p:spPr>
          <a:xfrm>
            <a:off x="5935141"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62573"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97397"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Jan 2027</a:t>
            </a:r>
          </a:p>
          <a:p>
            <a:pPr algn="l">
              <a:lnSpc>
                <a:spcPct val="120000"/>
              </a:lnSpc>
              <a:spcBef>
                <a:spcPts val="600"/>
              </a:spcBef>
            </a:pPr>
            <a:r>
              <a:rPr sz="850" b="0" i="0">
                <a:solidFill>
                  <a:srgbClr val="48526E"/>
                </a:solidFill>
                <a:latin typeface="Segoe UI"/>
              </a:rPr>
              <a:t>UAE mandatory</a:t>
            </a:r>
          </a:p>
        </p:txBody>
      </p:sp>
      <p:sp>
        <p:nvSpPr>
          <p:cNvPr id="32" name="Rectangle 31"/>
          <p:cNvSpPr/>
          <p:nvPr/>
        </p:nvSpPr>
        <p:spPr>
          <a:xfrm>
            <a:off x="6750786" y="3259836"/>
            <a:ext cx="68580" cy="10515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6466" y="2596896"/>
            <a:ext cx="1600200" cy="457200"/>
          </a:xfrm>
          <a:prstGeom prst="rect">
            <a:avLst/>
          </a:prstGeom>
          <a:noFill/>
        </p:spPr>
        <p:txBody>
          <a:bodyPr wrap="square" lIns="0" rIns="0" tIns="0" bIns="0" anchor="t">
            <a:spAutoFit/>
          </a:bodyPr>
          <a:lstStyle/>
          <a:p>
            <a:pPr algn="l">
              <a:lnSpc>
                <a:spcPct val="120000"/>
              </a:lnSpc>
            </a:pPr>
            <a:r>
              <a:rPr sz="1000" b="1" i="0">
                <a:solidFill>
                  <a:srgbClr val="86A2FF"/>
                </a:solidFill>
                <a:latin typeface="Segoe UI"/>
              </a:rPr>
              <a:t>KSA Wave 25</a:t>
            </a:r>
          </a:p>
          <a:p>
            <a:pPr algn="l">
              <a:lnSpc>
                <a:spcPct val="120000"/>
              </a:lnSpc>
              <a:spcBef>
                <a:spcPts val="600"/>
              </a:spcBef>
            </a:pPr>
            <a:r>
              <a:rPr sz="900" b="0" i="0">
                <a:solidFill>
                  <a:srgbClr val="A6B2CA"/>
                </a:solidFill>
                <a:latin typeface="Consolas"/>
              </a:rPr>
              <a:t>Feb 2027</a:t>
            </a:r>
          </a:p>
        </p:txBody>
      </p:sp>
      <p:sp>
        <p:nvSpPr>
          <p:cNvPr id="34" name="Rectangle 33"/>
          <p:cNvSpPr/>
          <p:nvPr/>
        </p:nvSpPr>
        <p:spPr>
          <a:xfrm>
            <a:off x="6778218" y="3090672"/>
            <a:ext cx="10972" cy="1737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66431"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93863"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28687"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Sep 2027</a:t>
            </a:r>
          </a:p>
          <a:p>
            <a:pPr algn="l">
              <a:lnSpc>
                <a:spcPct val="120000"/>
              </a:lnSpc>
              <a:spcBef>
                <a:spcPts val="600"/>
              </a:spcBef>
            </a:pPr>
            <a:r>
              <a:rPr sz="850" b="0" i="0">
                <a:solidFill>
                  <a:srgbClr val="48526E"/>
                </a:solidFill>
                <a:latin typeface="Segoe UI"/>
              </a:rPr>
              <a:t>France SMEs</a:t>
            </a:r>
          </a:p>
        </p:txBody>
      </p:sp>
      <p:sp>
        <p:nvSpPr>
          <p:cNvPr id="38" name="Rectangle 37"/>
          <p:cNvSpPr/>
          <p:nvPr/>
        </p:nvSpPr>
        <p:spPr>
          <a:xfrm>
            <a:off x="8382076"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09508" y="3364992"/>
            <a:ext cx="10972" cy="493776"/>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4332" y="3877056"/>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Jan 2028</a:t>
            </a:r>
          </a:p>
          <a:p>
            <a:pPr algn="l">
              <a:lnSpc>
                <a:spcPct val="120000"/>
              </a:lnSpc>
              <a:spcBef>
                <a:spcPts val="600"/>
              </a:spcBef>
            </a:pPr>
            <a:r>
              <a:rPr sz="850" b="0" i="0">
                <a:solidFill>
                  <a:srgbClr val="48526E"/>
                </a:solidFill>
                <a:latin typeface="Segoe UI"/>
              </a:rPr>
              <a:t>Germany all</a:t>
            </a:r>
          </a:p>
        </p:txBody>
      </p:sp>
      <p:sp>
        <p:nvSpPr>
          <p:cNvPr id="41" name="Rectangle 40"/>
          <p:cNvSpPr/>
          <p:nvPr/>
        </p:nvSpPr>
        <p:spPr>
          <a:xfrm>
            <a:off x="9605543"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632975" y="3364992"/>
            <a:ext cx="10972" cy="9144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67799" y="3474720"/>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Jul 2030</a:t>
            </a:r>
          </a:p>
          <a:p>
            <a:pPr algn="l">
              <a:lnSpc>
                <a:spcPct val="120000"/>
              </a:lnSpc>
              <a:spcBef>
                <a:spcPts val="600"/>
              </a:spcBef>
            </a:pPr>
            <a:r>
              <a:rPr sz="850" b="0" i="0">
                <a:solidFill>
                  <a:srgbClr val="48526E"/>
                </a:solidFill>
                <a:latin typeface="Segoe UI"/>
              </a:rPr>
              <a:t>ViDA intra-EU</a:t>
            </a:r>
          </a:p>
        </p:txBody>
      </p:sp>
      <p:sp>
        <p:nvSpPr>
          <p:cNvPr id="44" name="Rectangle 43"/>
          <p:cNvSpPr/>
          <p:nvPr/>
        </p:nvSpPr>
        <p:spPr>
          <a:xfrm>
            <a:off x="10829010" y="3259836"/>
            <a:ext cx="68580" cy="105156"/>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56442" y="3364992"/>
            <a:ext cx="10972" cy="493776"/>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91266" y="3877056"/>
            <a:ext cx="1389888" cy="457200"/>
          </a:xfrm>
          <a:prstGeom prst="rect">
            <a:avLst/>
          </a:prstGeom>
          <a:noFill/>
        </p:spPr>
        <p:txBody>
          <a:bodyPr wrap="square" lIns="0" rIns="0" tIns="0" bIns="0" anchor="t">
            <a:spAutoFit/>
          </a:bodyPr>
          <a:lstStyle/>
          <a:p>
            <a:pPr algn="l">
              <a:lnSpc>
                <a:spcPct val="120000"/>
              </a:lnSpc>
            </a:pPr>
            <a:r>
              <a:rPr sz="850" b="0" i="0">
                <a:solidFill>
                  <a:srgbClr val="6E7A94"/>
                </a:solidFill>
                <a:latin typeface="Consolas"/>
              </a:rPr>
              <a:t>Jan 2035</a:t>
            </a:r>
          </a:p>
          <a:p>
            <a:pPr algn="l">
              <a:lnSpc>
                <a:spcPct val="120000"/>
              </a:lnSpc>
              <a:spcBef>
                <a:spcPts val="600"/>
              </a:spcBef>
            </a:pPr>
            <a:r>
              <a:rPr sz="850" b="0" i="0">
                <a:solidFill>
                  <a:srgbClr val="48526E"/>
                </a:solidFill>
                <a:latin typeface="Segoe UI"/>
              </a:rPr>
              <a:t>ViDA converge</a:t>
            </a:r>
          </a:p>
        </p:txBody>
      </p:sp>
      <p:sp>
        <p:nvSpPr>
          <p:cNvPr id="47" name="Rounded Rectangle 46"/>
          <p:cNvSpPr/>
          <p:nvPr/>
        </p:nvSpPr>
        <p:spPr>
          <a:xfrm>
            <a:off x="786384" y="4443984"/>
            <a:ext cx="3383280" cy="13898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86384" y="4443984"/>
            <a:ext cx="3383280"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4128" y="4608576"/>
            <a:ext cx="2971800" cy="274320"/>
          </a:xfrm>
          <a:prstGeom prst="rect">
            <a:avLst/>
          </a:prstGeom>
          <a:noFill/>
        </p:spPr>
        <p:txBody>
          <a:bodyPr wrap="square" lIns="0" rIns="0" tIns="0" bIns="0" anchor="t">
            <a:spAutoFit/>
          </a:bodyPr>
          <a:lstStyle/>
          <a:p>
            <a:pPr algn="l">
              <a:lnSpc>
                <a:spcPct val="128000"/>
              </a:lnSpc>
            </a:pPr>
            <a:r>
              <a:rPr sz="1150" b="1" i="0">
                <a:solidFill>
                  <a:srgbClr val="EAEEF7"/>
                </a:solidFill>
                <a:latin typeface="Segoe UI"/>
              </a:rPr>
              <a:t>Saudi Arabia — already here</a:t>
            </a:r>
          </a:p>
        </p:txBody>
      </p:sp>
      <p:sp>
        <p:nvSpPr>
          <p:cNvPr id="50" name="TextBox 49"/>
          <p:cNvSpPr txBox="1"/>
          <p:nvPr/>
        </p:nvSpPr>
        <p:spPr>
          <a:xfrm>
            <a:off x="1024128" y="4901184"/>
            <a:ext cx="2926080" cy="841248"/>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Wave 24 at SAR 375,000 (the mandatory VAT registration threshold) was due 30 Jun 2026. Wave 25 at SAR 187,500 — below the mandatory line — is due 1 Feb 2027.</a:t>
            </a:r>
          </a:p>
        </p:txBody>
      </p:sp>
      <p:sp>
        <p:nvSpPr>
          <p:cNvPr id="51" name="Rounded Rectangle 50"/>
          <p:cNvSpPr/>
          <p:nvPr/>
        </p:nvSpPr>
        <p:spPr>
          <a:xfrm>
            <a:off x="4398264" y="4443984"/>
            <a:ext cx="3383280" cy="13898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98264" y="4443984"/>
            <a:ext cx="3383280" cy="36576"/>
          </a:xfrm>
          <a:prstGeom prst="rect">
            <a:avLst/>
          </a:prstGeom>
          <a:solidFill>
            <a:srgbClr val="A6B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36008" y="4608576"/>
            <a:ext cx="2971800" cy="274320"/>
          </a:xfrm>
          <a:prstGeom prst="rect">
            <a:avLst/>
          </a:prstGeom>
          <a:noFill/>
        </p:spPr>
        <p:txBody>
          <a:bodyPr wrap="square" lIns="0" rIns="0" tIns="0" bIns="0" anchor="t">
            <a:spAutoFit/>
          </a:bodyPr>
          <a:lstStyle/>
          <a:p>
            <a:pPr algn="l">
              <a:lnSpc>
                <a:spcPct val="128000"/>
              </a:lnSpc>
            </a:pPr>
            <a:r>
              <a:rPr sz="1150" b="1" i="0">
                <a:solidFill>
                  <a:srgbClr val="EAEEF7"/>
                </a:solidFill>
                <a:latin typeface="Segoe UI"/>
              </a:rPr>
              <a:t>The EU — hard law, dated</a:t>
            </a:r>
          </a:p>
        </p:txBody>
      </p:sp>
      <p:sp>
        <p:nvSpPr>
          <p:cNvPr id="54" name="TextBox 53"/>
          <p:cNvSpPr txBox="1"/>
          <p:nvPr/>
        </p:nvSpPr>
        <p:spPr>
          <a:xfrm>
            <a:off x="4636008" y="4901184"/>
            <a:ext cx="2926080" cy="841248"/>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VAT in the Digital Age adopted as Council Directive (EU) 2025/516, 11 Mar 2025, in force 14 Apr 2025. Intra-EU structured e-invoicing plus near-real-time reporting from 1 Jul 2030; convergence by 1 Jan 2035.</a:t>
            </a:r>
          </a:p>
        </p:txBody>
      </p:sp>
      <p:sp>
        <p:nvSpPr>
          <p:cNvPr id="55" name="Rounded Rectangle 54"/>
          <p:cNvSpPr/>
          <p:nvPr/>
        </p:nvSpPr>
        <p:spPr>
          <a:xfrm>
            <a:off x="8010144" y="4443984"/>
            <a:ext cx="3383280" cy="13898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10144" y="4443984"/>
            <a:ext cx="3383280" cy="36576"/>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47888" y="4608576"/>
            <a:ext cx="2971800" cy="274320"/>
          </a:xfrm>
          <a:prstGeom prst="rect">
            <a:avLst/>
          </a:prstGeom>
          <a:noFill/>
        </p:spPr>
        <p:txBody>
          <a:bodyPr wrap="square" lIns="0" rIns="0" tIns="0" bIns="0" anchor="t">
            <a:spAutoFit/>
          </a:bodyPr>
          <a:lstStyle/>
          <a:p>
            <a:pPr algn="l">
              <a:lnSpc>
                <a:spcPct val="128000"/>
              </a:lnSpc>
            </a:pPr>
            <a:r>
              <a:rPr sz="1150" b="1" i="0">
                <a:solidFill>
                  <a:srgbClr val="EAEEF7"/>
                </a:solidFill>
                <a:latin typeface="Segoe UI"/>
              </a:rPr>
              <a:t>The GCC is fragmenting</a:t>
            </a:r>
          </a:p>
        </p:txBody>
      </p:sp>
      <p:sp>
        <p:nvSpPr>
          <p:cNvPr id="58" name="TextBox 57"/>
          <p:cNvSpPr txBox="1"/>
          <p:nvPr/>
        </p:nvSpPr>
        <p:spPr>
          <a:xfrm>
            <a:off x="8247888" y="4901184"/>
            <a:ext cx="2926080" cy="841248"/>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The UAE runs a Peppol five-corner model on PINT AE. Saudi runs clearance. Two neighbouring states, two architecturally incompatible stacks. One global build cannot sweep the region.</a:t>
            </a:r>
          </a:p>
        </p:txBody>
      </p:sp>
      <p:sp>
        <p:nvSpPr>
          <p:cNvPr id="59" name="TextBox 58"/>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ZATCA · Council Directive (EU) 2025/516 · UAE Ministerial Decisions 243 &amp; 244 of 2025 · national mandates (BE, PL, FR, DE). Counter-example, volunteered: the United States moved the other way — the One Big Beautiful Bill Act (2025) restored the Form 1099-K threshold to $20,000 and 200+ transactions, retroactive to 2022. The US is the outlier, not the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13</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WHY NOW  ·  FORCES 2–5, THE ECONOMICS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Direct acquisition got expensive at exactly the moment the channels that fed
it stopped working — so growth migrated to revenue that arrives through
somebody else, and every one of those creates a bilateral money obligation.</a:t>
            </a:r>
          </a:p>
        </p:txBody>
      </p:sp>
      <p:sp>
        <p:nvSpPr>
          <p:cNvPr id="10" name="Rounded Rectangle 9"/>
          <p:cNvSpPr/>
          <p:nvPr/>
        </p:nvSpPr>
        <p:spPr>
          <a:xfrm>
            <a:off x="786384" y="2560320"/>
            <a:ext cx="2487168" cy="1755648"/>
          </a:xfrm>
          <a:prstGeom prst="roundRect">
            <a:avLst>
              <a:gd name="adj" fmla="val 35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560320"/>
            <a:ext cx="32004" cy="1755648"/>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61488"/>
            <a:ext cx="1920240" cy="426720"/>
          </a:xfrm>
          <a:prstGeom prst="rect">
            <a:avLst/>
          </a:prstGeom>
          <a:noFill/>
        </p:spPr>
        <p:txBody>
          <a:bodyPr wrap="square" lIns="0" rIns="0" tIns="0" bIns="0" anchor="t">
            <a:spAutoFit/>
          </a:bodyPr>
          <a:lstStyle/>
          <a:p>
            <a:pPr algn="l">
              <a:lnSpc>
                <a:spcPct val="128000"/>
              </a:lnSpc>
            </a:pPr>
            <a:r>
              <a:rPr sz="3000" b="0" i="0" spc="-60">
                <a:solidFill>
                  <a:srgbClr val="E0BE74"/>
                </a:solidFill>
                <a:latin typeface="Consolas"/>
              </a:rPr>
              <a:t>$2.00</a:t>
            </a:r>
          </a:p>
        </p:txBody>
      </p:sp>
      <p:sp>
        <p:nvSpPr>
          <p:cNvPr id="13" name="TextBox 12"/>
          <p:cNvSpPr txBox="1"/>
          <p:nvPr/>
        </p:nvSpPr>
        <p:spPr>
          <a:xfrm>
            <a:off x="1097280" y="3243072"/>
            <a:ext cx="1920240" cy="219456"/>
          </a:xfrm>
          <a:prstGeom prst="rect">
            <a:avLst/>
          </a:prstGeom>
          <a:noFill/>
        </p:spPr>
        <p:txBody>
          <a:bodyPr wrap="square" lIns="0" rIns="0" tIns="0" bIns="0" anchor="t">
            <a:spAutoFit/>
          </a:bodyPr>
          <a:lstStyle/>
          <a:p>
            <a:pPr algn="l">
              <a:lnSpc>
                <a:spcPct val="128000"/>
              </a:lnSpc>
            </a:pPr>
            <a:r>
              <a:rPr sz="950" b="1" i="0" spc="150">
                <a:solidFill>
                  <a:srgbClr val="A6B2CA"/>
                </a:solidFill>
                <a:latin typeface="Segoe UI"/>
              </a:rPr>
              <a:t>NEW CAC RATIO</a:t>
            </a:r>
          </a:p>
        </p:txBody>
      </p:sp>
      <p:sp>
        <p:nvSpPr>
          <p:cNvPr id="14" name="TextBox 13"/>
          <p:cNvSpPr txBox="1"/>
          <p:nvPr/>
        </p:nvSpPr>
        <p:spPr>
          <a:xfrm>
            <a:off x="1097280" y="3535680"/>
            <a:ext cx="1920240" cy="633983"/>
          </a:xfrm>
          <a:prstGeom prst="rect">
            <a:avLst/>
          </a:prstGeom>
          <a:noFill/>
        </p:spPr>
        <p:txBody>
          <a:bodyPr wrap="square" lIns="0" rIns="0" tIns="0" bIns="0" anchor="t">
            <a:spAutoFit/>
          </a:bodyPr>
          <a:lstStyle/>
          <a:p>
            <a:pPr algn="l">
              <a:lnSpc>
                <a:spcPct val="136000"/>
              </a:lnSpc>
            </a:pPr>
            <a:r>
              <a:rPr sz="900" b="0" i="0">
                <a:solidFill>
                  <a:srgbClr val="6E7A94"/>
                </a:solidFill>
                <a:latin typeface="Segoe UI"/>
              </a:rPr>
              <a:t>of S&amp;M to buy $1.00 of new ARR (2024, up 14% YoY)</a:t>
            </a:r>
          </a:p>
        </p:txBody>
      </p:sp>
      <p:sp>
        <p:nvSpPr>
          <p:cNvPr id="15" name="Rounded Rectangle 14"/>
          <p:cNvSpPr/>
          <p:nvPr/>
        </p:nvSpPr>
        <p:spPr>
          <a:xfrm>
            <a:off x="3483864" y="2560320"/>
            <a:ext cx="2487168" cy="1755648"/>
          </a:xfrm>
          <a:prstGeom prst="roundRect">
            <a:avLst>
              <a:gd name="adj" fmla="val 35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83864" y="2560320"/>
            <a:ext cx="32004" cy="1755648"/>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60" y="2761488"/>
            <a:ext cx="1920240" cy="426720"/>
          </a:xfrm>
          <a:prstGeom prst="rect">
            <a:avLst/>
          </a:prstGeom>
          <a:noFill/>
        </p:spPr>
        <p:txBody>
          <a:bodyPr wrap="square" lIns="0" rIns="0" tIns="0" bIns="0" anchor="t">
            <a:spAutoFit/>
          </a:bodyPr>
          <a:lstStyle/>
          <a:p>
            <a:pPr algn="l">
              <a:lnSpc>
                <a:spcPct val="128000"/>
              </a:lnSpc>
            </a:pPr>
            <a:r>
              <a:rPr sz="3000" b="0" i="0" spc="-60">
                <a:solidFill>
                  <a:srgbClr val="E0BE74"/>
                </a:solidFill>
                <a:latin typeface="Consolas"/>
              </a:rPr>
              <a:t>$1.00</a:t>
            </a:r>
          </a:p>
        </p:txBody>
      </p:sp>
      <p:sp>
        <p:nvSpPr>
          <p:cNvPr id="18" name="TextBox 17"/>
          <p:cNvSpPr txBox="1"/>
          <p:nvPr/>
        </p:nvSpPr>
        <p:spPr>
          <a:xfrm>
            <a:off x="3794760" y="3243072"/>
            <a:ext cx="1920240" cy="219456"/>
          </a:xfrm>
          <a:prstGeom prst="rect">
            <a:avLst/>
          </a:prstGeom>
          <a:noFill/>
        </p:spPr>
        <p:txBody>
          <a:bodyPr wrap="square" lIns="0" rIns="0" tIns="0" bIns="0" anchor="t">
            <a:spAutoFit/>
          </a:bodyPr>
          <a:lstStyle/>
          <a:p>
            <a:pPr algn="l">
              <a:lnSpc>
                <a:spcPct val="128000"/>
              </a:lnSpc>
            </a:pPr>
            <a:r>
              <a:rPr sz="950" b="1" i="0" spc="150">
                <a:solidFill>
                  <a:srgbClr val="A6B2CA"/>
                </a:solidFill>
                <a:latin typeface="Segoe UI"/>
              </a:rPr>
              <a:t>EXPANSION CAC</a:t>
            </a:r>
          </a:p>
        </p:txBody>
      </p:sp>
      <p:sp>
        <p:nvSpPr>
          <p:cNvPr id="19" name="TextBox 18"/>
          <p:cNvSpPr txBox="1"/>
          <p:nvPr/>
        </p:nvSpPr>
        <p:spPr>
          <a:xfrm>
            <a:off x="3794760" y="3535680"/>
            <a:ext cx="1920240" cy="633983"/>
          </a:xfrm>
          <a:prstGeom prst="rect">
            <a:avLst/>
          </a:prstGeom>
          <a:noFill/>
        </p:spPr>
        <p:txBody>
          <a:bodyPr wrap="square" lIns="0" rIns="0" tIns="0" bIns="0" anchor="t">
            <a:spAutoFit/>
          </a:bodyPr>
          <a:lstStyle/>
          <a:p>
            <a:pPr algn="l">
              <a:lnSpc>
                <a:spcPct val="136000"/>
              </a:lnSpc>
            </a:pPr>
            <a:r>
              <a:rPr sz="900" b="0" i="0">
                <a:solidFill>
                  <a:srgbClr val="6E7A94"/>
                </a:solidFill>
                <a:latin typeface="Segoe UI"/>
              </a:rPr>
              <a:t>the same dollar, bought through a relationship you already have</a:t>
            </a:r>
          </a:p>
        </p:txBody>
      </p:sp>
      <p:sp>
        <p:nvSpPr>
          <p:cNvPr id="20" name="Rounded Rectangle 19"/>
          <p:cNvSpPr/>
          <p:nvPr/>
        </p:nvSpPr>
        <p:spPr>
          <a:xfrm>
            <a:off x="6181344" y="2560320"/>
            <a:ext cx="2487168" cy="1755648"/>
          </a:xfrm>
          <a:prstGeom prst="roundRect">
            <a:avLst>
              <a:gd name="adj" fmla="val 35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2560320"/>
            <a:ext cx="32004" cy="175564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761488"/>
            <a:ext cx="1920240" cy="426720"/>
          </a:xfrm>
          <a:prstGeom prst="rect">
            <a:avLst/>
          </a:prstGeom>
          <a:noFill/>
        </p:spPr>
        <p:txBody>
          <a:bodyPr wrap="square" lIns="0" rIns="0" tIns="0" bIns="0" anchor="t">
            <a:spAutoFit/>
          </a:bodyPr>
          <a:lstStyle/>
          <a:p>
            <a:pPr algn="l">
              <a:lnSpc>
                <a:spcPct val="128000"/>
              </a:lnSpc>
            </a:pPr>
            <a:r>
              <a:rPr sz="3000" b="0" i="0" spc="-60">
                <a:solidFill>
                  <a:srgbClr val="EAEEF7"/>
                </a:solidFill>
                <a:latin typeface="Georgia"/>
              </a:rPr>
              <a:t>8%</a:t>
            </a:r>
          </a:p>
        </p:txBody>
      </p:sp>
      <p:sp>
        <p:nvSpPr>
          <p:cNvPr id="23" name="TextBox 22"/>
          <p:cNvSpPr txBox="1"/>
          <p:nvPr/>
        </p:nvSpPr>
        <p:spPr>
          <a:xfrm>
            <a:off x="6492240" y="3243072"/>
            <a:ext cx="1920240" cy="219456"/>
          </a:xfrm>
          <a:prstGeom prst="rect">
            <a:avLst/>
          </a:prstGeom>
          <a:noFill/>
        </p:spPr>
        <p:txBody>
          <a:bodyPr wrap="square" lIns="0" rIns="0" tIns="0" bIns="0" anchor="t">
            <a:spAutoFit/>
          </a:bodyPr>
          <a:lstStyle/>
          <a:p>
            <a:pPr algn="l">
              <a:lnSpc>
                <a:spcPct val="128000"/>
              </a:lnSpc>
            </a:pPr>
            <a:r>
              <a:rPr sz="950" b="1" i="0" spc="150">
                <a:solidFill>
                  <a:srgbClr val="A6B2CA"/>
                </a:solidFill>
                <a:latin typeface="Segoe UI"/>
              </a:rPr>
              <a:t>CLICK-THROUGH</a:t>
            </a:r>
          </a:p>
        </p:txBody>
      </p:sp>
      <p:sp>
        <p:nvSpPr>
          <p:cNvPr id="24" name="TextBox 23"/>
          <p:cNvSpPr txBox="1"/>
          <p:nvPr/>
        </p:nvSpPr>
        <p:spPr>
          <a:xfrm>
            <a:off x="6492240" y="3535680"/>
            <a:ext cx="1920240" cy="633983"/>
          </a:xfrm>
          <a:prstGeom prst="rect">
            <a:avLst/>
          </a:prstGeom>
          <a:noFill/>
        </p:spPr>
        <p:txBody>
          <a:bodyPr wrap="square" lIns="0" rIns="0" tIns="0" bIns="0" anchor="t">
            <a:spAutoFit/>
          </a:bodyPr>
          <a:lstStyle/>
          <a:p>
            <a:pPr algn="l">
              <a:lnSpc>
                <a:spcPct val="136000"/>
              </a:lnSpc>
            </a:pPr>
            <a:r>
              <a:rPr sz="900" b="0" i="0">
                <a:solidFill>
                  <a:srgbClr val="6E7A94"/>
                </a:solidFill>
                <a:latin typeface="Segoe UI"/>
              </a:rPr>
              <a:t>when an AI summary appears, vs 15% when none does; 1% on the summary's own links</a:t>
            </a:r>
          </a:p>
        </p:txBody>
      </p:sp>
      <p:sp>
        <p:nvSpPr>
          <p:cNvPr id="25" name="Rounded Rectangle 24"/>
          <p:cNvSpPr/>
          <p:nvPr/>
        </p:nvSpPr>
        <p:spPr>
          <a:xfrm>
            <a:off x="8878824" y="2560320"/>
            <a:ext cx="2487168" cy="1755648"/>
          </a:xfrm>
          <a:prstGeom prst="roundRect">
            <a:avLst>
              <a:gd name="adj" fmla="val 35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78824" y="2560320"/>
            <a:ext cx="32004" cy="175564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19" y="2761488"/>
            <a:ext cx="1920240" cy="426720"/>
          </a:xfrm>
          <a:prstGeom prst="rect">
            <a:avLst/>
          </a:prstGeom>
          <a:noFill/>
        </p:spPr>
        <p:txBody>
          <a:bodyPr wrap="square" lIns="0" rIns="0" tIns="0" bIns="0" anchor="t">
            <a:spAutoFit/>
          </a:bodyPr>
          <a:lstStyle/>
          <a:p>
            <a:pPr algn="l">
              <a:lnSpc>
                <a:spcPct val="128000"/>
              </a:lnSpc>
            </a:pPr>
            <a:r>
              <a:rPr sz="3000" b="0" i="0" spc="-60">
                <a:solidFill>
                  <a:srgbClr val="EAEEF7"/>
                </a:solidFill>
                <a:latin typeface="Georgia"/>
              </a:rPr>
              <a:t>6.3</a:t>
            </a:r>
          </a:p>
        </p:txBody>
      </p:sp>
      <p:sp>
        <p:nvSpPr>
          <p:cNvPr id="28" name="TextBox 27"/>
          <p:cNvSpPr txBox="1"/>
          <p:nvPr/>
        </p:nvSpPr>
        <p:spPr>
          <a:xfrm>
            <a:off x="9189719" y="3243072"/>
            <a:ext cx="1920240" cy="219456"/>
          </a:xfrm>
          <a:prstGeom prst="rect">
            <a:avLst/>
          </a:prstGeom>
          <a:noFill/>
        </p:spPr>
        <p:txBody>
          <a:bodyPr wrap="square" lIns="0" rIns="0" tIns="0" bIns="0" anchor="t">
            <a:spAutoFit/>
          </a:bodyPr>
          <a:lstStyle/>
          <a:p>
            <a:pPr algn="l">
              <a:lnSpc>
                <a:spcPct val="128000"/>
              </a:lnSpc>
            </a:pPr>
            <a:r>
              <a:rPr sz="950" b="1" i="0" spc="150">
                <a:solidFill>
                  <a:srgbClr val="A6B2CA"/>
                </a:solidFill>
                <a:latin typeface="Segoe UI"/>
              </a:rPr>
              <a:t>PARTNERS / CUSTOMER</a:t>
            </a:r>
          </a:p>
        </p:txBody>
      </p:sp>
      <p:sp>
        <p:nvSpPr>
          <p:cNvPr id="29" name="TextBox 28"/>
          <p:cNvSpPr txBox="1"/>
          <p:nvPr/>
        </p:nvSpPr>
        <p:spPr>
          <a:xfrm>
            <a:off x="9189719" y="3535680"/>
            <a:ext cx="1920240" cy="633983"/>
          </a:xfrm>
          <a:prstGeom prst="rect">
            <a:avLst/>
          </a:prstGeom>
          <a:noFill/>
        </p:spPr>
        <p:txBody>
          <a:bodyPr wrap="square" lIns="0" rIns="0" tIns="0" bIns="0" anchor="t">
            <a:spAutoFit/>
          </a:bodyPr>
          <a:lstStyle/>
          <a:p>
            <a:pPr algn="l">
              <a:lnSpc>
                <a:spcPct val="136000"/>
              </a:lnSpc>
            </a:pPr>
            <a:r>
              <a:rPr sz="900" b="0" i="0">
                <a:solidFill>
                  <a:srgbClr val="6E7A94"/>
                </a:solidFill>
                <a:latin typeface="Segoe UI"/>
              </a:rPr>
              <a:t>reconciliation cost scales with counterparties, not revenue</a:t>
            </a:r>
          </a:p>
        </p:txBody>
      </p:sp>
      <p:sp>
        <p:nvSpPr>
          <p:cNvPr id="30" name="Rectangle 29"/>
          <p:cNvSpPr/>
          <p:nvPr/>
        </p:nvSpPr>
        <p:spPr>
          <a:xfrm>
            <a:off x="786384" y="4604004"/>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4498848"/>
            <a:ext cx="49834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Distribution moved onto third-party rails.  </a:t>
            </a:r>
            <a:r>
              <a:rPr sz="1050" b="0" i="0">
                <a:solidFill>
                  <a:srgbClr val="A6B2CA"/>
                </a:solidFill>
                <a:latin typeface="Segoe UI"/>
              </a:rPr>
              <a:t>Hyperscaler cloud-marketplace software sales are forecast to rise from $30bn (2024) to $163bn by 2030 — a 29.1% CAGR — with partners facilitating nearly 60% of marketplace transactions by 2030. Every one is a three-party transaction.</a:t>
            </a:r>
          </a:p>
        </p:txBody>
      </p:sp>
      <p:sp>
        <p:nvSpPr>
          <p:cNvPr id="32" name="Rectangle 31"/>
          <p:cNvSpPr/>
          <p:nvPr/>
        </p:nvSpPr>
        <p:spPr>
          <a:xfrm>
            <a:off x="6364224" y="4604004"/>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38544" y="4498848"/>
            <a:ext cx="47548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The rails for machine commerce are done; the accounting is not.  </a:t>
            </a:r>
            <a:r>
              <a:rPr sz="1050" b="0" i="0">
                <a:solidFill>
                  <a:srgbClr val="A6B2CA"/>
                </a:solidFill>
                <a:latin typeface="Segoe UI"/>
              </a:rPr>
              <a:t>Mastercard Agent Pay and Visa Intelligent Commerce (Apr 2025), Google's AP2 with 60+ organisations (Sep 2025), OpenAI/Stripe's Agentic Commerce Protocol (Sep 2025). Not one answers who gets credit for the sale, or what share each party is owed.</a:t>
            </a:r>
          </a:p>
        </p:txBody>
      </p:sp>
      <p:sp>
        <p:nvSpPr>
          <p:cNvPr id="34" name="Rounded Rectangle 33"/>
          <p:cNvSpPr/>
          <p:nvPr/>
        </p:nvSpPr>
        <p:spPr>
          <a:xfrm>
            <a:off x="786384" y="5431536"/>
            <a:ext cx="10607040" cy="402336"/>
          </a:xfrm>
          <a:prstGeom prst="roundRect">
            <a:avLst>
              <a:gd name="adj" fmla="val 5000"/>
            </a:avLst>
          </a:prstGeom>
          <a:solidFill>
            <a:srgbClr val="0D1528"/>
          </a:solidFill>
          <a:ln w="12700">
            <a:solidFill>
              <a:srgbClr val="182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5532120"/>
            <a:ext cx="10149840" cy="274320"/>
          </a:xfrm>
          <a:prstGeom prst="rect">
            <a:avLst/>
          </a:prstGeom>
          <a:noFill/>
        </p:spPr>
        <p:txBody>
          <a:bodyPr wrap="square" lIns="0" rIns="0" tIns="0" bIns="0" anchor="t">
            <a:spAutoFit/>
          </a:bodyPr>
          <a:lstStyle/>
          <a:p>
            <a:pPr algn="l">
              <a:lnSpc>
                <a:spcPct val="128000"/>
              </a:lnSpc>
            </a:pPr>
            <a:r>
              <a:rPr sz="950" b="1" i="0">
                <a:solidFill>
                  <a:srgbClr val="E0955E"/>
                </a:solidFill>
                <a:latin typeface="Segoe UI"/>
              </a:rPr>
              <a:t>The number that argues against us, first:  </a:t>
            </a:r>
            <a:r>
              <a:rPr sz="950" b="0" i="0">
                <a:solidFill>
                  <a:srgbClr val="A6B2CA"/>
                </a:solidFill>
                <a:latin typeface="Segoe UI"/>
              </a:rPr>
              <a:t>partner share of the addressable IT market falls to 66.7% in 2026 from 70.1% — because AI capex inflates the direct denominator. Partner-delivered spend still grew 6.7% on a $6.07tn base.</a:t>
            </a:r>
          </a:p>
        </p:txBody>
      </p:sp>
      <p:sp>
        <p:nvSpPr>
          <p:cNvPr id="36" name="TextBox 35"/>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Benchmarkit, 2025 B2B SaaS Performance Metrics (with Pavilion) · Pew Research Center, 22 Jul 2025 (900 US adults, 68,879 searches) · Omdia, 6 Oct 2025 and 28 Jan 2026 · Google Cloud, Mastercard, Visa, OpenAI/Stripe announcements Apr 2025 – Jun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14</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MARKET POTENTIAL  ·  BOTTOM-UP</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We size this by counting the Saudi businesses inside the mandate and
multiplying by what we charge — because the category-level number does
not exist, and we would rather show the arithmetic than borrow someone's.</a:t>
            </a:r>
          </a:p>
        </p:txBody>
      </p:sp>
      <p:sp>
        <p:nvSpPr>
          <p:cNvPr id="10" name="Rounded Rectangle 9"/>
          <p:cNvSpPr/>
          <p:nvPr/>
        </p:nvSpPr>
        <p:spPr>
          <a:xfrm>
            <a:off x="786384" y="2578608"/>
            <a:ext cx="2029968" cy="17556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578608"/>
            <a:ext cx="2029968"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761488"/>
            <a:ext cx="1664208" cy="402336"/>
          </a:xfrm>
          <a:prstGeom prst="rect">
            <a:avLst/>
          </a:prstGeom>
          <a:noFill/>
        </p:spPr>
        <p:txBody>
          <a:bodyPr wrap="square" lIns="0" rIns="0" tIns="0" bIns="0" anchor="t">
            <a:spAutoFit/>
          </a:bodyPr>
          <a:lstStyle/>
          <a:p>
            <a:pPr algn="l">
              <a:lnSpc>
                <a:spcPct val="128000"/>
              </a:lnSpc>
            </a:pPr>
            <a:r>
              <a:rPr sz="2000" b="0" i="0">
                <a:solidFill>
                  <a:srgbClr val="E0BE74"/>
                </a:solidFill>
                <a:latin typeface="Consolas"/>
              </a:rPr>
              <a:t>1.91M</a:t>
            </a:r>
          </a:p>
        </p:txBody>
      </p:sp>
      <p:sp>
        <p:nvSpPr>
          <p:cNvPr id="13" name="TextBox 12"/>
          <p:cNvSpPr txBox="1"/>
          <p:nvPr/>
        </p:nvSpPr>
        <p:spPr>
          <a:xfrm>
            <a:off x="987552" y="3218688"/>
            <a:ext cx="1664208" cy="475488"/>
          </a:xfrm>
          <a:prstGeom prst="rect">
            <a:avLst/>
          </a:prstGeom>
          <a:noFill/>
        </p:spPr>
        <p:txBody>
          <a:bodyPr wrap="square" lIns="0" rIns="0" tIns="0" bIns="0" anchor="t">
            <a:spAutoFit/>
          </a:bodyPr>
          <a:lstStyle/>
          <a:p>
            <a:pPr algn="l">
              <a:lnSpc>
                <a:spcPct val="130000"/>
              </a:lnSpc>
            </a:pPr>
            <a:r>
              <a:rPr sz="1000" b="1" i="0">
                <a:solidFill>
                  <a:srgbClr val="EAEEF7"/>
                </a:solidFill>
                <a:latin typeface="Segoe UI"/>
              </a:rPr>
              <a:t>active commercial registrations</a:t>
            </a:r>
          </a:p>
        </p:txBody>
      </p:sp>
      <p:sp>
        <p:nvSpPr>
          <p:cNvPr id="14" name="TextBox 13"/>
          <p:cNvSpPr txBox="1"/>
          <p:nvPr/>
        </p:nvSpPr>
        <p:spPr>
          <a:xfrm>
            <a:off x="987552" y="3749039"/>
            <a:ext cx="1664208" cy="402336"/>
          </a:xfrm>
          <a:prstGeom prst="rect">
            <a:avLst/>
          </a:prstGeom>
          <a:noFill/>
        </p:spPr>
        <p:txBody>
          <a:bodyPr wrap="square" lIns="0" rIns="0" tIns="0" bIns="0" anchor="t">
            <a:spAutoFit/>
          </a:bodyPr>
          <a:lstStyle/>
          <a:p>
            <a:pPr algn="l">
              <a:lnSpc>
                <a:spcPct val="130000"/>
              </a:lnSpc>
            </a:pPr>
            <a:r>
              <a:rPr sz="850" b="0" i="0">
                <a:solidFill>
                  <a:srgbClr val="6E7A94"/>
                </a:solidFill>
                <a:latin typeface="Segoe UI"/>
              </a:rPr>
              <a:t>+12% YoY; 71,000+ new in Q2 2026</a:t>
            </a:r>
          </a:p>
        </p:txBody>
      </p:sp>
      <p:sp>
        <p:nvSpPr>
          <p:cNvPr id="15" name="TextBox 14"/>
          <p:cNvSpPr txBox="1"/>
          <p:nvPr/>
        </p:nvSpPr>
        <p:spPr>
          <a:xfrm>
            <a:off x="987552" y="4114800"/>
            <a:ext cx="1664208" cy="182880"/>
          </a:xfrm>
          <a:prstGeom prst="rect">
            <a:avLst/>
          </a:prstGeom>
          <a:noFill/>
        </p:spPr>
        <p:txBody>
          <a:bodyPr wrap="square" lIns="0" rIns="0" tIns="0" bIns="0" anchor="t">
            <a:spAutoFit/>
          </a:bodyPr>
          <a:lstStyle/>
          <a:p>
            <a:pPr algn="l">
              <a:lnSpc>
                <a:spcPct val="128000"/>
              </a:lnSpc>
            </a:pPr>
            <a:r>
              <a:rPr sz="750" b="1" i="0" spc="160">
                <a:solidFill>
                  <a:srgbClr val="2A5BF5"/>
                </a:solidFill>
                <a:latin typeface="Segoe UI"/>
              </a:rPr>
              <a:t>SOURCED</a:t>
            </a:r>
          </a:p>
        </p:txBody>
      </p:sp>
      <p:sp>
        <p:nvSpPr>
          <p:cNvPr id="16" name="Rounded Rectangle 15"/>
          <p:cNvSpPr/>
          <p:nvPr/>
        </p:nvSpPr>
        <p:spPr>
          <a:xfrm>
            <a:off x="2907792" y="2578608"/>
            <a:ext cx="2029968" cy="17556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578608"/>
            <a:ext cx="2029968"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8960" y="2761488"/>
            <a:ext cx="1664208" cy="402336"/>
          </a:xfrm>
          <a:prstGeom prst="rect">
            <a:avLst/>
          </a:prstGeom>
          <a:noFill/>
        </p:spPr>
        <p:txBody>
          <a:bodyPr wrap="square" lIns="0" rIns="0" tIns="0" bIns="0" anchor="t">
            <a:spAutoFit/>
          </a:bodyPr>
          <a:lstStyle/>
          <a:p>
            <a:pPr algn="l">
              <a:lnSpc>
                <a:spcPct val="128000"/>
              </a:lnSpc>
            </a:pPr>
            <a:r>
              <a:rPr sz="2000" b="0" i="0">
                <a:solidFill>
                  <a:srgbClr val="EAEEF7"/>
                </a:solidFill>
                <a:latin typeface="Georgia"/>
              </a:rPr>
              <a:t>×  %</a:t>
            </a:r>
          </a:p>
        </p:txBody>
      </p:sp>
      <p:sp>
        <p:nvSpPr>
          <p:cNvPr id="19" name="TextBox 18"/>
          <p:cNvSpPr txBox="1"/>
          <p:nvPr/>
        </p:nvSpPr>
        <p:spPr>
          <a:xfrm>
            <a:off x="3108960" y="3218688"/>
            <a:ext cx="1664208" cy="475488"/>
          </a:xfrm>
          <a:prstGeom prst="rect">
            <a:avLst/>
          </a:prstGeom>
          <a:noFill/>
        </p:spPr>
        <p:txBody>
          <a:bodyPr wrap="square" lIns="0" rIns="0" tIns="0" bIns="0" anchor="t">
            <a:spAutoFit/>
          </a:bodyPr>
          <a:lstStyle/>
          <a:p>
            <a:pPr algn="l">
              <a:lnSpc>
                <a:spcPct val="130000"/>
              </a:lnSpc>
            </a:pPr>
            <a:r>
              <a:rPr sz="1000" b="1" i="0">
                <a:solidFill>
                  <a:srgbClr val="EAEEF7"/>
                </a:solidFill>
                <a:latin typeface="Segoe UI"/>
              </a:rPr>
              <a:t>inside a live ZATCA wave</a:t>
            </a:r>
          </a:p>
        </p:txBody>
      </p:sp>
      <p:sp>
        <p:nvSpPr>
          <p:cNvPr id="20" name="TextBox 19"/>
          <p:cNvSpPr txBox="1"/>
          <p:nvPr/>
        </p:nvSpPr>
        <p:spPr>
          <a:xfrm>
            <a:off x="3108960" y="3749039"/>
            <a:ext cx="1664208" cy="402336"/>
          </a:xfrm>
          <a:prstGeom prst="rect">
            <a:avLst/>
          </a:prstGeom>
          <a:noFill/>
        </p:spPr>
        <p:txBody>
          <a:bodyPr wrap="square" lIns="0" rIns="0" tIns="0" bIns="0" anchor="t">
            <a:spAutoFit/>
          </a:bodyPr>
          <a:lstStyle/>
          <a:p>
            <a:pPr algn="l">
              <a:lnSpc>
                <a:spcPct val="130000"/>
              </a:lnSpc>
            </a:pPr>
            <a:r>
              <a:rPr sz="850" b="0" i="0">
                <a:solidFill>
                  <a:srgbClr val="6E7A94"/>
                </a:solidFill>
                <a:latin typeface="Segoe UI"/>
              </a:rPr>
              <a:t>Wave 24 = every mandatorily VAT-registered entity</a:t>
            </a:r>
          </a:p>
        </p:txBody>
      </p:sp>
      <p:sp>
        <p:nvSpPr>
          <p:cNvPr id="21" name="TextBox 20"/>
          <p:cNvSpPr txBox="1"/>
          <p:nvPr/>
        </p:nvSpPr>
        <p:spPr>
          <a:xfrm>
            <a:off x="3108960" y="4114800"/>
            <a:ext cx="1664208" cy="182880"/>
          </a:xfrm>
          <a:prstGeom prst="rect">
            <a:avLst/>
          </a:prstGeom>
          <a:noFill/>
        </p:spPr>
        <p:txBody>
          <a:bodyPr wrap="square" lIns="0" rIns="0" tIns="0" bIns="0" anchor="t">
            <a:spAutoFit/>
          </a:bodyPr>
          <a:lstStyle/>
          <a:p>
            <a:pPr algn="l">
              <a:lnSpc>
                <a:spcPct val="128000"/>
              </a:lnSpc>
            </a:pPr>
            <a:r>
              <a:rPr sz="750" b="1" i="0" spc="160">
                <a:solidFill>
                  <a:srgbClr val="2A5BF5"/>
                </a:solidFill>
                <a:latin typeface="Segoe UI"/>
              </a:rPr>
              <a:t>SOURCED</a:t>
            </a:r>
          </a:p>
        </p:txBody>
      </p:sp>
      <p:sp>
        <p:nvSpPr>
          <p:cNvPr id="22" name="Rounded Rectangle 21"/>
          <p:cNvSpPr/>
          <p:nvPr/>
        </p:nvSpPr>
        <p:spPr>
          <a:xfrm>
            <a:off x="5029200" y="2578608"/>
            <a:ext cx="2029968" cy="17556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0" y="2578608"/>
            <a:ext cx="2029968" cy="36576"/>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30368" y="2761488"/>
            <a:ext cx="1664208" cy="402336"/>
          </a:xfrm>
          <a:prstGeom prst="rect">
            <a:avLst/>
          </a:prstGeom>
          <a:noFill/>
        </p:spPr>
        <p:txBody>
          <a:bodyPr wrap="square" lIns="0" rIns="0" tIns="0" bIns="0" anchor="t">
            <a:spAutoFit/>
          </a:bodyPr>
          <a:lstStyle/>
          <a:p>
            <a:pPr algn="l">
              <a:lnSpc>
                <a:spcPct val="128000"/>
              </a:lnSpc>
            </a:pPr>
            <a:r>
              <a:rPr sz="2000" b="0" i="0">
                <a:solidFill>
                  <a:srgbClr val="EAEEF7"/>
                </a:solidFill>
                <a:latin typeface="Georgia"/>
              </a:rPr>
              <a:t>×  %</a:t>
            </a:r>
          </a:p>
        </p:txBody>
      </p:sp>
      <p:sp>
        <p:nvSpPr>
          <p:cNvPr id="25" name="TextBox 24"/>
          <p:cNvSpPr txBox="1"/>
          <p:nvPr/>
        </p:nvSpPr>
        <p:spPr>
          <a:xfrm>
            <a:off x="5230368" y="3218688"/>
            <a:ext cx="1664208" cy="475488"/>
          </a:xfrm>
          <a:prstGeom prst="rect">
            <a:avLst/>
          </a:prstGeom>
          <a:noFill/>
        </p:spPr>
        <p:txBody>
          <a:bodyPr wrap="square" lIns="0" rIns="0" tIns="0" bIns="0" anchor="t">
            <a:spAutoFit/>
          </a:bodyPr>
          <a:lstStyle/>
          <a:p>
            <a:pPr algn="l">
              <a:lnSpc>
                <a:spcPct val="130000"/>
              </a:lnSpc>
            </a:pPr>
            <a:r>
              <a:rPr sz="1000" b="1" i="0">
                <a:solidFill>
                  <a:srgbClr val="EAEEF7"/>
                </a:solidFill>
                <a:latin typeface="Segoe UI"/>
              </a:rPr>
              <a:t>running a partner programme</a:t>
            </a:r>
          </a:p>
        </p:txBody>
      </p:sp>
      <p:sp>
        <p:nvSpPr>
          <p:cNvPr id="26" name="TextBox 25"/>
          <p:cNvSpPr txBox="1"/>
          <p:nvPr/>
        </p:nvSpPr>
        <p:spPr>
          <a:xfrm>
            <a:off x="5230368" y="3749039"/>
            <a:ext cx="1664208" cy="402336"/>
          </a:xfrm>
          <a:prstGeom prst="rect">
            <a:avLst/>
          </a:prstGeom>
          <a:noFill/>
        </p:spPr>
        <p:txBody>
          <a:bodyPr wrap="square" lIns="0" rIns="0" tIns="0" bIns="0" anchor="t">
            <a:spAutoFit/>
          </a:bodyPr>
          <a:lstStyle/>
          <a:p>
            <a:pPr algn="l">
              <a:lnSpc>
                <a:spcPct val="130000"/>
              </a:lnSpc>
            </a:pPr>
            <a:r>
              <a:rPr sz="850" b="0" i="0">
                <a:solidFill>
                  <a:srgbClr val="6E7A94"/>
                </a:solidFill>
                <a:latin typeface="Segoe UI"/>
              </a:rPr>
              <a:t>no public source exists — our own discovery base rate</a:t>
            </a:r>
          </a:p>
        </p:txBody>
      </p:sp>
      <p:sp>
        <p:nvSpPr>
          <p:cNvPr id="27" name="TextBox 26"/>
          <p:cNvSpPr txBox="1"/>
          <p:nvPr/>
        </p:nvSpPr>
        <p:spPr>
          <a:xfrm>
            <a:off x="5230368" y="4114800"/>
            <a:ext cx="1664208" cy="182880"/>
          </a:xfrm>
          <a:prstGeom prst="rect">
            <a:avLst/>
          </a:prstGeom>
          <a:noFill/>
        </p:spPr>
        <p:txBody>
          <a:bodyPr wrap="square" lIns="0" rIns="0" tIns="0" bIns="0" anchor="t">
            <a:spAutoFit/>
          </a:bodyPr>
          <a:lstStyle/>
          <a:p>
            <a:pPr algn="l">
              <a:lnSpc>
                <a:spcPct val="128000"/>
              </a:lnSpc>
            </a:pPr>
            <a:r>
              <a:rPr sz="750" b="1" i="0" spc="160">
                <a:solidFill>
                  <a:srgbClr val="E0955E"/>
                </a:solidFill>
                <a:latin typeface="Segoe UI"/>
              </a:rPr>
              <a:t>ASSUMED</a:t>
            </a:r>
          </a:p>
        </p:txBody>
      </p:sp>
      <p:sp>
        <p:nvSpPr>
          <p:cNvPr id="28" name="Rounded Rectangle 27"/>
          <p:cNvSpPr/>
          <p:nvPr/>
        </p:nvSpPr>
        <p:spPr>
          <a:xfrm>
            <a:off x="7150608" y="2578608"/>
            <a:ext cx="2029968" cy="17556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50608" y="2578608"/>
            <a:ext cx="2029968" cy="36576"/>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51776" y="2761488"/>
            <a:ext cx="1664208" cy="402336"/>
          </a:xfrm>
          <a:prstGeom prst="rect">
            <a:avLst/>
          </a:prstGeom>
          <a:noFill/>
        </p:spPr>
        <p:txBody>
          <a:bodyPr wrap="square" lIns="0" rIns="0" tIns="0" bIns="0" anchor="t">
            <a:spAutoFit/>
          </a:bodyPr>
          <a:lstStyle/>
          <a:p>
            <a:pPr algn="l">
              <a:lnSpc>
                <a:spcPct val="128000"/>
              </a:lnSpc>
            </a:pPr>
            <a:r>
              <a:rPr sz="2000" b="0" i="0">
                <a:solidFill>
                  <a:srgbClr val="EAEEF7"/>
                </a:solidFill>
                <a:latin typeface="Georgia"/>
              </a:rPr>
              <a:t>×  %</a:t>
            </a:r>
          </a:p>
        </p:txBody>
      </p:sp>
      <p:sp>
        <p:nvSpPr>
          <p:cNvPr id="31" name="TextBox 30"/>
          <p:cNvSpPr txBox="1"/>
          <p:nvPr/>
        </p:nvSpPr>
        <p:spPr>
          <a:xfrm>
            <a:off x="7351776" y="3218688"/>
            <a:ext cx="1664208" cy="475488"/>
          </a:xfrm>
          <a:prstGeom prst="rect">
            <a:avLst/>
          </a:prstGeom>
          <a:noFill/>
        </p:spPr>
        <p:txBody>
          <a:bodyPr wrap="square" lIns="0" rIns="0" tIns="0" bIns="0" anchor="t">
            <a:spAutoFit/>
          </a:bodyPr>
          <a:lstStyle/>
          <a:p>
            <a:pPr algn="l">
              <a:lnSpc>
                <a:spcPct val="130000"/>
              </a:lnSpc>
            </a:pPr>
            <a:r>
              <a:rPr sz="1000" b="1" i="0">
                <a:solidFill>
                  <a:srgbClr val="EAEEF7"/>
                </a:solidFill>
                <a:latin typeface="Segoe UI"/>
              </a:rPr>
              <a:t>reachable by our motion</a:t>
            </a:r>
          </a:p>
        </p:txBody>
      </p:sp>
      <p:sp>
        <p:nvSpPr>
          <p:cNvPr id="32" name="TextBox 31"/>
          <p:cNvSpPr txBox="1"/>
          <p:nvPr/>
        </p:nvSpPr>
        <p:spPr>
          <a:xfrm>
            <a:off x="7351776" y="3749039"/>
            <a:ext cx="1664208" cy="402336"/>
          </a:xfrm>
          <a:prstGeom prst="rect">
            <a:avLst/>
          </a:prstGeom>
          <a:noFill/>
        </p:spPr>
        <p:txBody>
          <a:bodyPr wrap="square" lIns="0" rIns="0" tIns="0" bIns="0" anchor="t">
            <a:spAutoFit/>
          </a:bodyPr>
          <a:lstStyle/>
          <a:p>
            <a:pPr algn="l">
              <a:lnSpc>
                <a:spcPct val="130000"/>
              </a:lnSpc>
            </a:pPr>
            <a:r>
              <a:rPr sz="850" b="0" i="0">
                <a:solidFill>
                  <a:srgbClr val="6E7A94"/>
                </a:solidFill>
                <a:latin typeface="Segoe UI"/>
              </a:rPr>
              <a:t>sector, size and buying-centre filters</a:t>
            </a:r>
          </a:p>
        </p:txBody>
      </p:sp>
      <p:sp>
        <p:nvSpPr>
          <p:cNvPr id="33" name="TextBox 32"/>
          <p:cNvSpPr txBox="1"/>
          <p:nvPr/>
        </p:nvSpPr>
        <p:spPr>
          <a:xfrm>
            <a:off x="7351776" y="4114800"/>
            <a:ext cx="1664208" cy="182880"/>
          </a:xfrm>
          <a:prstGeom prst="rect">
            <a:avLst/>
          </a:prstGeom>
          <a:noFill/>
        </p:spPr>
        <p:txBody>
          <a:bodyPr wrap="square" lIns="0" rIns="0" tIns="0" bIns="0" anchor="t">
            <a:spAutoFit/>
          </a:bodyPr>
          <a:lstStyle/>
          <a:p>
            <a:pPr algn="l">
              <a:lnSpc>
                <a:spcPct val="128000"/>
              </a:lnSpc>
            </a:pPr>
            <a:r>
              <a:rPr sz="750" b="1" i="0" spc="160">
                <a:solidFill>
                  <a:srgbClr val="E0955E"/>
                </a:solidFill>
                <a:latin typeface="Segoe UI"/>
              </a:rPr>
              <a:t>ASSUMED</a:t>
            </a:r>
          </a:p>
        </p:txBody>
      </p:sp>
      <p:sp>
        <p:nvSpPr>
          <p:cNvPr id="34" name="Rounded Rectangle 33"/>
          <p:cNvSpPr/>
          <p:nvPr/>
        </p:nvSpPr>
        <p:spPr>
          <a:xfrm>
            <a:off x="9272016" y="2578608"/>
            <a:ext cx="2029968" cy="17556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72016" y="2578608"/>
            <a:ext cx="2029968" cy="36576"/>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73184" y="2761488"/>
            <a:ext cx="1664208" cy="402336"/>
          </a:xfrm>
          <a:prstGeom prst="rect">
            <a:avLst/>
          </a:prstGeom>
          <a:noFill/>
        </p:spPr>
        <p:txBody>
          <a:bodyPr wrap="square" lIns="0" rIns="0" tIns="0" bIns="0" anchor="t">
            <a:spAutoFit/>
          </a:bodyPr>
          <a:lstStyle/>
          <a:p>
            <a:pPr algn="l">
              <a:lnSpc>
                <a:spcPct val="128000"/>
              </a:lnSpc>
            </a:pPr>
            <a:r>
              <a:rPr sz="2000" b="0" i="0">
                <a:solidFill>
                  <a:srgbClr val="EAEEF7"/>
                </a:solidFill>
                <a:latin typeface="Georgia"/>
              </a:rPr>
              <a:t>×  ACV</a:t>
            </a:r>
          </a:p>
        </p:txBody>
      </p:sp>
      <p:sp>
        <p:nvSpPr>
          <p:cNvPr id="37" name="TextBox 36"/>
          <p:cNvSpPr txBox="1"/>
          <p:nvPr/>
        </p:nvSpPr>
        <p:spPr>
          <a:xfrm>
            <a:off x="9473184" y="3218688"/>
            <a:ext cx="1664208" cy="475488"/>
          </a:xfrm>
          <a:prstGeom prst="rect">
            <a:avLst/>
          </a:prstGeom>
          <a:noFill/>
        </p:spPr>
        <p:txBody>
          <a:bodyPr wrap="square" lIns="0" rIns="0" tIns="0" bIns="0" anchor="t">
            <a:spAutoFit/>
          </a:bodyPr>
          <a:lstStyle/>
          <a:p>
            <a:pPr algn="l">
              <a:lnSpc>
                <a:spcPct val="130000"/>
              </a:lnSpc>
            </a:pPr>
            <a:r>
              <a:rPr sz="1000" b="1" i="0">
                <a:solidFill>
                  <a:srgbClr val="EAEEF7"/>
                </a:solidFill>
                <a:latin typeface="Segoe UI"/>
              </a:rPr>
              <a:t>annual contract value</a:t>
            </a:r>
          </a:p>
        </p:txBody>
      </p:sp>
      <p:sp>
        <p:nvSpPr>
          <p:cNvPr id="38" name="TextBox 37"/>
          <p:cNvSpPr txBox="1"/>
          <p:nvPr/>
        </p:nvSpPr>
        <p:spPr>
          <a:xfrm>
            <a:off x="9473184" y="3749039"/>
            <a:ext cx="1664208" cy="402336"/>
          </a:xfrm>
          <a:prstGeom prst="rect">
            <a:avLst/>
          </a:prstGeom>
          <a:noFill/>
        </p:spPr>
        <p:txBody>
          <a:bodyPr wrap="square" lIns="0" rIns="0" tIns="0" bIns="0" anchor="t">
            <a:spAutoFit/>
          </a:bodyPr>
          <a:lstStyle/>
          <a:p>
            <a:pPr algn="l">
              <a:lnSpc>
                <a:spcPct val="130000"/>
              </a:lnSpc>
            </a:pPr>
            <a:r>
              <a:rPr sz="850" b="0" i="0">
                <a:solidFill>
                  <a:srgbClr val="6E7A94"/>
                </a:solidFill>
                <a:latin typeface="Segoe UI"/>
              </a:rPr>
              <a:t>see Business model</a:t>
            </a:r>
          </a:p>
        </p:txBody>
      </p:sp>
      <p:sp>
        <p:nvSpPr>
          <p:cNvPr id="39" name="TextBox 38"/>
          <p:cNvSpPr txBox="1"/>
          <p:nvPr/>
        </p:nvSpPr>
        <p:spPr>
          <a:xfrm>
            <a:off x="9473184" y="4114800"/>
            <a:ext cx="1664208" cy="182880"/>
          </a:xfrm>
          <a:prstGeom prst="rect">
            <a:avLst/>
          </a:prstGeom>
          <a:noFill/>
        </p:spPr>
        <p:txBody>
          <a:bodyPr wrap="square" lIns="0" rIns="0" tIns="0" bIns="0" anchor="t">
            <a:spAutoFit/>
          </a:bodyPr>
          <a:lstStyle/>
          <a:p>
            <a:pPr algn="l">
              <a:lnSpc>
                <a:spcPct val="128000"/>
              </a:lnSpc>
            </a:pPr>
            <a:r>
              <a:rPr sz="750" b="1" i="0" spc="160">
                <a:solidFill>
                  <a:srgbClr val="E0955E"/>
                </a:solidFill>
                <a:latin typeface="Segoe UI"/>
              </a:rPr>
              <a:t>ASSUMED</a:t>
            </a:r>
          </a:p>
        </p:txBody>
      </p:sp>
      <p:sp>
        <p:nvSpPr>
          <p:cNvPr id="40" name="Rectangle 39"/>
          <p:cNvSpPr/>
          <p:nvPr/>
        </p:nvSpPr>
        <p:spPr>
          <a:xfrm>
            <a:off x="786384" y="4498848"/>
            <a:ext cx="10607040" cy="36576"/>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6384" y="4805172"/>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60704" y="4700016"/>
            <a:ext cx="49834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Where the firms form.  </a:t>
            </a:r>
            <a:r>
              <a:rPr sz="1050" b="0" i="0">
                <a:solidFill>
                  <a:srgbClr val="A6B2CA"/>
                </a:solidFill>
                <a:latin typeface="Segoe UI"/>
              </a:rPr>
              <a:t>35.2% of new SME registrations in Q2 2025 (28,181) were in Riyadh Province, ahead of Makkah at 18.1% and the Eastern Region at 16.2%. 259,000 new commercial registrations were issued Kingdom-wide in 2025.</a:t>
            </a:r>
          </a:p>
        </p:txBody>
      </p:sp>
      <p:sp>
        <p:nvSpPr>
          <p:cNvPr id="43" name="Rectangle 42"/>
          <p:cNvSpPr/>
          <p:nvPr/>
        </p:nvSpPr>
        <p:spPr>
          <a:xfrm>
            <a:off x="6364224" y="4805172"/>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38544" y="4700016"/>
            <a:ext cx="4754880" cy="822960"/>
          </a:xfrm>
          <a:prstGeom prst="rect">
            <a:avLst/>
          </a:prstGeom>
          <a:noFill/>
        </p:spPr>
        <p:txBody>
          <a:bodyPr wrap="square" lIns="0" rIns="0" tIns="0" bIns="0" anchor="t">
            <a:spAutoFit/>
          </a:bodyPr>
          <a:lstStyle/>
          <a:p>
            <a:pPr algn="l">
              <a:lnSpc>
                <a:spcPct val="145000"/>
              </a:lnSpc>
            </a:pPr>
            <a:r>
              <a:rPr sz="1050" b="1" i="0">
                <a:solidFill>
                  <a:srgbClr val="EAEEF7"/>
                </a:solidFill>
                <a:latin typeface="Segoe UI"/>
              </a:rPr>
              <a:t>The enterprise tier is compounding, and the budget exists.  </a:t>
            </a:r>
            <a:r>
              <a:rPr sz="1050" b="0" i="0">
                <a:solidFill>
                  <a:srgbClr val="A6B2CA"/>
                </a:solidFill>
                <a:latin typeface="Segoe UI"/>
              </a:rPr>
              <a:t>MISA issued 15,728 investment licences in the first nine months of 2025 against 14,320 for all of 2024. MENA IT spending is forecast at $169bn in 2026 (+8.9%), software at $20.4bn (+13.9%).</a:t>
            </a:r>
          </a:p>
        </p:txBody>
      </p:sp>
      <p:sp>
        <p:nvSpPr>
          <p:cNvPr id="45" name="TextBox 44"/>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Saudi Ministry of Commerce · Monsha'at SME Monitor Q2-2025 · Vision 2030 Annual Report 2025 · MISA Economic and Investment Monitor Q3 2025 · Gartner, 4 Aug 2025. Note: software is not the fastest-growing MENA IT segment — data centre systems is, at +37.3%.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15</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COMPETITION &amp; ALTERNATIVES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Our real competitor is a spreadsheet and an emailed PDF. The software
competitors are genuinely better at partner marketing — and are consolidating
into one commerce platform that structurally cannot be neutral.</a:t>
            </a:r>
          </a:p>
        </p:txBody>
      </p:sp>
      <p:sp>
        <p:nvSpPr>
          <p:cNvPr id="10" name="Rounded Rectangle 9"/>
          <p:cNvSpPr/>
          <p:nvPr/>
        </p:nvSpPr>
        <p:spPr>
          <a:xfrm>
            <a:off x="786384" y="2606040"/>
            <a:ext cx="5806440" cy="2880360"/>
          </a:xfrm>
          <a:prstGeom prst="roundRect">
            <a:avLst>
              <a:gd name="adj" fmla="val 2000"/>
            </a:avLst>
          </a:prstGeom>
          <a:solidFill>
            <a:srgbClr val="0D1528"/>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89604" y="2606040"/>
            <a:ext cx="10972" cy="2880360"/>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 y="4046220"/>
            <a:ext cx="580644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5577840"/>
            <a:ext cx="5806440" cy="237744"/>
          </a:xfrm>
          <a:prstGeom prst="rect">
            <a:avLst/>
          </a:prstGeom>
          <a:noFill/>
        </p:spPr>
        <p:txBody>
          <a:bodyPr wrap="square" lIns="0" rIns="0" tIns="0" bIns="0" anchor="t">
            <a:spAutoFit/>
          </a:bodyPr>
          <a:lstStyle/>
          <a:p>
            <a:pPr algn="ctr">
              <a:lnSpc>
                <a:spcPct val="128000"/>
              </a:lnSpc>
            </a:pPr>
            <a:r>
              <a:rPr sz="850" b="0" i="0">
                <a:solidFill>
                  <a:srgbClr val="48526E"/>
                </a:solidFill>
                <a:latin typeface="Segoe UI"/>
              </a:rPr>
              <a:t>single-sided record            →            bilateral record of record</a:t>
            </a:r>
          </a:p>
        </p:txBody>
      </p:sp>
      <p:sp>
        <p:nvSpPr>
          <p:cNvPr id="14" name="TextBox 13"/>
          <p:cNvSpPr txBox="1"/>
          <p:nvPr/>
        </p:nvSpPr>
        <p:spPr>
          <a:xfrm>
            <a:off x="73151" y="3909059"/>
            <a:ext cx="658368" cy="457200"/>
          </a:xfrm>
          <a:prstGeom prst="rect">
            <a:avLst/>
          </a:prstGeom>
          <a:noFill/>
        </p:spPr>
        <p:txBody>
          <a:bodyPr wrap="square" lIns="0" rIns="0" tIns="0" bIns="0" anchor="t">
            <a:spAutoFit/>
          </a:bodyPr>
          <a:lstStyle/>
          <a:p>
            <a:pPr algn="r">
              <a:lnSpc>
                <a:spcPct val="130000"/>
              </a:lnSpc>
            </a:pPr>
            <a:r>
              <a:rPr sz="850" b="0" i="0">
                <a:solidFill>
                  <a:srgbClr val="48526E"/>
                </a:solidFill>
                <a:latin typeface="Segoe UI"/>
              </a:rPr>
              <a:t>generic
↑ localised</a:t>
            </a:r>
          </a:p>
        </p:txBody>
      </p:sp>
      <p:sp>
        <p:nvSpPr>
          <p:cNvPr id="15" name="Rectangle 14"/>
          <p:cNvSpPr/>
          <p:nvPr/>
        </p:nvSpPr>
        <p:spPr>
          <a:xfrm>
            <a:off x="1170432" y="5111496"/>
            <a:ext cx="118872" cy="11887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3312" y="5029200"/>
            <a:ext cx="2651760" cy="256032"/>
          </a:xfrm>
          <a:prstGeom prst="rect">
            <a:avLst/>
          </a:prstGeom>
          <a:noFill/>
        </p:spPr>
        <p:txBody>
          <a:bodyPr wrap="square" lIns="0" rIns="0" tIns="0" bIns="0" anchor="t">
            <a:spAutoFit/>
          </a:bodyPr>
          <a:lstStyle/>
          <a:p>
            <a:pPr algn="l">
              <a:lnSpc>
                <a:spcPct val="128000"/>
              </a:lnSpc>
            </a:pPr>
            <a:r>
              <a:rPr sz="1050" b="1" i="0">
                <a:solidFill>
                  <a:srgbClr val="EAEEF7"/>
                </a:solidFill>
                <a:latin typeface="Segoe UI"/>
              </a:rPr>
              <a:t>The spreadsheet</a:t>
            </a:r>
          </a:p>
        </p:txBody>
      </p:sp>
      <p:sp>
        <p:nvSpPr>
          <p:cNvPr id="17" name="TextBox 16"/>
          <p:cNvSpPr txBox="1"/>
          <p:nvPr/>
        </p:nvSpPr>
        <p:spPr>
          <a:xfrm>
            <a:off x="1353312" y="5239512"/>
            <a:ext cx="2651760" cy="237744"/>
          </a:xfrm>
          <a:prstGeom prst="rect">
            <a:avLst/>
          </a:prstGeom>
          <a:noFill/>
        </p:spPr>
        <p:txBody>
          <a:bodyPr wrap="square" lIns="0" rIns="0" tIns="0" bIns="0" anchor="t">
            <a:spAutoFit/>
          </a:bodyPr>
          <a:lstStyle/>
          <a:p>
            <a:pPr algn="l">
              <a:lnSpc>
                <a:spcPct val="128000"/>
              </a:lnSpc>
            </a:pPr>
            <a:r>
              <a:rPr sz="800" b="0" i="0">
                <a:solidFill>
                  <a:srgbClr val="48526E"/>
                </a:solidFill>
                <a:latin typeface="Segoe UI"/>
              </a:rPr>
              <a:t>the incumbent — what we actually lose to</a:t>
            </a:r>
          </a:p>
        </p:txBody>
      </p:sp>
      <p:sp>
        <p:nvSpPr>
          <p:cNvPr id="18" name="Rectangle 17"/>
          <p:cNvSpPr/>
          <p:nvPr/>
        </p:nvSpPr>
        <p:spPr>
          <a:xfrm>
            <a:off x="1170432" y="4178808"/>
            <a:ext cx="77724" cy="77724"/>
          </a:xfrm>
          <a:prstGeom prst="rect">
            <a:avLst/>
          </a:prstGeom>
          <a:solidFill>
            <a:srgbClr val="A6B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3312" y="4096512"/>
            <a:ext cx="2651760" cy="256032"/>
          </a:xfrm>
          <a:prstGeom prst="rect">
            <a:avLst/>
          </a:prstGeom>
          <a:noFill/>
        </p:spPr>
        <p:txBody>
          <a:bodyPr wrap="square" lIns="0" rIns="0" tIns="0" bIns="0" anchor="t">
            <a:spAutoFit/>
          </a:bodyPr>
          <a:lstStyle/>
          <a:p>
            <a:pPr algn="l">
              <a:lnSpc>
                <a:spcPct val="128000"/>
              </a:lnSpc>
            </a:pPr>
            <a:r>
              <a:rPr sz="1050" b="0" i="0">
                <a:solidFill>
                  <a:srgbClr val="A6B2CA"/>
                </a:solidFill>
                <a:latin typeface="Segoe UI"/>
              </a:rPr>
              <a:t>PartnerStack · Impartner</a:t>
            </a:r>
          </a:p>
        </p:txBody>
      </p:sp>
      <p:sp>
        <p:nvSpPr>
          <p:cNvPr id="20" name="TextBox 19"/>
          <p:cNvSpPr txBox="1"/>
          <p:nvPr/>
        </p:nvSpPr>
        <p:spPr>
          <a:xfrm>
            <a:off x="1353312" y="4306824"/>
            <a:ext cx="2651760" cy="237744"/>
          </a:xfrm>
          <a:prstGeom prst="rect">
            <a:avLst/>
          </a:prstGeom>
          <a:noFill/>
        </p:spPr>
        <p:txBody>
          <a:bodyPr wrap="square" lIns="0" rIns="0" tIns="0" bIns="0" anchor="t">
            <a:spAutoFit/>
          </a:bodyPr>
          <a:lstStyle/>
          <a:p>
            <a:pPr algn="l">
              <a:lnSpc>
                <a:spcPct val="128000"/>
              </a:lnSpc>
            </a:pPr>
            <a:r>
              <a:rPr sz="800" b="0" i="0">
                <a:solidFill>
                  <a:srgbClr val="48526E"/>
                </a:solidFill>
                <a:latin typeface="Segoe UI"/>
              </a:rPr>
              <a:t>better at recruitment &amp; marketing</a:t>
            </a:r>
          </a:p>
        </p:txBody>
      </p:sp>
      <p:sp>
        <p:nvSpPr>
          <p:cNvPr id="21" name="Rectangle 20"/>
          <p:cNvSpPr/>
          <p:nvPr/>
        </p:nvSpPr>
        <p:spPr>
          <a:xfrm>
            <a:off x="1170432" y="4654296"/>
            <a:ext cx="77724" cy="77724"/>
          </a:xfrm>
          <a:prstGeom prst="rect">
            <a:avLst/>
          </a:prstGeom>
          <a:solidFill>
            <a:srgbClr val="A6B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3312" y="4572000"/>
            <a:ext cx="2651760" cy="256032"/>
          </a:xfrm>
          <a:prstGeom prst="rect">
            <a:avLst/>
          </a:prstGeom>
          <a:noFill/>
        </p:spPr>
        <p:txBody>
          <a:bodyPr wrap="square" lIns="0" rIns="0" tIns="0" bIns="0" anchor="t">
            <a:spAutoFit/>
          </a:bodyPr>
          <a:lstStyle/>
          <a:p>
            <a:pPr algn="l">
              <a:lnSpc>
                <a:spcPct val="128000"/>
              </a:lnSpc>
            </a:pPr>
            <a:r>
              <a:rPr sz="1050" b="0" i="0">
                <a:solidFill>
                  <a:srgbClr val="A6B2CA"/>
                </a:solidFill>
                <a:latin typeface="Segoe UI"/>
              </a:rPr>
              <a:t>Crossbeam</a:t>
            </a:r>
          </a:p>
        </p:txBody>
      </p:sp>
      <p:sp>
        <p:nvSpPr>
          <p:cNvPr id="23" name="TextBox 22"/>
          <p:cNvSpPr txBox="1"/>
          <p:nvPr/>
        </p:nvSpPr>
        <p:spPr>
          <a:xfrm>
            <a:off x="1353312" y="4782312"/>
            <a:ext cx="2651760" cy="237744"/>
          </a:xfrm>
          <a:prstGeom prst="rect">
            <a:avLst/>
          </a:prstGeom>
          <a:noFill/>
        </p:spPr>
        <p:txBody>
          <a:bodyPr wrap="square" lIns="0" rIns="0" tIns="0" bIns="0" anchor="t">
            <a:spAutoFit/>
          </a:bodyPr>
          <a:lstStyle/>
          <a:p>
            <a:pPr algn="l">
              <a:lnSpc>
                <a:spcPct val="128000"/>
              </a:lnSpc>
            </a:pPr>
            <a:r>
              <a:rPr sz="800" b="0" i="0">
                <a:solidFill>
                  <a:srgbClr val="48526E"/>
                </a:solidFill>
                <a:latin typeface="Segoe UI"/>
              </a:rPr>
              <a:t>explicitly does not touch money</a:t>
            </a:r>
          </a:p>
        </p:txBody>
      </p:sp>
      <p:sp>
        <p:nvSpPr>
          <p:cNvPr id="24" name="Rectangle 23"/>
          <p:cNvSpPr/>
          <p:nvPr/>
        </p:nvSpPr>
        <p:spPr>
          <a:xfrm>
            <a:off x="3895344" y="4178808"/>
            <a:ext cx="77724" cy="77724"/>
          </a:xfrm>
          <a:prstGeom prst="rect">
            <a:avLst/>
          </a:prstGeom>
          <a:solidFill>
            <a:srgbClr val="A6B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78224" y="4096512"/>
            <a:ext cx="2651760" cy="256032"/>
          </a:xfrm>
          <a:prstGeom prst="rect">
            <a:avLst/>
          </a:prstGeom>
          <a:noFill/>
        </p:spPr>
        <p:txBody>
          <a:bodyPr wrap="square" lIns="0" rIns="0" tIns="0" bIns="0" anchor="t">
            <a:spAutoFit/>
          </a:bodyPr>
          <a:lstStyle/>
          <a:p>
            <a:pPr algn="l">
              <a:lnSpc>
                <a:spcPct val="128000"/>
              </a:lnSpc>
            </a:pPr>
            <a:r>
              <a:rPr sz="1050" b="0" i="0">
                <a:solidFill>
                  <a:srgbClr val="A6B2CA"/>
                </a:solidFill>
                <a:latin typeface="Segoe UI"/>
              </a:rPr>
              <a:t>AppDirect</a:t>
            </a:r>
          </a:p>
        </p:txBody>
      </p:sp>
      <p:sp>
        <p:nvSpPr>
          <p:cNvPr id="26" name="TextBox 25"/>
          <p:cNvSpPr txBox="1"/>
          <p:nvPr/>
        </p:nvSpPr>
        <p:spPr>
          <a:xfrm>
            <a:off x="4078224" y="4306824"/>
            <a:ext cx="2651760" cy="237744"/>
          </a:xfrm>
          <a:prstGeom prst="rect">
            <a:avLst/>
          </a:prstGeom>
          <a:noFill/>
        </p:spPr>
        <p:txBody>
          <a:bodyPr wrap="square" lIns="0" rIns="0" tIns="0" bIns="0" anchor="t">
            <a:spAutoFit/>
          </a:bodyPr>
          <a:lstStyle/>
          <a:p>
            <a:pPr algn="l">
              <a:lnSpc>
                <a:spcPct val="128000"/>
              </a:lnSpc>
            </a:pPr>
            <a:r>
              <a:rPr sz="800" b="0" i="0">
                <a:solidFill>
                  <a:srgbClr val="48526E"/>
                </a:solidFill>
                <a:latin typeface="Segoe UI"/>
              </a:rPr>
              <a:t>closest on capability — non-neutral</a:t>
            </a:r>
          </a:p>
        </p:txBody>
      </p:sp>
      <p:sp>
        <p:nvSpPr>
          <p:cNvPr id="27" name="Rectangle 26"/>
          <p:cNvSpPr/>
          <p:nvPr/>
        </p:nvSpPr>
        <p:spPr>
          <a:xfrm>
            <a:off x="3895344" y="3172968"/>
            <a:ext cx="118872" cy="118872"/>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8224" y="3090672"/>
            <a:ext cx="2651760" cy="256032"/>
          </a:xfrm>
          <a:prstGeom prst="rect">
            <a:avLst/>
          </a:prstGeom>
          <a:noFill/>
        </p:spPr>
        <p:txBody>
          <a:bodyPr wrap="square" lIns="0" rIns="0" tIns="0" bIns="0" anchor="t">
            <a:spAutoFit/>
          </a:bodyPr>
          <a:lstStyle/>
          <a:p>
            <a:pPr algn="l">
              <a:lnSpc>
                <a:spcPct val="128000"/>
              </a:lnSpc>
            </a:pPr>
            <a:r>
              <a:rPr sz="1050" b="1" i="0">
                <a:solidFill>
                  <a:srgbClr val="EAEEF7"/>
                </a:solidFill>
                <a:latin typeface="Segoe UI"/>
              </a:rPr>
              <a:t>Reven</a:t>
            </a:r>
          </a:p>
        </p:txBody>
      </p:sp>
      <p:sp>
        <p:nvSpPr>
          <p:cNvPr id="29" name="TextBox 28"/>
          <p:cNvSpPr txBox="1"/>
          <p:nvPr/>
        </p:nvSpPr>
        <p:spPr>
          <a:xfrm>
            <a:off x="4078224" y="3300984"/>
            <a:ext cx="2651760" cy="237744"/>
          </a:xfrm>
          <a:prstGeom prst="rect">
            <a:avLst/>
          </a:prstGeom>
          <a:noFill/>
        </p:spPr>
        <p:txBody>
          <a:bodyPr wrap="square" lIns="0" rIns="0" tIns="0" bIns="0" anchor="t">
            <a:spAutoFit/>
          </a:bodyPr>
          <a:lstStyle/>
          <a:p>
            <a:pPr algn="l">
              <a:lnSpc>
                <a:spcPct val="128000"/>
              </a:lnSpc>
            </a:pPr>
            <a:r>
              <a:rPr sz="800" b="0" i="0">
                <a:solidFill>
                  <a:srgbClr val="48526E"/>
                </a:solidFill>
                <a:latin typeface="Segoe UI"/>
              </a:rPr>
              <a:t>bilateral · ZATCA/WHT localised</a:t>
            </a:r>
          </a:p>
        </p:txBody>
      </p:sp>
      <p:sp>
        <p:nvSpPr>
          <p:cNvPr id="30" name="Rounded Rectangle 29"/>
          <p:cNvSpPr/>
          <p:nvPr/>
        </p:nvSpPr>
        <p:spPr>
          <a:xfrm>
            <a:off x="6995160" y="2606040"/>
            <a:ext cx="4407408" cy="129844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51192" y="2779776"/>
            <a:ext cx="3931920" cy="274320"/>
          </a:xfrm>
          <a:prstGeom prst="rect">
            <a:avLst/>
          </a:prstGeom>
          <a:noFill/>
        </p:spPr>
        <p:txBody>
          <a:bodyPr wrap="square" lIns="0" rIns="0" tIns="0" bIns="0" anchor="t">
            <a:spAutoFit/>
          </a:bodyPr>
          <a:lstStyle/>
          <a:p>
            <a:pPr algn="l">
              <a:lnSpc>
                <a:spcPct val="128000"/>
              </a:lnSpc>
            </a:pPr>
            <a:r>
              <a:rPr sz="1100" b="1" i="0">
                <a:solidFill>
                  <a:srgbClr val="86A2FF"/>
                </a:solidFill>
                <a:latin typeface="Segoe UI"/>
              </a:rPr>
              <a:t>What we concede, in writing</a:t>
            </a:r>
          </a:p>
        </p:txBody>
      </p:sp>
      <p:sp>
        <p:nvSpPr>
          <p:cNvPr id="32" name="TextBox 31"/>
          <p:cNvSpPr txBox="1"/>
          <p:nvPr/>
        </p:nvSpPr>
        <p:spPr>
          <a:xfrm>
            <a:off x="7251192" y="3072384"/>
            <a:ext cx="3913632" cy="749808"/>
          </a:xfrm>
          <a:prstGeom prst="rect">
            <a:avLst/>
          </a:prstGeom>
          <a:noFill/>
        </p:spPr>
        <p:txBody>
          <a:bodyPr wrap="square" lIns="0" rIns="0" tIns="0" bIns="0" anchor="t">
            <a:spAutoFit/>
          </a:bodyPr>
          <a:lstStyle/>
          <a:p>
            <a:pPr algn="l">
              <a:lnSpc>
                <a:spcPct val="140000"/>
              </a:lnSpc>
            </a:pPr>
            <a:r>
              <a:rPr sz="950" b="0" i="0">
                <a:solidFill>
                  <a:srgbClr val="A6B2CA"/>
                </a:solidFill>
                <a:latin typeface="Segoe UI"/>
              </a:rPr>
              <a:t>PartnerStack, Impartner and Crossbeam are better than us at partner recruitment, partner marketing and ecosystem data, and will be for years. We do not compete on breadth of front-office tooling.</a:t>
            </a:r>
          </a:p>
        </p:txBody>
      </p:sp>
      <p:sp>
        <p:nvSpPr>
          <p:cNvPr id="33" name="Rounded Rectangle 32"/>
          <p:cNvSpPr/>
          <p:nvPr/>
        </p:nvSpPr>
        <p:spPr>
          <a:xfrm>
            <a:off x="6995160" y="4041648"/>
            <a:ext cx="4407408" cy="1481328"/>
          </a:xfrm>
          <a:prstGeom prst="roundRect">
            <a:avLst>
              <a:gd name="adj" fmla="val 4000"/>
            </a:avLst>
          </a:prstGeom>
          <a:solidFill>
            <a:srgbClr val="141B30"/>
          </a:solidFill>
          <a:ln w="12700">
            <a:solidFill>
              <a:srgbClr val="2A5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51192" y="4206240"/>
            <a:ext cx="3950208" cy="274320"/>
          </a:xfrm>
          <a:prstGeom prst="rect">
            <a:avLst/>
          </a:prstGeom>
          <a:noFill/>
        </p:spPr>
        <p:txBody>
          <a:bodyPr wrap="square" lIns="0" rIns="0" tIns="0" bIns="0" anchor="t">
            <a:spAutoFit/>
          </a:bodyPr>
          <a:lstStyle/>
          <a:p>
            <a:pPr algn="l">
              <a:lnSpc>
                <a:spcPct val="128000"/>
              </a:lnSpc>
            </a:pPr>
            <a:r>
              <a:rPr sz="1100" b="1" i="0">
                <a:solidFill>
                  <a:srgbClr val="86A2FF"/>
                </a:solidFill>
                <a:latin typeface="Segoe UI"/>
              </a:rPr>
              <a:t>Neutrality is the thing they cannot buy</a:t>
            </a:r>
          </a:p>
        </p:txBody>
      </p:sp>
      <p:sp>
        <p:nvSpPr>
          <p:cNvPr id="35" name="TextBox 34"/>
          <p:cNvSpPr txBox="1"/>
          <p:nvPr/>
        </p:nvSpPr>
        <p:spPr>
          <a:xfrm>
            <a:off x="7251192" y="4498848"/>
            <a:ext cx="3913632" cy="914400"/>
          </a:xfrm>
          <a:prstGeom prst="rect">
            <a:avLst/>
          </a:prstGeom>
          <a:noFill/>
        </p:spPr>
        <p:txBody>
          <a:bodyPr wrap="square" lIns="0" rIns="0" tIns="0" bIns="0" anchor="t">
            <a:spAutoFit/>
          </a:bodyPr>
          <a:lstStyle/>
          <a:p>
            <a:pPr algn="l">
              <a:lnSpc>
                <a:spcPct val="138000"/>
              </a:lnSpc>
            </a:pPr>
            <a:r>
              <a:rPr sz="950" b="0" i="0">
                <a:solidFill>
                  <a:srgbClr val="A6B2CA"/>
                </a:solidFill>
                <a:latin typeface="Segoe UI"/>
              </a:rPr>
              <a:t>AppDirect acquired Tackle.io (Dec 2025) and PartnerStack (Apr 2026) — get-found, get-chosen, get-paid under one owner. It settles as the marketplace, taking a cut of the transaction it would be adjudicating. A party with an economic interest in the amount cannot be the record both counterparties trust.</a:t>
            </a:r>
          </a:p>
        </p:txBody>
      </p:sp>
      <p:sp>
        <p:nvSpPr>
          <p:cNvPr id="36" name="TextBox 35"/>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AppDirect / PartnerStack / BetaKit announcements (price reported at “upwards of $150m”, terms undisclosed) · Crossbeam–Reveal all-stock merger, Jun 2024 · vendor-published pricing: Crossbeam $4,800/yr + $1,800/seat, Supernode from $25,000/yr; Salesforce PRM $25/member/month or $10/login — both charge real money for products that never touch the money.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16</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BUSINESS MODEL</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500" b="0" i="0" spc="-40">
                <a:solidFill>
                  <a:srgbClr val="EAEEF7"/>
                </a:solidFill>
                <a:latin typeface="Georgia"/>
              </a:rPr>
              <a:t>We charge a subscription for the record and refuse a take rate on partner
money — and when the settlement layer ships, the flow fee is tens of basis
points, not percent.</a:t>
            </a:r>
          </a:p>
        </p:txBody>
      </p:sp>
      <p:sp>
        <p:nvSpPr>
          <p:cNvPr id="10" name="TextBox 9"/>
          <p:cNvSpPr txBox="1"/>
          <p:nvPr/>
        </p:nvSpPr>
        <p:spPr>
          <a:xfrm>
            <a:off x="786384" y="2487168"/>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01</a:t>
            </a:r>
          </a:p>
        </p:txBody>
      </p:sp>
      <p:sp>
        <p:nvSpPr>
          <p:cNvPr id="11" name="Rectangle 10"/>
          <p:cNvSpPr/>
          <p:nvPr/>
        </p:nvSpPr>
        <p:spPr>
          <a:xfrm>
            <a:off x="786384" y="2816352"/>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017520"/>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Pricing metric</a:t>
            </a:r>
          </a:p>
        </p:txBody>
      </p:sp>
      <p:sp>
        <p:nvSpPr>
          <p:cNvPr id="13" name="TextBox 12"/>
          <p:cNvSpPr txBox="1"/>
          <p:nvPr/>
        </p:nvSpPr>
        <p:spPr>
          <a:xfrm>
            <a:off x="786384" y="3694176"/>
            <a:ext cx="3429000" cy="11887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Active partner programmes, with unlimited internal seats — so price scales with the money governed, not with how many people look at it. [Founder-supplied: bands and ACV.]</a:t>
            </a:r>
          </a:p>
        </p:txBody>
      </p:sp>
      <p:sp>
        <p:nvSpPr>
          <p:cNvPr id="14" name="TextBox 13"/>
          <p:cNvSpPr txBox="1"/>
          <p:nvPr/>
        </p:nvSpPr>
        <p:spPr>
          <a:xfrm>
            <a:off x="4562856" y="2487168"/>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02</a:t>
            </a:r>
          </a:p>
        </p:txBody>
      </p:sp>
      <p:sp>
        <p:nvSpPr>
          <p:cNvPr id="15" name="Rectangle 14"/>
          <p:cNvSpPr/>
          <p:nvPr/>
        </p:nvSpPr>
        <p:spPr>
          <a:xfrm>
            <a:off x="4562856" y="2816352"/>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3017520"/>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What we refuse</a:t>
            </a:r>
          </a:p>
        </p:txBody>
      </p:sp>
      <p:sp>
        <p:nvSpPr>
          <p:cNvPr id="17" name="TextBox 16"/>
          <p:cNvSpPr txBox="1"/>
          <p:nvPr/>
        </p:nvSpPr>
        <p:spPr>
          <a:xfrm>
            <a:off x="4562856" y="3694176"/>
            <a:ext cx="3429000" cy="11887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A visible percentage of the partner's money. Incumbents that take one are described by their buyers as a tax on their own success. Refusing it early is the positioning, not a concession.</a:t>
            </a:r>
          </a:p>
        </p:txBody>
      </p:sp>
      <p:sp>
        <p:nvSpPr>
          <p:cNvPr id="18" name="TextBox 17"/>
          <p:cNvSpPr txBox="1"/>
          <p:nvPr/>
        </p:nvSpPr>
        <p:spPr>
          <a:xfrm>
            <a:off x="8339327" y="2487168"/>
            <a:ext cx="3429000" cy="365760"/>
          </a:xfrm>
          <a:prstGeom prst="rect">
            <a:avLst/>
          </a:prstGeom>
          <a:noFill/>
        </p:spPr>
        <p:txBody>
          <a:bodyPr wrap="square" lIns="0" rIns="0" tIns="0" bIns="0" anchor="t">
            <a:spAutoFit/>
          </a:bodyPr>
          <a:lstStyle/>
          <a:p>
            <a:pPr algn="l">
              <a:lnSpc>
                <a:spcPct val="128000"/>
              </a:lnSpc>
            </a:pPr>
            <a:r>
              <a:rPr sz="1100" b="1" i="0" spc="160">
                <a:solidFill>
                  <a:srgbClr val="2A5BF5"/>
                </a:solidFill>
                <a:latin typeface="Consolas"/>
              </a:rPr>
              <a:t>03</a:t>
            </a:r>
          </a:p>
        </p:txBody>
      </p:sp>
      <p:sp>
        <p:nvSpPr>
          <p:cNvPr id="19" name="Rectangle 18"/>
          <p:cNvSpPr/>
          <p:nvPr/>
        </p:nvSpPr>
        <p:spPr>
          <a:xfrm>
            <a:off x="8339327" y="2816352"/>
            <a:ext cx="3429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3017520"/>
            <a:ext cx="3429000" cy="548640"/>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The flow layer, later</a:t>
            </a:r>
          </a:p>
        </p:txBody>
      </p:sp>
      <p:sp>
        <p:nvSpPr>
          <p:cNvPr id="21" name="TextBox 20"/>
          <p:cNvSpPr txBox="1"/>
          <p:nvPr/>
        </p:nvSpPr>
        <p:spPr>
          <a:xfrm>
            <a:off x="8339327" y="3694176"/>
            <a:ext cx="3429000" cy="1188720"/>
          </a:xfrm>
          <a:prstGeom prst="rect">
            <a:avLst/>
          </a:prstGeom>
          <a:noFill/>
        </p:spPr>
        <p:txBody>
          <a:bodyPr wrap="square" lIns="0" rIns="0" tIns="0" bIns="0" anchor="t">
            <a:spAutoFit/>
          </a:bodyPr>
          <a:lstStyle/>
          <a:p>
            <a:pPr algn="l">
              <a:lnSpc>
                <a:spcPct val="148000"/>
              </a:lnSpc>
            </a:pPr>
            <a:r>
              <a:rPr sz="1050" b="0" i="0">
                <a:solidFill>
                  <a:srgbClr val="A6B2CA"/>
                </a:solidFill>
                <a:latin typeface="Segoe UI"/>
              </a:rPr>
              <a:t>A flat per-payout fee when Reven runs settlement; basis points on settled flow only at Phase 3 scale. Capped, fenced and reported separately.</a:t>
            </a:r>
          </a:p>
        </p:txBody>
      </p:sp>
      <p:sp>
        <p:nvSpPr>
          <p:cNvPr id="22" name="Rounded Rectangle 21"/>
          <p:cNvSpPr/>
          <p:nvPr/>
        </p:nvSpPr>
        <p:spPr>
          <a:xfrm>
            <a:off x="786384" y="4590288"/>
            <a:ext cx="10607040" cy="1225296"/>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4736592"/>
            <a:ext cx="100584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Why we model the flow layer on net, not gross</a:t>
            </a:r>
          </a:p>
        </p:txBody>
      </p:sp>
      <p:sp>
        <p:nvSpPr>
          <p:cNvPr id="24" name="TextBox 23"/>
          <p:cNvSpPr txBox="1"/>
          <p:nvPr/>
        </p:nvSpPr>
        <p:spPr>
          <a:xfrm>
            <a:off x="1060704" y="5029200"/>
            <a:ext cx="3200400" cy="219456"/>
          </a:xfrm>
          <a:prstGeom prst="rect">
            <a:avLst/>
          </a:prstGeom>
          <a:noFill/>
        </p:spPr>
        <p:txBody>
          <a:bodyPr wrap="square" lIns="0" rIns="0" tIns="0" bIns="0" anchor="t">
            <a:spAutoFit/>
          </a:bodyPr>
          <a:lstStyle/>
          <a:p>
            <a:pPr algn="l">
              <a:lnSpc>
                <a:spcPct val="128000"/>
              </a:lnSpc>
            </a:pPr>
            <a:r>
              <a:rPr sz="850" b="0" i="0">
                <a:solidFill>
                  <a:srgbClr val="A6B2CA"/>
                </a:solidFill>
                <a:latin typeface="Segoe UI"/>
              </a:rPr>
              <a:t>Toast FY2024 — gross take</a:t>
            </a:r>
          </a:p>
        </p:txBody>
      </p:sp>
      <p:sp>
        <p:nvSpPr>
          <p:cNvPr id="25" name="Rectangle 24"/>
          <p:cNvSpPr/>
          <p:nvPr/>
        </p:nvSpPr>
        <p:spPr>
          <a:xfrm>
            <a:off x="4352544" y="5061204"/>
            <a:ext cx="4754880" cy="123444"/>
          </a:xfrm>
          <a:prstGeom prst="rect">
            <a:avLst/>
          </a:prstGeom>
          <a:solidFill>
            <a:srgbClr val="48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2015" y="5020056"/>
            <a:ext cx="914400" cy="219456"/>
          </a:xfrm>
          <a:prstGeom prst="rect">
            <a:avLst/>
          </a:prstGeom>
          <a:noFill/>
        </p:spPr>
        <p:txBody>
          <a:bodyPr wrap="square" lIns="0" rIns="0" tIns="0" bIns="0" anchor="t">
            <a:spAutoFit/>
          </a:bodyPr>
          <a:lstStyle/>
          <a:p>
            <a:pPr algn="l">
              <a:lnSpc>
                <a:spcPct val="128000"/>
              </a:lnSpc>
            </a:pPr>
            <a:r>
              <a:rPr sz="950" b="1" i="0">
                <a:solidFill>
                  <a:srgbClr val="6E7A94"/>
                </a:solidFill>
                <a:latin typeface="Consolas"/>
              </a:rPr>
              <a:t>2.55%</a:t>
            </a:r>
          </a:p>
        </p:txBody>
      </p:sp>
      <p:sp>
        <p:nvSpPr>
          <p:cNvPr id="27" name="TextBox 26"/>
          <p:cNvSpPr txBox="1"/>
          <p:nvPr/>
        </p:nvSpPr>
        <p:spPr>
          <a:xfrm>
            <a:off x="1060704" y="5244084"/>
            <a:ext cx="3200400" cy="219456"/>
          </a:xfrm>
          <a:prstGeom prst="rect">
            <a:avLst/>
          </a:prstGeom>
          <a:noFill/>
        </p:spPr>
        <p:txBody>
          <a:bodyPr wrap="square" lIns="0" rIns="0" tIns="0" bIns="0" anchor="t">
            <a:spAutoFit/>
          </a:bodyPr>
          <a:lstStyle/>
          <a:p>
            <a:pPr algn="l">
              <a:lnSpc>
                <a:spcPct val="128000"/>
              </a:lnSpc>
            </a:pPr>
            <a:r>
              <a:rPr sz="850" b="0" i="0">
                <a:solidFill>
                  <a:srgbClr val="A6B2CA"/>
                </a:solidFill>
                <a:latin typeface="Segoe UI"/>
              </a:rPr>
              <a:t>Toast FY2024 — net take (21.7% margin)</a:t>
            </a:r>
          </a:p>
        </p:txBody>
      </p:sp>
      <p:sp>
        <p:nvSpPr>
          <p:cNvPr id="28" name="Rectangle 27"/>
          <p:cNvSpPr/>
          <p:nvPr/>
        </p:nvSpPr>
        <p:spPr>
          <a:xfrm>
            <a:off x="4352544" y="5276088"/>
            <a:ext cx="1027054" cy="123444"/>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72015" y="5234940"/>
            <a:ext cx="914400" cy="219456"/>
          </a:xfrm>
          <a:prstGeom prst="rect">
            <a:avLst/>
          </a:prstGeom>
          <a:noFill/>
        </p:spPr>
        <p:txBody>
          <a:bodyPr wrap="square" lIns="0" rIns="0" tIns="0" bIns="0" anchor="t">
            <a:spAutoFit/>
          </a:bodyPr>
          <a:lstStyle/>
          <a:p>
            <a:pPr algn="l">
              <a:lnSpc>
                <a:spcPct val="128000"/>
              </a:lnSpc>
            </a:pPr>
            <a:r>
              <a:rPr sz="950" b="1" i="0">
                <a:solidFill>
                  <a:srgbClr val="E0BE74"/>
                </a:solidFill>
                <a:latin typeface="Consolas"/>
              </a:rPr>
              <a:t>55 bps</a:t>
            </a:r>
          </a:p>
        </p:txBody>
      </p:sp>
      <p:sp>
        <p:nvSpPr>
          <p:cNvPr id="30" name="TextBox 29"/>
          <p:cNvSpPr txBox="1"/>
          <p:nvPr/>
        </p:nvSpPr>
        <p:spPr>
          <a:xfrm>
            <a:off x="1060704" y="5458968"/>
            <a:ext cx="3200400" cy="219456"/>
          </a:xfrm>
          <a:prstGeom prst="rect">
            <a:avLst/>
          </a:prstGeom>
          <a:noFill/>
        </p:spPr>
        <p:txBody>
          <a:bodyPr wrap="square" lIns="0" rIns="0" tIns="0" bIns="0" anchor="t">
            <a:spAutoFit/>
          </a:bodyPr>
          <a:lstStyle/>
          <a:p>
            <a:pPr algn="l">
              <a:lnSpc>
                <a:spcPct val="128000"/>
              </a:lnSpc>
            </a:pPr>
            <a:r>
              <a:rPr sz="850" b="0" i="0">
                <a:solidFill>
                  <a:srgbClr val="A6B2CA"/>
                </a:solidFill>
                <a:latin typeface="Segoe UI"/>
              </a:rPr>
              <a:t>ServiceTitan — payments take on GTV</a:t>
            </a:r>
          </a:p>
        </p:txBody>
      </p:sp>
      <p:sp>
        <p:nvSpPr>
          <p:cNvPr id="31" name="Rectangle 30"/>
          <p:cNvSpPr/>
          <p:nvPr/>
        </p:nvSpPr>
        <p:spPr>
          <a:xfrm>
            <a:off x="4352544" y="5490972"/>
            <a:ext cx="465978" cy="123444"/>
          </a:xfrm>
          <a:prstGeom prst="rect">
            <a:avLst/>
          </a:prstGeom>
          <a:solidFill>
            <a:srgbClr val="CBA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72015" y="5449824"/>
            <a:ext cx="914400" cy="219456"/>
          </a:xfrm>
          <a:prstGeom prst="rect">
            <a:avLst/>
          </a:prstGeom>
          <a:noFill/>
        </p:spPr>
        <p:txBody>
          <a:bodyPr wrap="square" lIns="0" rIns="0" tIns="0" bIns="0" anchor="t">
            <a:spAutoFit/>
          </a:bodyPr>
          <a:lstStyle/>
          <a:p>
            <a:pPr algn="l">
              <a:lnSpc>
                <a:spcPct val="128000"/>
              </a:lnSpc>
            </a:pPr>
            <a:r>
              <a:rPr sz="950" b="1" i="0">
                <a:solidFill>
                  <a:srgbClr val="E0BE74"/>
                </a:solidFill>
                <a:latin typeface="Consolas"/>
              </a:rPr>
              <a:t>25 bps</a:t>
            </a:r>
          </a:p>
        </p:txBody>
      </p:sp>
      <p:sp>
        <p:nvSpPr>
          <p:cNvPr id="33" name="TextBox 32"/>
          <p:cNvSpPr txBox="1"/>
          <p:nvPr/>
        </p:nvSpPr>
        <p:spPr>
          <a:xfrm>
            <a:off x="1060704" y="5673852"/>
            <a:ext cx="3200400" cy="219456"/>
          </a:xfrm>
          <a:prstGeom prst="rect">
            <a:avLst/>
          </a:prstGeom>
          <a:noFill/>
        </p:spPr>
        <p:txBody>
          <a:bodyPr wrap="square" lIns="0" rIns="0" tIns="0" bIns="0" anchor="t">
            <a:spAutoFit/>
          </a:bodyPr>
          <a:lstStyle/>
          <a:p>
            <a:pPr algn="l">
              <a:lnSpc>
                <a:spcPct val="128000"/>
              </a:lnSpc>
            </a:pPr>
            <a:r>
              <a:rPr sz="850" b="0" i="0">
                <a:solidFill>
                  <a:srgbClr val="A6B2CA"/>
                </a:solidFill>
                <a:latin typeface="Segoe UI"/>
              </a:rPr>
              <a:t>Stripe Billing — published rate</a:t>
            </a:r>
          </a:p>
        </p:txBody>
      </p:sp>
      <p:sp>
        <p:nvSpPr>
          <p:cNvPr id="34" name="Rectangle 33"/>
          <p:cNvSpPr/>
          <p:nvPr/>
        </p:nvSpPr>
        <p:spPr>
          <a:xfrm>
            <a:off x="4352544" y="5705856"/>
            <a:ext cx="1307592" cy="123444"/>
          </a:xfrm>
          <a:prstGeom prst="rect">
            <a:avLst/>
          </a:prstGeom>
          <a:solidFill>
            <a:srgbClr val="6E7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72015" y="5664708"/>
            <a:ext cx="914400" cy="219456"/>
          </a:xfrm>
          <a:prstGeom prst="rect">
            <a:avLst/>
          </a:prstGeom>
          <a:noFill/>
        </p:spPr>
        <p:txBody>
          <a:bodyPr wrap="square" lIns="0" rIns="0" tIns="0" bIns="0" anchor="t">
            <a:spAutoFit/>
          </a:bodyPr>
          <a:lstStyle/>
          <a:p>
            <a:pPr algn="l">
              <a:lnSpc>
                <a:spcPct val="128000"/>
              </a:lnSpc>
            </a:pPr>
            <a:r>
              <a:rPr sz="950" b="1" i="0">
                <a:solidFill>
                  <a:srgbClr val="6E7A94"/>
                </a:solidFill>
                <a:latin typeface="Consolas"/>
              </a:rPr>
              <a:t>0.70%</a:t>
            </a:r>
          </a:p>
        </p:txBody>
      </p:sp>
      <p:sp>
        <p:nvSpPr>
          <p:cNvPr id="36" name="TextBox 35"/>
          <p:cNvSpPr txBox="1"/>
          <p:nvPr/>
        </p:nvSpPr>
        <p:spPr>
          <a:xfrm>
            <a:off x="10341863" y="5065776"/>
            <a:ext cx="1783080" cy="640080"/>
          </a:xfrm>
          <a:prstGeom prst="rect">
            <a:avLst/>
          </a:prstGeom>
          <a:noFill/>
        </p:spPr>
        <p:txBody>
          <a:bodyPr wrap="square" lIns="0" rIns="0" tIns="0" bIns="0" anchor="t">
            <a:spAutoFit/>
          </a:bodyPr>
          <a:lstStyle/>
          <a:p>
            <a:pPr algn="l">
              <a:lnSpc>
                <a:spcPct val="130000"/>
              </a:lnSpc>
            </a:pPr>
            <a:r>
              <a:rPr sz="950" b="0" i="0">
                <a:solidFill>
                  <a:srgbClr val="EAEEF7"/>
                </a:solidFill>
                <a:latin typeface="Georgia"/>
              </a:rPr>
              <a:t>Model on net.
Present on gross profit.</a:t>
            </a:r>
          </a:p>
        </p:txBody>
      </p:sp>
      <p:sp>
        <p:nvSpPr>
          <p:cNvPr id="37" name="TextBox 36"/>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Toast FY2024 SEC filings ($4,053M fintech revenue, 21.7% gross margin, $159.1bn gross payment volume) · ServiceTitan S-1 · Stripe published pricing. Retention underwritten conservatively: median SaaS net revenue retention ~101% (Benchmarkit 2025); SaaS Capital reports 102% median for the $25–50k ACV band. Base case 100–105%, bull 115%, gross retention tracked as the floor.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17</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EVIDENCE  ·  IN PLACE OF TRACTION</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700" b="0" i="0" spc="-40">
                <a:solidFill>
                  <a:srgbClr val="EAEEF7"/>
                </a:solidFill>
                <a:latin typeface="Georgia"/>
              </a:rPr>
              <a:t>We have no revenue. We have [N] dated, countable, falsifiable pieces of
evidence that this is real — here they are.</a:t>
            </a:r>
          </a:p>
        </p:txBody>
      </p:sp>
      <p:sp>
        <p:nvSpPr>
          <p:cNvPr id="10" name="Rectangle 9"/>
          <p:cNvSpPr/>
          <p:nvPr/>
        </p:nvSpPr>
        <p:spPr>
          <a:xfrm>
            <a:off x="786384" y="2779776"/>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670048"/>
            <a:ext cx="2514600" cy="274320"/>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Design partners</a:t>
            </a:r>
          </a:p>
        </p:txBody>
      </p:sp>
      <p:sp>
        <p:nvSpPr>
          <p:cNvPr id="12" name="TextBox 11"/>
          <p:cNvSpPr txBox="1"/>
          <p:nvPr/>
        </p:nvSpPr>
        <p:spPr>
          <a:xfrm>
            <a:off x="3666744" y="2651760"/>
            <a:ext cx="6537960" cy="512064"/>
          </a:xfrm>
          <a:prstGeom prst="rect">
            <a:avLst/>
          </a:prstGeom>
          <a:noFill/>
        </p:spPr>
        <p:txBody>
          <a:bodyPr wrap="square" lIns="0" rIns="0" tIns="0" bIns="0" anchor="t">
            <a:spAutoFit/>
          </a:bodyPr>
          <a:lstStyle/>
          <a:p>
            <a:pPr algn="l">
              <a:lnSpc>
                <a:spcPct val="138000"/>
              </a:lnSpc>
            </a:pPr>
            <a:r>
              <a:rPr sz="1000" b="0" i="0">
                <a:solidFill>
                  <a:srgbClr val="A6B2CA"/>
                </a:solidFill>
                <a:latin typeface="Segoe UI"/>
              </a:rPr>
              <a:t>[N] named, or described precisely enough to check — sector, size, ZATCA wave, and the role of the person who signed</a:t>
            </a:r>
          </a:p>
        </p:txBody>
      </p:sp>
      <p:sp>
        <p:nvSpPr>
          <p:cNvPr id="13" name="TextBox 12"/>
          <p:cNvSpPr txBox="1"/>
          <p:nvPr/>
        </p:nvSpPr>
        <p:spPr>
          <a:xfrm>
            <a:off x="10433304" y="2670048"/>
            <a:ext cx="960120" cy="274320"/>
          </a:xfrm>
          <a:prstGeom prst="rect">
            <a:avLst/>
          </a:prstGeom>
          <a:noFill/>
        </p:spPr>
        <p:txBody>
          <a:bodyPr wrap="square" lIns="0" rIns="0" tIns="0" bIns="0" anchor="t">
            <a:spAutoFit/>
          </a:bodyPr>
          <a:lstStyle/>
          <a:p>
            <a:pPr algn="r">
              <a:lnSpc>
                <a:spcPct val="128000"/>
              </a:lnSpc>
            </a:pPr>
            <a:r>
              <a:rPr sz="950" b="0" i="0">
                <a:solidFill>
                  <a:srgbClr val="6E7A94"/>
                </a:solidFill>
                <a:latin typeface="Consolas"/>
              </a:rPr>
              <a:t>[date]</a:t>
            </a:r>
          </a:p>
        </p:txBody>
      </p:sp>
      <p:sp>
        <p:nvSpPr>
          <p:cNvPr id="14" name="Rectangle 13"/>
          <p:cNvSpPr/>
          <p:nvPr/>
        </p:nvSpPr>
        <p:spPr>
          <a:xfrm>
            <a:off x="786384" y="3236976"/>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 y="3474720"/>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64991"/>
            <a:ext cx="2514600" cy="274320"/>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Signed LOIs / paid pilots</a:t>
            </a:r>
          </a:p>
        </p:txBody>
      </p:sp>
      <p:sp>
        <p:nvSpPr>
          <p:cNvPr id="17" name="TextBox 16"/>
          <p:cNvSpPr txBox="1"/>
          <p:nvPr/>
        </p:nvSpPr>
        <p:spPr>
          <a:xfrm>
            <a:off x="3666744" y="3346703"/>
            <a:ext cx="6537960" cy="512064"/>
          </a:xfrm>
          <a:prstGeom prst="rect">
            <a:avLst/>
          </a:prstGeom>
          <a:noFill/>
        </p:spPr>
        <p:txBody>
          <a:bodyPr wrap="square" lIns="0" rIns="0" tIns="0" bIns="0" anchor="t">
            <a:spAutoFit/>
          </a:bodyPr>
          <a:lstStyle/>
          <a:p>
            <a:pPr algn="l">
              <a:lnSpc>
                <a:spcPct val="138000"/>
              </a:lnSpc>
            </a:pPr>
            <a:r>
              <a:rPr sz="1000" b="0" i="0">
                <a:solidFill>
                  <a:srgbClr val="A6B2CA"/>
                </a:solidFill>
                <a:latin typeface="Segoe UI"/>
              </a:rPr>
              <a:t>[N] — priced, not free. Structured, priced proofs-of-concept close materially better, and in KSA a free pilot reads as an incomplete product</a:t>
            </a:r>
          </a:p>
        </p:txBody>
      </p:sp>
      <p:sp>
        <p:nvSpPr>
          <p:cNvPr id="18" name="TextBox 17"/>
          <p:cNvSpPr txBox="1"/>
          <p:nvPr/>
        </p:nvSpPr>
        <p:spPr>
          <a:xfrm>
            <a:off x="10433304" y="3364991"/>
            <a:ext cx="960120" cy="274320"/>
          </a:xfrm>
          <a:prstGeom prst="rect">
            <a:avLst/>
          </a:prstGeom>
          <a:noFill/>
        </p:spPr>
        <p:txBody>
          <a:bodyPr wrap="square" lIns="0" rIns="0" tIns="0" bIns="0" anchor="t">
            <a:spAutoFit/>
          </a:bodyPr>
          <a:lstStyle/>
          <a:p>
            <a:pPr algn="r">
              <a:lnSpc>
                <a:spcPct val="128000"/>
              </a:lnSpc>
            </a:pPr>
            <a:r>
              <a:rPr sz="950" b="0" i="0">
                <a:solidFill>
                  <a:srgbClr val="6E7A94"/>
                </a:solidFill>
                <a:latin typeface="Consolas"/>
              </a:rPr>
              <a:t>[date]</a:t>
            </a:r>
          </a:p>
        </p:txBody>
      </p:sp>
      <p:sp>
        <p:nvSpPr>
          <p:cNvPr id="19" name="Rectangle 18"/>
          <p:cNvSpPr/>
          <p:nvPr/>
        </p:nvSpPr>
        <p:spPr>
          <a:xfrm>
            <a:off x="786384" y="3931920"/>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6384" y="4169663"/>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4059935"/>
            <a:ext cx="2514600" cy="274320"/>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Discovery interviews</a:t>
            </a:r>
          </a:p>
        </p:txBody>
      </p:sp>
      <p:sp>
        <p:nvSpPr>
          <p:cNvPr id="22" name="TextBox 21"/>
          <p:cNvSpPr txBox="1"/>
          <p:nvPr/>
        </p:nvSpPr>
        <p:spPr>
          <a:xfrm>
            <a:off x="3666744" y="4041648"/>
            <a:ext cx="6537960" cy="512064"/>
          </a:xfrm>
          <a:prstGeom prst="rect">
            <a:avLst/>
          </a:prstGeom>
          <a:noFill/>
        </p:spPr>
        <p:txBody>
          <a:bodyPr wrap="square" lIns="0" rIns="0" tIns="0" bIns="0" anchor="t">
            <a:spAutoFit/>
          </a:bodyPr>
          <a:lstStyle/>
          <a:p>
            <a:pPr algn="l">
              <a:lnSpc>
                <a:spcPct val="138000"/>
              </a:lnSpc>
            </a:pPr>
            <a:r>
              <a:rPr sz="1000" b="0" i="0">
                <a:solidFill>
                  <a:srgbClr val="A6B2CA"/>
                </a:solidFill>
                <a:latin typeface="Segoe UI"/>
              </a:rPr>
              <a:t>[N] conversations — and the hit rate at which partner reconciliation appeared unprompted in the interviewee's top three problems</a:t>
            </a:r>
          </a:p>
        </p:txBody>
      </p:sp>
      <p:sp>
        <p:nvSpPr>
          <p:cNvPr id="23" name="TextBox 22"/>
          <p:cNvSpPr txBox="1"/>
          <p:nvPr/>
        </p:nvSpPr>
        <p:spPr>
          <a:xfrm>
            <a:off x="10433304" y="4059935"/>
            <a:ext cx="960120" cy="274320"/>
          </a:xfrm>
          <a:prstGeom prst="rect">
            <a:avLst/>
          </a:prstGeom>
          <a:noFill/>
        </p:spPr>
        <p:txBody>
          <a:bodyPr wrap="square" lIns="0" rIns="0" tIns="0" bIns="0" anchor="t">
            <a:spAutoFit/>
          </a:bodyPr>
          <a:lstStyle/>
          <a:p>
            <a:pPr algn="r">
              <a:lnSpc>
                <a:spcPct val="128000"/>
              </a:lnSpc>
            </a:pPr>
            <a:r>
              <a:rPr sz="950" b="0" i="0">
                <a:solidFill>
                  <a:srgbClr val="6E7A94"/>
                </a:solidFill>
                <a:latin typeface="Consolas"/>
              </a:rPr>
              <a:t>[date]</a:t>
            </a:r>
          </a:p>
        </p:txBody>
      </p:sp>
      <p:sp>
        <p:nvSpPr>
          <p:cNvPr id="24" name="Rectangle 23"/>
          <p:cNvSpPr/>
          <p:nvPr/>
        </p:nvSpPr>
        <p:spPr>
          <a:xfrm>
            <a:off x="786384" y="4626864"/>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6384" y="4864607"/>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4754879"/>
            <a:ext cx="2514600" cy="274320"/>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Regulatory validation</a:t>
            </a:r>
          </a:p>
        </p:txBody>
      </p:sp>
      <p:sp>
        <p:nvSpPr>
          <p:cNvPr id="27" name="TextBox 26"/>
          <p:cNvSpPr txBox="1"/>
          <p:nvPr/>
        </p:nvSpPr>
        <p:spPr>
          <a:xfrm>
            <a:off x="3666744" y="4736592"/>
            <a:ext cx="6537960" cy="512064"/>
          </a:xfrm>
          <a:prstGeom prst="rect">
            <a:avLst/>
          </a:prstGeom>
          <a:noFill/>
        </p:spPr>
        <p:txBody>
          <a:bodyPr wrap="square" lIns="0" rIns="0" tIns="0" bIns="0" anchor="t">
            <a:spAutoFit/>
          </a:bodyPr>
          <a:lstStyle/>
          <a:p>
            <a:pPr algn="l">
              <a:lnSpc>
                <a:spcPct val="138000"/>
              </a:lnSpc>
            </a:pPr>
            <a:r>
              <a:rPr sz="1000" b="0" i="0">
                <a:solidFill>
                  <a:srgbClr val="A6B2CA"/>
                </a:solidFill>
                <a:latin typeface="Segoe UI"/>
              </a:rPr>
              <a:t>who reviewed the tax-field model and the characterisation logic, and when</a:t>
            </a:r>
          </a:p>
        </p:txBody>
      </p:sp>
      <p:sp>
        <p:nvSpPr>
          <p:cNvPr id="28" name="TextBox 27"/>
          <p:cNvSpPr txBox="1"/>
          <p:nvPr/>
        </p:nvSpPr>
        <p:spPr>
          <a:xfrm>
            <a:off x="10433304" y="4754879"/>
            <a:ext cx="960120" cy="274320"/>
          </a:xfrm>
          <a:prstGeom prst="rect">
            <a:avLst/>
          </a:prstGeom>
          <a:noFill/>
        </p:spPr>
        <p:txBody>
          <a:bodyPr wrap="square" lIns="0" rIns="0" tIns="0" bIns="0" anchor="t">
            <a:spAutoFit/>
          </a:bodyPr>
          <a:lstStyle/>
          <a:p>
            <a:pPr algn="r">
              <a:lnSpc>
                <a:spcPct val="128000"/>
              </a:lnSpc>
            </a:pPr>
            <a:r>
              <a:rPr sz="950" b="0" i="0">
                <a:solidFill>
                  <a:srgbClr val="6E7A94"/>
                </a:solidFill>
                <a:latin typeface="Consolas"/>
              </a:rPr>
              <a:t>[date]</a:t>
            </a:r>
          </a:p>
        </p:txBody>
      </p:sp>
      <p:sp>
        <p:nvSpPr>
          <p:cNvPr id="29" name="Rectangle 28"/>
          <p:cNvSpPr/>
          <p:nvPr/>
        </p:nvSpPr>
        <p:spPr>
          <a:xfrm>
            <a:off x="786384" y="5321807"/>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6384" y="5559551"/>
            <a:ext cx="68580" cy="68580"/>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 y="5449823"/>
            <a:ext cx="2514600" cy="274320"/>
          </a:xfrm>
          <a:prstGeom prst="rect">
            <a:avLst/>
          </a:prstGeom>
          <a:noFill/>
        </p:spPr>
        <p:txBody>
          <a:bodyPr wrap="square" lIns="0" rIns="0" tIns="0" bIns="0" anchor="t">
            <a:spAutoFit/>
          </a:bodyPr>
          <a:lstStyle/>
          <a:p>
            <a:pPr algn="l">
              <a:lnSpc>
                <a:spcPct val="128000"/>
              </a:lnSpc>
            </a:pPr>
            <a:r>
              <a:rPr sz="1200" b="1" i="0">
                <a:solidFill>
                  <a:srgbClr val="EAEEF7"/>
                </a:solidFill>
                <a:latin typeface="Segoe UI"/>
              </a:rPr>
              <a:t>Live product</a:t>
            </a:r>
          </a:p>
        </p:txBody>
      </p:sp>
      <p:sp>
        <p:nvSpPr>
          <p:cNvPr id="32" name="TextBox 31"/>
          <p:cNvSpPr txBox="1"/>
          <p:nvPr/>
        </p:nvSpPr>
        <p:spPr>
          <a:xfrm>
            <a:off x="3666744" y="5431536"/>
            <a:ext cx="6537960" cy="512064"/>
          </a:xfrm>
          <a:prstGeom prst="rect">
            <a:avLst/>
          </a:prstGeom>
          <a:noFill/>
        </p:spPr>
        <p:txBody>
          <a:bodyPr wrap="square" lIns="0" rIns="0" tIns="0" bIns="0" anchor="t">
            <a:spAutoFit/>
          </a:bodyPr>
          <a:lstStyle/>
          <a:p>
            <a:pPr algn="l">
              <a:lnSpc>
                <a:spcPct val="138000"/>
              </a:lnSpc>
            </a:pPr>
            <a:r>
              <a:rPr sz="1000" b="0" i="0">
                <a:solidFill>
                  <a:srgbClr val="A6B2CA"/>
                </a:solidFill>
                <a:latin typeface="Segoe UI"/>
              </a:rPr>
              <a:t>a demo link, not a mockup — claim → attribution → eligibility → evidence pack</a:t>
            </a:r>
          </a:p>
        </p:txBody>
      </p:sp>
      <p:sp>
        <p:nvSpPr>
          <p:cNvPr id="33" name="TextBox 32"/>
          <p:cNvSpPr txBox="1"/>
          <p:nvPr/>
        </p:nvSpPr>
        <p:spPr>
          <a:xfrm>
            <a:off x="10433304" y="5449823"/>
            <a:ext cx="960120" cy="274320"/>
          </a:xfrm>
          <a:prstGeom prst="rect">
            <a:avLst/>
          </a:prstGeom>
          <a:noFill/>
        </p:spPr>
        <p:txBody>
          <a:bodyPr wrap="square" lIns="0" rIns="0" tIns="0" bIns="0" anchor="t">
            <a:spAutoFit/>
          </a:bodyPr>
          <a:lstStyle/>
          <a:p>
            <a:pPr algn="r">
              <a:lnSpc>
                <a:spcPct val="128000"/>
              </a:lnSpc>
            </a:pPr>
            <a:r>
              <a:rPr sz="950" b="0" i="0">
                <a:solidFill>
                  <a:srgbClr val="6E7A94"/>
                </a:solidFill>
                <a:latin typeface="Consolas"/>
              </a:rPr>
              <a:t>[date]</a:t>
            </a:r>
          </a:p>
        </p:txBody>
      </p:sp>
      <p:sp>
        <p:nvSpPr>
          <p:cNvPr id="34" name="Rectangle 33"/>
          <p:cNvSpPr/>
          <p:nvPr/>
        </p:nvSpPr>
        <p:spPr>
          <a:xfrm>
            <a:off x="786384" y="6016751"/>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86384" y="5486400"/>
            <a:ext cx="10607040" cy="457200"/>
          </a:xfrm>
          <a:prstGeom prst="roundRect">
            <a:avLst>
              <a:gd name="adj" fmla="val 5000"/>
            </a:avLst>
          </a:prstGeom>
          <a:solidFill>
            <a:srgbClr val="1A0F0E"/>
          </a:solidFill>
          <a:ln w="12700">
            <a:solidFill>
              <a:srgbClr val="E469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5596128"/>
            <a:ext cx="10149840" cy="274320"/>
          </a:xfrm>
          <a:prstGeom prst="rect">
            <a:avLst/>
          </a:prstGeom>
          <a:noFill/>
        </p:spPr>
        <p:txBody>
          <a:bodyPr wrap="square" lIns="0" rIns="0" tIns="0" bIns="0" anchor="t">
            <a:spAutoFit/>
          </a:bodyPr>
          <a:lstStyle/>
          <a:p>
            <a:pPr algn="l">
              <a:lnSpc>
                <a:spcPct val="128000"/>
              </a:lnSpc>
            </a:pPr>
            <a:r>
              <a:rPr sz="1000" b="1" i="0">
                <a:solidFill>
                  <a:srgbClr val="F0A096"/>
                </a:solidFill>
                <a:latin typeface="Segoe UI"/>
              </a:rPr>
              <a:t>This slide is where a pre-revenue deck earns belief or loses it. If it cannot be filled with dated, checkable items, do not raise yet.</a:t>
            </a:r>
          </a:p>
        </p:txBody>
      </p:sp>
      <p:sp>
        <p:nvSpPr>
          <p:cNvPr id="37" name="TextBox 36"/>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Sequoia's own guidance for the Financials section of a pre-revenue company is “If you have any, please include.” That is written permission to spend this page on evidence instead of a fabricated five-year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18</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TEAM  ·  FOUNDER–MARKET FIT</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900" b="0" i="0" spc="-40">
                <a:solidFill>
                  <a:srgbClr val="EAEEF7"/>
                </a:solidFill>
                <a:latin typeface="Georgia"/>
              </a:rPr>
              <a:t>Three unsolved parts of this problem. One of us for each.</a:t>
            </a:r>
          </a:p>
        </p:txBody>
      </p:sp>
      <p:sp>
        <p:nvSpPr>
          <p:cNvPr id="10" name="Rounded Rectangle 9"/>
          <p:cNvSpPr/>
          <p:nvPr/>
        </p:nvSpPr>
        <p:spPr>
          <a:xfrm>
            <a:off x="786384" y="2615184"/>
            <a:ext cx="3429000" cy="3017520"/>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615184"/>
            <a:ext cx="3429000"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852928"/>
            <a:ext cx="2926080" cy="256032"/>
          </a:xfrm>
          <a:prstGeom prst="rect">
            <a:avLst/>
          </a:prstGeom>
          <a:noFill/>
        </p:spPr>
        <p:txBody>
          <a:bodyPr wrap="square" lIns="0" rIns="0" tIns="0" bIns="0" anchor="t">
            <a:spAutoFit/>
          </a:bodyPr>
          <a:lstStyle/>
          <a:p>
            <a:pPr algn="l">
              <a:lnSpc>
                <a:spcPct val="128000"/>
              </a:lnSpc>
            </a:pPr>
            <a:r>
              <a:rPr sz="850" b="1" i="0" spc="200">
                <a:solidFill>
                  <a:srgbClr val="86A2FF"/>
                </a:solidFill>
                <a:latin typeface="Segoe UI"/>
              </a:rPr>
              <a:t>UNSOLVED</a:t>
            </a:r>
          </a:p>
        </p:txBody>
      </p:sp>
      <p:sp>
        <p:nvSpPr>
          <p:cNvPr id="13" name="TextBox 12"/>
          <p:cNvSpPr txBox="1"/>
          <p:nvPr/>
        </p:nvSpPr>
        <p:spPr>
          <a:xfrm>
            <a:off x="1060704" y="3145536"/>
            <a:ext cx="2926080" cy="566928"/>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The regulatory judgement</a:t>
            </a:r>
          </a:p>
        </p:txBody>
      </p:sp>
      <p:sp>
        <p:nvSpPr>
          <p:cNvPr id="14" name="TextBox 13"/>
          <p:cNvSpPr txBox="1"/>
          <p:nvPr/>
        </p:nvSpPr>
        <p:spPr>
          <a:xfrm>
            <a:off x="1060704" y="3822191"/>
            <a:ext cx="2926080" cy="877824"/>
          </a:xfrm>
          <a:prstGeom prst="rect">
            <a:avLst/>
          </a:prstGeom>
          <a:noFill/>
        </p:spPr>
        <p:txBody>
          <a:bodyPr wrap="square" lIns="0" rIns="0" tIns="0" bIns="0" anchor="t">
            <a:spAutoFit/>
          </a:bodyPr>
          <a:lstStyle/>
          <a:p>
            <a:pPr algn="l">
              <a:lnSpc>
                <a:spcPct val="142000"/>
              </a:lnSpc>
            </a:pPr>
            <a:r>
              <a:rPr sz="1000" b="0" i="0">
                <a:solidFill>
                  <a:srgbClr val="A6B2CA"/>
                </a:solidFill>
                <a:latin typeface="Segoe UI"/>
              </a:rPr>
              <a:t>Characterisation, clearance, withholding, VAT — the part a global vendor ships as a config flag and gets wrong.</a:t>
            </a:r>
          </a:p>
        </p:txBody>
      </p:sp>
      <p:sp>
        <p:nvSpPr>
          <p:cNvPr id="15" name="Rectangle 14"/>
          <p:cNvSpPr/>
          <p:nvPr/>
        </p:nvSpPr>
        <p:spPr>
          <a:xfrm>
            <a:off x="1060704" y="4791456"/>
            <a:ext cx="288036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956048"/>
            <a:ext cx="2926080" cy="566928"/>
          </a:xfrm>
          <a:prstGeom prst="rect">
            <a:avLst/>
          </a:prstGeom>
          <a:noFill/>
        </p:spPr>
        <p:txBody>
          <a:bodyPr wrap="square" lIns="0" rIns="0" tIns="0" bIns="0" anchor="t">
            <a:spAutoFit/>
          </a:bodyPr>
          <a:lstStyle/>
          <a:p>
            <a:pPr algn="l">
              <a:lnSpc>
                <a:spcPct val="140000"/>
              </a:lnSpc>
            </a:pPr>
            <a:r>
              <a:rPr sz="1000" b="0" i="0">
                <a:solidFill>
                  <a:srgbClr val="E0BE74"/>
                </a:solidFill>
                <a:latin typeface="Segoe UI"/>
              </a:rPr>
              <a:t>[Founder] — [specific KSA tax / e-invoicing evidence]</a:t>
            </a:r>
          </a:p>
        </p:txBody>
      </p:sp>
      <p:sp>
        <p:nvSpPr>
          <p:cNvPr id="17" name="Rounded Rectangle 16"/>
          <p:cNvSpPr/>
          <p:nvPr/>
        </p:nvSpPr>
        <p:spPr>
          <a:xfrm>
            <a:off x="4562856" y="2615184"/>
            <a:ext cx="3429000" cy="3017520"/>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62856" y="2615184"/>
            <a:ext cx="3429000"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37176" y="2852928"/>
            <a:ext cx="2926080" cy="256032"/>
          </a:xfrm>
          <a:prstGeom prst="rect">
            <a:avLst/>
          </a:prstGeom>
          <a:noFill/>
        </p:spPr>
        <p:txBody>
          <a:bodyPr wrap="square" lIns="0" rIns="0" tIns="0" bIns="0" anchor="t">
            <a:spAutoFit/>
          </a:bodyPr>
          <a:lstStyle/>
          <a:p>
            <a:pPr algn="l">
              <a:lnSpc>
                <a:spcPct val="128000"/>
              </a:lnSpc>
            </a:pPr>
            <a:r>
              <a:rPr sz="850" b="1" i="0" spc="200">
                <a:solidFill>
                  <a:srgbClr val="86A2FF"/>
                </a:solidFill>
                <a:latin typeface="Segoe UI"/>
              </a:rPr>
              <a:t>UNSOLVED</a:t>
            </a:r>
          </a:p>
        </p:txBody>
      </p:sp>
      <p:sp>
        <p:nvSpPr>
          <p:cNvPr id="20" name="TextBox 19"/>
          <p:cNvSpPr txBox="1"/>
          <p:nvPr/>
        </p:nvSpPr>
        <p:spPr>
          <a:xfrm>
            <a:off x="4837176" y="3145536"/>
            <a:ext cx="2926080" cy="566928"/>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The bilateral finance operation</a:t>
            </a:r>
          </a:p>
        </p:txBody>
      </p:sp>
      <p:sp>
        <p:nvSpPr>
          <p:cNvPr id="21" name="TextBox 20"/>
          <p:cNvSpPr txBox="1"/>
          <p:nvPr/>
        </p:nvSpPr>
        <p:spPr>
          <a:xfrm>
            <a:off x="4837176" y="3822191"/>
            <a:ext cx="2926080" cy="877824"/>
          </a:xfrm>
          <a:prstGeom prst="rect">
            <a:avLst/>
          </a:prstGeom>
          <a:noFill/>
        </p:spPr>
        <p:txBody>
          <a:bodyPr wrap="square" lIns="0" rIns="0" tIns="0" bIns="0" anchor="t">
            <a:spAutoFit/>
          </a:bodyPr>
          <a:lstStyle/>
          <a:p>
            <a:pPr algn="l">
              <a:lnSpc>
                <a:spcPct val="142000"/>
              </a:lnSpc>
            </a:pPr>
            <a:r>
              <a:rPr sz="1000" b="0" i="0">
                <a:solidFill>
                  <a:srgbClr val="A6B2CA"/>
                </a:solidFill>
                <a:latin typeface="Segoe UI"/>
              </a:rPr>
              <a:t>Getting two finance teams to settle against one ruleset and accept one evidence pack.</a:t>
            </a:r>
          </a:p>
        </p:txBody>
      </p:sp>
      <p:sp>
        <p:nvSpPr>
          <p:cNvPr id="22" name="Rectangle 21"/>
          <p:cNvSpPr/>
          <p:nvPr/>
        </p:nvSpPr>
        <p:spPr>
          <a:xfrm>
            <a:off x="4837176" y="4791456"/>
            <a:ext cx="288036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37176" y="4956048"/>
            <a:ext cx="2926080" cy="566928"/>
          </a:xfrm>
          <a:prstGeom prst="rect">
            <a:avLst/>
          </a:prstGeom>
          <a:noFill/>
        </p:spPr>
        <p:txBody>
          <a:bodyPr wrap="square" lIns="0" rIns="0" tIns="0" bIns="0" anchor="t">
            <a:spAutoFit/>
          </a:bodyPr>
          <a:lstStyle/>
          <a:p>
            <a:pPr algn="l">
              <a:lnSpc>
                <a:spcPct val="140000"/>
              </a:lnSpc>
            </a:pPr>
            <a:r>
              <a:rPr sz="1000" b="0" i="0">
                <a:solidFill>
                  <a:srgbClr val="E0BE74"/>
                </a:solidFill>
                <a:latin typeface="Segoe UI"/>
              </a:rPr>
              <a:t>[Founder] — [bilateral finance / partner-ops evidence]</a:t>
            </a:r>
          </a:p>
        </p:txBody>
      </p:sp>
      <p:sp>
        <p:nvSpPr>
          <p:cNvPr id="24" name="Rounded Rectangle 23"/>
          <p:cNvSpPr/>
          <p:nvPr/>
        </p:nvSpPr>
        <p:spPr>
          <a:xfrm>
            <a:off x="8339327" y="2615184"/>
            <a:ext cx="3429000" cy="3017520"/>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7" y="2615184"/>
            <a:ext cx="3429000" cy="3657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8" y="2852928"/>
            <a:ext cx="2926080" cy="256032"/>
          </a:xfrm>
          <a:prstGeom prst="rect">
            <a:avLst/>
          </a:prstGeom>
          <a:noFill/>
        </p:spPr>
        <p:txBody>
          <a:bodyPr wrap="square" lIns="0" rIns="0" tIns="0" bIns="0" anchor="t">
            <a:spAutoFit/>
          </a:bodyPr>
          <a:lstStyle/>
          <a:p>
            <a:pPr algn="l">
              <a:lnSpc>
                <a:spcPct val="128000"/>
              </a:lnSpc>
            </a:pPr>
            <a:r>
              <a:rPr sz="850" b="1" i="0" spc="200">
                <a:solidFill>
                  <a:srgbClr val="86A2FF"/>
                </a:solidFill>
                <a:latin typeface="Segoe UI"/>
              </a:rPr>
              <a:t>UNSOLVED</a:t>
            </a:r>
          </a:p>
        </p:txBody>
      </p:sp>
      <p:sp>
        <p:nvSpPr>
          <p:cNvPr id="27" name="TextBox 26"/>
          <p:cNvSpPr txBox="1"/>
          <p:nvPr/>
        </p:nvSpPr>
        <p:spPr>
          <a:xfrm>
            <a:off x="8613648" y="3145536"/>
            <a:ext cx="2926080" cy="566928"/>
          </a:xfrm>
          <a:prstGeom prst="rect">
            <a:avLst/>
          </a:prstGeom>
          <a:noFill/>
        </p:spPr>
        <p:txBody>
          <a:bodyPr wrap="square" lIns="0" rIns="0" tIns="0" bIns="0" anchor="t">
            <a:spAutoFit/>
          </a:bodyPr>
          <a:lstStyle/>
          <a:p>
            <a:pPr algn="l">
              <a:lnSpc>
                <a:spcPct val="114000"/>
              </a:lnSpc>
            </a:pPr>
            <a:r>
              <a:rPr sz="1700" b="0" i="0">
                <a:solidFill>
                  <a:srgbClr val="EAEEF7"/>
                </a:solidFill>
                <a:latin typeface="Georgia"/>
              </a:rPr>
              <a:t>The ledger</a:t>
            </a:r>
          </a:p>
        </p:txBody>
      </p:sp>
      <p:sp>
        <p:nvSpPr>
          <p:cNvPr id="28" name="TextBox 27"/>
          <p:cNvSpPr txBox="1"/>
          <p:nvPr/>
        </p:nvSpPr>
        <p:spPr>
          <a:xfrm>
            <a:off x="8613648" y="3822191"/>
            <a:ext cx="2926080" cy="877824"/>
          </a:xfrm>
          <a:prstGeom prst="rect">
            <a:avLst/>
          </a:prstGeom>
          <a:noFill/>
        </p:spPr>
        <p:txBody>
          <a:bodyPr wrap="square" lIns="0" rIns="0" tIns="0" bIns="0" anchor="t">
            <a:spAutoFit/>
          </a:bodyPr>
          <a:lstStyle/>
          <a:p>
            <a:pPr algn="l">
              <a:lnSpc>
                <a:spcPct val="142000"/>
              </a:lnSpc>
            </a:pPr>
            <a:r>
              <a:rPr sz="1000" b="0" i="0">
                <a:solidFill>
                  <a:srgbClr val="A6B2CA"/>
                </a:solidFill>
                <a:latin typeface="Segoe UI"/>
              </a:rPr>
              <a:t>Append-only, idempotent, bitemporal, cross-tenant — financial engineering, not CRUD.</a:t>
            </a:r>
          </a:p>
        </p:txBody>
      </p:sp>
      <p:sp>
        <p:nvSpPr>
          <p:cNvPr id="29" name="Rectangle 28"/>
          <p:cNvSpPr/>
          <p:nvPr/>
        </p:nvSpPr>
        <p:spPr>
          <a:xfrm>
            <a:off x="8613648" y="4791456"/>
            <a:ext cx="288036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3648" y="4956048"/>
            <a:ext cx="2926080" cy="566928"/>
          </a:xfrm>
          <a:prstGeom prst="rect">
            <a:avLst/>
          </a:prstGeom>
          <a:noFill/>
        </p:spPr>
        <p:txBody>
          <a:bodyPr wrap="square" lIns="0" rIns="0" tIns="0" bIns="0" anchor="t">
            <a:spAutoFit/>
          </a:bodyPr>
          <a:lstStyle/>
          <a:p>
            <a:pPr algn="l">
              <a:lnSpc>
                <a:spcPct val="140000"/>
              </a:lnSpc>
            </a:pPr>
            <a:r>
              <a:rPr sz="1000" b="0" i="0">
                <a:solidFill>
                  <a:srgbClr val="E0BE74"/>
                </a:solidFill>
                <a:latin typeface="Segoe UI"/>
              </a:rPr>
              <a:t>[Founder] — [ledger / payments-infrastructure evidence]</a:t>
            </a:r>
          </a:p>
        </p:txBody>
      </p:sp>
      <p:sp>
        <p:nvSpPr>
          <p:cNvPr id="31" name="TextBox 30"/>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Lead with the problem, not the CV. Two named hires the plan funds first: a staff engineer with ledger or payments-infrastructure experience, and a KSA tax/compliance specialist (ZATCA Phase 2 + WHT/VAT).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19</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THE ASK  ·  AND THE OPERATING PLAN</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700" b="0" i="0" spc="-40">
                <a:solidFill>
                  <a:srgbClr val="EAEEF7"/>
                </a:solidFill>
                <a:latin typeface="Georgia"/>
              </a:rPr>
              <a:t>We are raising [amount] for [N] months to hit three dated milestones that
de-risk the Series A — not to ship three features.</a:t>
            </a:r>
          </a:p>
        </p:txBody>
      </p:sp>
      <p:sp>
        <p:nvSpPr>
          <p:cNvPr id="10" name="Rectangle 9"/>
          <p:cNvSpPr/>
          <p:nvPr/>
        </p:nvSpPr>
        <p:spPr>
          <a:xfrm>
            <a:off x="2112264" y="2926079"/>
            <a:ext cx="914400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1972" y="2834640"/>
            <a:ext cx="132588" cy="20116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798064"/>
            <a:ext cx="1188720" cy="274320"/>
          </a:xfrm>
          <a:prstGeom prst="rect">
            <a:avLst/>
          </a:prstGeom>
          <a:noFill/>
        </p:spPr>
        <p:txBody>
          <a:bodyPr wrap="square" lIns="0" rIns="0" tIns="0" bIns="0" anchor="t">
            <a:spAutoFit/>
          </a:bodyPr>
          <a:lstStyle/>
          <a:p>
            <a:pPr algn="r">
              <a:lnSpc>
                <a:spcPct val="128000"/>
              </a:lnSpc>
            </a:pPr>
            <a:r>
              <a:rPr sz="1100" b="0" i="0">
                <a:solidFill>
                  <a:srgbClr val="E0BE74"/>
                </a:solidFill>
                <a:latin typeface="Consolas"/>
              </a:rPr>
              <a:t>[Date]</a:t>
            </a:r>
          </a:p>
        </p:txBody>
      </p:sp>
      <p:sp>
        <p:nvSpPr>
          <p:cNvPr id="13" name="TextBox 12"/>
          <p:cNvSpPr txBox="1"/>
          <p:nvPr/>
        </p:nvSpPr>
        <p:spPr>
          <a:xfrm>
            <a:off x="2057400" y="2340864"/>
            <a:ext cx="2926080" cy="256032"/>
          </a:xfrm>
          <a:prstGeom prst="rect">
            <a:avLst/>
          </a:prstGeom>
          <a:noFill/>
        </p:spPr>
        <p:txBody>
          <a:bodyPr wrap="square" lIns="0" rIns="0" tIns="0" bIns="0" anchor="t">
            <a:spAutoFit/>
          </a:bodyPr>
          <a:lstStyle/>
          <a:p>
            <a:pPr algn="l">
              <a:lnSpc>
                <a:spcPct val="128000"/>
              </a:lnSpc>
            </a:pPr>
            <a:r>
              <a:rPr sz="1000" b="0" i="0">
                <a:solidFill>
                  <a:srgbClr val="E0BE74"/>
                </a:solidFill>
                <a:latin typeface="Consolas"/>
              </a:rPr>
              <a:t>[Date]</a:t>
            </a:r>
          </a:p>
        </p:txBody>
      </p:sp>
      <p:sp>
        <p:nvSpPr>
          <p:cNvPr id="14" name="TextBox 13"/>
          <p:cNvSpPr txBox="1"/>
          <p:nvPr/>
        </p:nvSpPr>
        <p:spPr>
          <a:xfrm>
            <a:off x="2057400" y="3218688"/>
            <a:ext cx="2926080" cy="512064"/>
          </a:xfrm>
          <a:prstGeom prst="rect">
            <a:avLst/>
          </a:prstGeom>
          <a:noFill/>
        </p:spPr>
        <p:txBody>
          <a:bodyPr wrap="square" lIns="0" rIns="0" tIns="0" bIns="0" anchor="t">
            <a:spAutoFit/>
          </a:bodyPr>
          <a:lstStyle/>
          <a:p>
            <a:pPr algn="l">
              <a:lnSpc>
                <a:spcPct val="116000"/>
              </a:lnSpc>
            </a:pPr>
            <a:r>
              <a:rPr sz="1350" b="0" i="0">
                <a:solidFill>
                  <a:srgbClr val="EAEEF7"/>
                </a:solidFill>
                <a:latin typeface="Georgia"/>
              </a:rPr>
              <a:t>[N] paying Capture customers</a:t>
            </a:r>
          </a:p>
        </p:txBody>
      </p:sp>
      <p:sp>
        <p:nvSpPr>
          <p:cNvPr id="15" name="TextBox 14"/>
          <p:cNvSpPr txBox="1"/>
          <p:nvPr/>
        </p:nvSpPr>
        <p:spPr>
          <a:xfrm>
            <a:off x="2057400" y="3803904"/>
            <a:ext cx="2926080" cy="457200"/>
          </a:xfrm>
          <a:prstGeom prst="rect">
            <a:avLst/>
          </a:prstGeom>
          <a:noFill/>
        </p:spPr>
        <p:txBody>
          <a:bodyPr wrap="square" lIns="0" rIns="0" tIns="0" bIns="0" anchor="t">
            <a:spAutoFit/>
          </a:bodyPr>
          <a:lstStyle/>
          <a:p>
            <a:pPr algn="l">
              <a:lnSpc>
                <a:spcPct val="136000"/>
              </a:lnSpc>
            </a:pPr>
            <a:r>
              <a:rPr sz="950" b="0" i="0">
                <a:solidFill>
                  <a:srgbClr val="6E7A94"/>
                </a:solidFill>
                <a:latin typeface="Segoe UI"/>
              </a:rPr>
              <a:t>drawn from the Wave 24/25 cohort</a:t>
            </a:r>
          </a:p>
        </p:txBody>
      </p:sp>
      <p:sp>
        <p:nvSpPr>
          <p:cNvPr id="16" name="TextBox 15"/>
          <p:cNvSpPr txBox="1"/>
          <p:nvPr/>
        </p:nvSpPr>
        <p:spPr>
          <a:xfrm>
            <a:off x="2057400" y="4334256"/>
            <a:ext cx="2926080" cy="402336"/>
          </a:xfrm>
          <a:prstGeom prst="rect">
            <a:avLst/>
          </a:prstGeom>
          <a:noFill/>
        </p:spPr>
        <p:txBody>
          <a:bodyPr wrap="square" lIns="0" rIns="0" tIns="0" bIns="0" anchor="t">
            <a:spAutoFit/>
          </a:bodyPr>
          <a:lstStyle/>
          <a:p>
            <a:pPr algn="l">
              <a:lnSpc>
                <a:spcPct val="132000"/>
              </a:lnSpc>
            </a:pPr>
            <a:r>
              <a:rPr sz="950" b="1" i="0">
                <a:solidFill>
                  <a:srgbClr val="86A2FF"/>
                </a:solidFill>
                <a:latin typeface="Segoe UI"/>
              </a:rPr>
              <a:t>De-risks:  will anyone pay for the record alone?</a:t>
            </a:r>
          </a:p>
        </p:txBody>
      </p:sp>
      <p:sp>
        <p:nvSpPr>
          <p:cNvPr id="17" name="Rectangle 16"/>
          <p:cNvSpPr/>
          <p:nvPr/>
        </p:nvSpPr>
        <p:spPr>
          <a:xfrm>
            <a:off x="5189220" y="2834640"/>
            <a:ext cx="132588" cy="20116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4648" y="2340864"/>
            <a:ext cx="2926080" cy="256032"/>
          </a:xfrm>
          <a:prstGeom prst="rect">
            <a:avLst/>
          </a:prstGeom>
          <a:noFill/>
        </p:spPr>
        <p:txBody>
          <a:bodyPr wrap="square" lIns="0" rIns="0" tIns="0" bIns="0" anchor="t">
            <a:spAutoFit/>
          </a:bodyPr>
          <a:lstStyle/>
          <a:p>
            <a:pPr algn="l">
              <a:lnSpc>
                <a:spcPct val="128000"/>
              </a:lnSpc>
            </a:pPr>
            <a:r>
              <a:rPr sz="1000" b="0" i="0">
                <a:solidFill>
                  <a:srgbClr val="E0BE74"/>
                </a:solidFill>
                <a:latin typeface="Consolas"/>
              </a:rPr>
              <a:t>[Date]</a:t>
            </a:r>
          </a:p>
        </p:txBody>
      </p:sp>
      <p:sp>
        <p:nvSpPr>
          <p:cNvPr id="19" name="TextBox 18"/>
          <p:cNvSpPr txBox="1"/>
          <p:nvPr/>
        </p:nvSpPr>
        <p:spPr>
          <a:xfrm>
            <a:off x="5184648" y="3218688"/>
            <a:ext cx="2926080" cy="512064"/>
          </a:xfrm>
          <a:prstGeom prst="rect">
            <a:avLst/>
          </a:prstGeom>
          <a:noFill/>
        </p:spPr>
        <p:txBody>
          <a:bodyPr wrap="square" lIns="0" rIns="0" tIns="0" bIns="0" anchor="t">
            <a:spAutoFit/>
          </a:bodyPr>
          <a:lstStyle/>
          <a:p>
            <a:pPr algn="l">
              <a:lnSpc>
                <a:spcPct val="116000"/>
              </a:lnSpc>
            </a:pPr>
            <a:r>
              <a:rPr sz="1350" b="0" i="0">
                <a:solidFill>
                  <a:srgbClr val="EAEEF7"/>
                </a:solidFill>
                <a:latin typeface="Georgia"/>
              </a:rPr>
              <a:t>One bilateral pilot</a:t>
            </a:r>
          </a:p>
        </p:txBody>
      </p:sp>
      <p:sp>
        <p:nvSpPr>
          <p:cNvPr id="20" name="TextBox 19"/>
          <p:cNvSpPr txBox="1"/>
          <p:nvPr/>
        </p:nvSpPr>
        <p:spPr>
          <a:xfrm>
            <a:off x="5184648" y="3803904"/>
            <a:ext cx="2926080" cy="457200"/>
          </a:xfrm>
          <a:prstGeom prst="rect">
            <a:avLst/>
          </a:prstGeom>
          <a:noFill/>
        </p:spPr>
        <p:txBody>
          <a:bodyPr wrap="square" lIns="0" rIns="0" tIns="0" bIns="0" anchor="t">
            <a:spAutoFit/>
          </a:bodyPr>
          <a:lstStyle/>
          <a:p>
            <a:pPr algn="l">
              <a:lnSpc>
                <a:spcPct val="136000"/>
              </a:lnSpc>
            </a:pPr>
            <a:r>
              <a:rPr sz="950" b="0" i="0">
                <a:solidFill>
                  <a:srgbClr val="6E7A94"/>
                </a:solidFill>
                <a:latin typeface="Segoe UI"/>
              </a:rPr>
              <a:t>both counterparties approve the same ruleset and settle against it</a:t>
            </a:r>
          </a:p>
        </p:txBody>
      </p:sp>
      <p:sp>
        <p:nvSpPr>
          <p:cNvPr id="21" name="TextBox 20"/>
          <p:cNvSpPr txBox="1"/>
          <p:nvPr/>
        </p:nvSpPr>
        <p:spPr>
          <a:xfrm>
            <a:off x="5184648" y="4334256"/>
            <a:ext cx="2926080" cy="402336"/>
          </a:xfrm>
          <a:prstGeom prst="rect">
            <a:avLst/>
          </a:prstGeom>
          <a:noFill/>
        </p:spPr>
        <p:txBody>
          <a:bodyPr wrap="square" lIns="0" rIns="0" tIns="0" bIns="0" anchor="t">
            <a:spAutoFit/>
          </a:bodyPr>
          <a:lstStyle/>
          <a:p>
            <a:pPr algn="l">
              <a:lnSpc>
                <a:spcPct val="132000"/>
              </a:lnSpc>
            </a:pPr>
            <a:r>
              <a:rPr sz="950" b="1" i="0">
                <a:solidFill>
                  <a:srgbClr val="86A2FF"/>
                </a:solidFill>
                <a:latin typeface="Segoe UI"/>
              </a:rPr>
              <a:t>De-risks:  the entire Phase 2 thesis</a:t>
            </a:r>
          </a:p>
        </p:txBody>
      </p:sp>
      <p:sp>
        <p:nvSpPr>
          <p:cNvPr id="22" name="Rectangle 21"/>
          <p:cNvSpPr/>
          <p:nvPr/>
        </p:nvSpPr>
        <p:spPr>
          <a:xfrm>
            <a:off x="8316468" y="2834640"/>
            <a:ext cx="132588" cy="201168"/>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1896" y="2340864"/>
            <a:ext cx="2926080" cy="256032"/>
          </a:xfrm>
          <a:prstGeom prst="rect">
            <a:avLst/>
          </a:prstGeom>
          <a:noFill/>
        </p:spPr>
        <p:txBody>
          <a:bodyPr wrap="square" lIns="0" rIns="0" tIns="0" bIns="0" anchor="t">
            <a:spAutoFit/>
          </a:bodyPr>
          <a:lstStyle/>
          <a:p>
            <a:pPr algn="l">
              <a:lnSpc>
                <a:spcPct val="128000"/>
              </a:lnSpc>
            </a:pPr>
            <a:r>
              <a:rPr sz="1000" b="0" i="0">
                <a:solidFill>
                  <a:srgbClr val="E0BE74"/>
                </a:solidFill>
                <a:latin typeface="Consolas"/>
              </a:rPr>
              <a:t>[Date]</a:t>
            </a:r>
          </a:p>
        </p:txBody>
      </p:sp>
      <p:sp>
        <p:nvSpPr>
          <p:cNvPr id="24" name="TextBox 23"/>
          <p:cNvSpPr txBox="1"/>
          <p:nvPr/>
        </p:nvSpPr>
        <p:spPr>
          <a:xfrm>
            <a:off x="8311896" y="3218688"/>
            <a:ext cx="2926080" cy="512064"/>
          </a:xfrm>
          <a:prstGeom prst="rect">
            <a:avLst/>
          </a:prstGeom>
          <a:noFill/>
        </p:spPr>
        <p:txBody>
          <a:bodyPr wrap="square" lIns="0" rIns="0" tIns="0" bIns="0" anchor="t">
            <a:spAutoFit/>
          </a:bodyPr>
          <a:lstStyle/>
          <a:p>
            <a:pPr algn="l">
              <a:lnSpc>
                <a:spcPct val="116000"/>
              </a:lnSpc>
            </a:pPr>
            <a:r>
              <a:rPr sz="1350" b="0" i="0">
                <a:solidFill>
                  <a:srgbClr val="EAEEF7"/>
                </a:solidFill>
                <a:latin typeface="Georgia"/>
              </a:rPr>
              <a:t>ZATCA-cleared credit &amp; debit notes in production</a:t>
            </a:r>
          </a:p>
        </p:txBody>
      </p:sp>
      <p:sp>
        <p:nvSpPr>
          <p:cNvPr id="25" name="TextBox 24"/>
          <p:cNvSpPr txBox="1"/>
          <p:nvPr/>
        </p:nvSpPr>
        <p:spPr>
          <a:xfrm>
            <a:off x="8311896" y="3803904"/>
            <a:ext cx="2926080" cy="457200"/>
          </a:xfrm>
          <a:prstGeom prst="rect">
            <a:avLst/>
          </a:prstGeom>
          <a:noFill/>
        </p:spPr>
        <p:txBody>
          <a:bodyPr wrap="square" lIns="0" rIns="0" tIns="0" bIns="0" anchor="t">
            <a:spAutoFit/>
          </a:bodyPr>
          <a:lstStyle/>
          <a:p>
            <a:pPr algn="l">
              <a:lnSpc>
                <a:spcPct val="136000"/>
              </a:lnSpc>
            </a:pPr>
            <a:r>
              <a:rPr sz="950" b="0" i="0">
                <a:solidFill>
                  <a:srgbClr val="6E7A94"/>
                </a:solidFill>
                <a:latin typeface="Segoe UI"/>
              </a:rPr>
              <a:t>381 and 383, sequenced and cleared</a:t>
            </a:r>
          </a:p>
        </p:txBody>
      </p:sp>
      <p:sp>
        <p:nvSpPr>
          <p:cNvPr id="26" name="TextBox 25"/>
          <p:cNvSpPr txBox="1"/>
          <p:nvPr/>
        </p:nvSpPr>
        <p:spPr>
          <a:xfrm>
            <a:off x="8311896" y="4334256"/>
            <a:ext cx="2926080" cy="402336"/>
          </a:xfrm>
          <a:prstGeom prst="rect">
            <a:avLst/>
          </a:prstGeom>
          <a:noFill/>
        </p:spPr>
        <p:txBody>
          <a:bodyPr wrap="square" lIns="0" rIns="0" tIns="0" bIns="0" anchor="t">
            <a:spAutoFit/>
          </a:bodyPr>
          <a:lstStyle/>
          <a:p>
            <a:pPr algn="l">
              <a:lnSpc>
                <a:spcPct val="132000"/>
              </a:lnSpc>
            </a:pPr>
            <a:r>
              <a:rPr sz="950" b="1" i="0">
                <a:solidFill>
                  <a:srgbClr val="86A2FF"/>
                </a:solidFill>
                <a:latin typeface="Segoe UI"/>
              </a:rPr>
              <a:t>De-risks:  can we operate inside the mandate?</a:t>
            </a:r>
          </a:p>
        </p:txBody>
      </p:sp>
      <p:sp>
        <p:nvSpPr>
          <p:cNvPr id="27" name="Rounded Rectangle 26"/>
          <p:cNvSpPr/>
          <p:nvPr/>
        </p:nvSpPr>
        <p:spPr>
          <a:xfrm>
            <a:off x="786384" y="4846320"/>
            <a:ext cx="10607040" cy="896112"/>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010912"/>
            <a:ext cx="2377440" cy="274320"/>
          </a:xfrm>
          <a:prstGeom prst="rect">
            <a:avLst/>
          </a:prstGeom>
          <a:noFill/>
        </p:spPr>
        <p:txBody>
          <a:bodyPr wrap="square" lIns="0" rIns="0" tIns="0" bIns="0" anchor="t">
            <a:spAutoFit/>
          </a:bodyPr>
          <a:lstStyle/>
          <a:p>
            <a:pPr algn="l">
              <a:lnSpc>
                <a:spcPct val="128000"/>
              </a:lnSpc>
            </a:pPr>
            <a:r>
              <a:rPr sz="1700" b="0" i="0">
                <a:solidFill>
                  <a:srgbClr val="E0BE74"/>
                </a:solidFill>
                <a:latin typeface="Consolas"/>
              </a:rPr>
              <a:t>[%]</a:t>
            </a:r>
          </a:p>
        </p:txBody>
      </p:sp>
      <p:sp>
        <p:nvSpPr>
          <p:cNvPr id="29" name="TextBox 28"/>
          <p:cNvSpPr txBox="1"/>
          <p:nvPr/>
        </p:nvSpPr>
        <p:spPr>
          <a:xfrm>
            <a:off x="1060704" y="5321808"/>
            <a:ext cx="2377440" cy="310896"/>
          </a:xfrm>
          <a:prstGeom prst="rect">
            <a:avLst/>
          </a:prstGeom>
          <a:noFill/>
        </p:spPr>
        <p:txBody>
          <a:bodyPr wrap="square" lIns="0" rIns="0" tIns="0" bIns="0" anchor="t">
            <a:spAutoFit/>
          </a:bodyPr>
          <a:lstStyle/>
          <a:p>
            <a:pPr algn="l">
              <a:lnSpc>
                <a:spcPct val="130000"/>
              </a:lnSpc>
            </a:pPr>
            <a:r>
              <a:rPr sz="900" b="0" i="0">
                <a:solidFill>
                  <a:srgbClr val="A6B2CA"/>
                </a:solidFill>
                <a:latin typeface="Segoe UI"/>
              </a:rPr>
              <a:t>Engineering — the ledger and the rule engine</a:t>
            </a:r>
          </a:p>
        </p:txBody>
      </p:sp>
      <p:sp>
        <p:nvSpPr>
          <p:cNvPr id="30" name="TextBox 29"/>
          <p:cNvSpPr txBox="1"/>
          <p:nvPr/>
        </p:nvSpPr>
        <p:spPr>
          <a:xfrm>
            <a:off x="3675887" y="5010912"/>
            <a:ext cx="2377440" cy="274320"/>
          </a:xfrm>
          <a:prstGeom prst="rect">
            <a:avLst/>
          </a:prstGeom>
          <a:noFill/>
        </p:spPr>
        <p:txBody>
          <a:bodyPr wrap="square" lIns="0" rIns="0" tIns="0" bIns="0" anchor="t">
            <a:spAutoFit/>
          </a:bodyPr>
          <a:lstStyle/>
          <a:p>
            <a:pPr algn="l">
              <a:lnSpc>
                <a:spcPct val="128000"/>
              </a:lnSpc>
            </a:pPr>
            <a:r>
              <a:rPr sz="1700" b="0" i="0">
                <a:solidFill>
                  <a:srgbClr val="E0BE74"/>
                </a:solidFill>
                <a:latin typeface="Consolas"/>
              </a:rPr>
              <a:t>[%]</a:t>
            </a:r>
          </a:p>
        </p:txBody>
      </p:sp>
      <p:sp>
        <p:nvSpPr>
          <p:cNvPr id="31" name="TextBox 30"/>
          <p:cNvSpPr txBox="1"/>
          <p:nvPr/>
        </p:nvSpPr>
        <p:spPr>
          <a:xfrm>
            <a:off x="3675887" y="5321808"/>
            <a:ext cx="2377440" cy="310896"/>
          </a:xfrm>
          <a:prstGeom prst="rect">
            <a:avLst/>
          </a:prstGeom>
          <a:noFill/>
        </p:spPr>
        <p:txBody>
          <a:bodyPr wrap="square" lIns="0" rIns="0" tIns="0" bIns="0" anchor="t">
            <a:spAutoFit/>
          </a:bodyPr>
          <a:lstStyle/>
          <a:p>
            <a:pPr algn="l">
              <a:lnSpc>
                <a:spcPct val="130000"/>
              </a:lnSpc>
            </a:pPr>
            <a:r>
              <a:rPr sz="900" b="0" i="0">
                <a:solidFill>
                  <a:srgbClr val="A6B2CA"/>
                </a:solidFill>
                <a:latin typeface="Segoe UI"/>
              </a:rPr>
              <a:t>Regulatory &amp; compliance — KSA tax specialist, ZATCA integration</a:t>
            </a:r>
          </a:p>
        </p:txBody>
      </p:sp>
      <p:sp>
        <p:nvSpPr>
          <p:cNvPr id="32" name="TextBox 31"/>
          <p:cNvSpPr txBox="1"/>
          <p:nvPr/>
        </p:nvSpPr>
        <p:spPr>
          <a:xfrm>
            <a:off x="6291072" y="5010912"/>
            <a:ext cx="2377440" cy="274320"/>
          </a:xfrm>
          <a:prstGeom prst="rect">
            <a:avLst/>
          </a:prstGeom>
          <a:noFill/>
        </p:spPr>
        <p:txBody>
          <a:bodyPr wrap="square" lIns="0" rIns="0" tIns="0" bIns="0" anchor="t">
            <a:spAutoFit/>
          </a:bodyPr>
          <a:lstStyle/>
          <a:p>
            <a:pPr algn="l">
              <a:lnSpc>
                <a:spcPct val="128000"/>
              </a:lnSpc>
            </a:pPr>
            <a:r>
              <a:rPr sz="1700" b="0" i="0">
                <a:solidFill>
                  <a:srgbClr val="E0BE74"/>
                </a:solidFill>
                <a:latin typeface="Consolas"/>
              </a:rPr>
              <a:t>[%]</a:t>
            </a:r>
          </a:p>
        </p:txBody>
      </p:sp>
      <p:sp>
        <p:nvSpPr>
          <p:cNvPr id="33" name="TextBox 32"/>
          <p:cNvSpPr txBox="1"/>
          <p:nvPr/>
        </p:nvSpPr>
        <p:spPr>
          <a:xfrm>
            <a:off x="6291072" y="5321808"/>
            <a:ext cx="2377440" cy="310896"/>
          </a:xfrm>
          <a:prstGeom prst="rect">
            <a:avLst/>
          </a:prstGeom>
          <a:noFill/>
        </p:spPr>
        <p:txBody>
          <a:bodyPr wrap="square" lIns="0" rIns="0" tIns="0" bIns="0" anchor="t">
            <a:spAutoFit/>
          </a:bodyPr>
          <a:lstStyle/>
          <a:p>
            <a:pPr algn="l">
              <a:lnSpc>
                <a:spcPct val="130000"/>
              </a:lnSpc>
            </a:pPr>
            <a:r>
              <a:rPr sz="900" b="0" i="0">
                <a:solidFill>
                  <a:srgbClr val="A6B2CA"/>
                </a:solidFill>
                <a:latin typeface="Segoe UI"/>
              </a:rPr>
              <a:t>Design partners &amp; go-to-market</a:t>
            </a:r>
          </a:p>
        </p:txBody>
      </p:sp>
      <p:sp>
        <p:nvSpPr>
          <p:cNvPr id="34" name="TextBox 33"/>
          <p:cNvSpPr txBox="1"/>
          <p:nvPr/>
        </p:nvSpPr>
        <p:spPr>
          <a:xfrm>
            <a:off x="8906256" y="5010912"/>
            <a:ext cx="2377440" cy="274320"/>
          </a:xfrm>
          <a:prstGeom prst="rect">
            <a:avLst/>
          </a:prstGeom>
          <a:noFill/>
        </p:spPr>
        <p:txBody>
          <a:bodyPr wrap="square" lIns="0" rIns="0" tIns="0" bIns="0" anchor="t">
            <a:spAutoFit/>
          </a:bodyPr>
          <a:lstStyle/>
          <a:p>
            <a:pPr algn="l">
              <a:lnSpc>
                <a:spcPct val="128000"/>
              </a:lnSpc>
            </a:pPr>
            <a:r>
              <a:rPr sz="1700" b="0" i="0">
                <a:solidFill>
                  <a:srgbClr val="E0BE74"/>
                </a:solidFill>
                <a:latin typeface="Consolas"/>
              </a:rPr>
              <a:t>[%]</a:t>
            </a:r>
          </a:p>
        </p:txBody>
      </p:sp>
      <p:sp>
        <p:nvSpPr>
          <p:cNvPr id="35" name="TextBox 34"/>
          <p:cNvSpPr txBox="1"/>
          <p:nvPr/>
        </p:nvSpPr>
        <p:spPr>
          <a:xfrm>
            <a:off x="8906256" y="5321808"/>
            <a:ext cx="2377440" cy="310896"/>
          </a:xfrm>
          <a:prstGeom prst="rect">
            <a:avLst/>
          </a:prstGeom>
          <a:noFill/>
        </p:spPr>
        <p:txBody>
          <a:bodyPr wrap="square" lIns="0" rIns="0" tIns="0" bIns="0" anchor="t">
            <a:spAutoFit/>
          </a:bodyPr>
          <a:lstStyle/>
          <a:p>
            <a:pPr algn="l">
              <a:lnSpc>
                <a:spcPct val="130000"/>
              </a:lnSpc>
            </a:pPr>
            <a:r>
              <a:rPr sz="900" b="0" i="0">
                <a:solidFill>
                  <a:srgbClr val="A6B2CA"/>
                </a:solidFill>
                <a:latin typeface="Segoe UI"/>
              </a:rPr>
              <a:t>Operations, legal &amp; buffer</a:t>
            </a:r>
          </a:p>
        </p:txBody>
      </p:sp>
      <p:sp>
        <p:nvSpPr>
          <p:cNvPr id="36" name="TextBox 35"/>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Milestones name risks removed, not features shipped. All figures and dates on this slide are founder-supplied — see the assumption register.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C1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20</a:t>
            </a:r>
          </a:p>
        </p:txBody>
      </p:sp>
      <p:sp>
        <p:nvSpPr>
          <p:cNvPr id="8" name="TextBox 7"/>
          <p:cNvSpPr txBox="1"/>
          <p:nvPr/>
        </p:nvSpPr>
        <p:spPr>
          <a:xfrm>
            <a:off x="786384" y="1298448"/>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VISION</a:t>
            </a:r>
          </a:p>
        </p:txBody>
      </p:sp>
      <p:sp>
        <p:nvSpPr>
          <p:cNvPr id="9" name="TextBox 8"/>
          <p:cNvSpPr txBox="1"/>
          <p:nvPr/>
        </p:nvSpPr>
        <p:spPr>
          <a:xfrm>
            <a:off x="786384" y="1700784"/>
            <a:ext cx="10424160" cy="1828800"/>
          </a:xfrm>
          <a:prstGeom prst="rect">
            <a:avLst/>
          </a:prstGeom>
          <a:noFill/>
        </p:spPr>
        <p:txBody>
          <a:bodyPr wrap="square" lIns="0" rIns="0" tIns="0" bIns="0" anchor="t">
            <a:spAutoFit/>
          </a:bodyPr>
          <a:lstStyle/>
          <a:p>
            <a:pPr algn="l">
              <a:lnSpc>
                <a:spcPct val="116000"/>
              </a:lnSpc>
            </a:pPr>
            <a:r>
              <a:rPr sz="3000" b="0" i="0" spc="-40">
                <a:solidFill>
                  <a:srgbClr val="EAEEF7"/>
                </a:solidFill>
                <a:latin typeface="Georgia"/>
              </a:rPr>
              <a:t>In five years, two companies in different countries
settle a partner payout against one record that both
their auditors and both their tax authorities accept.</a:t>
            </a:r>
          </a:p>
        </p:txBody>
      </p:sp>
      <p:sp>
        <p:nvSpPr>
          <p:cNvPr id="10" name="Rounded Rectangle 9"/>
          <p:cNvSpPr/>
          <p:nvPr/>
        </p:nvSpPr>
        <p:spPr>
          <a:xfrm>
            <a:off x="786384" y="3840480"/>
            <a:ext cx="2103120" cy="786384"/>
          </a:xfrm>
          <a:prstGeom prst="roundRect">
            <a:avLst>
              <a:gd name="adj" fmla="val 5000"/>
            </a:avLst>
          </a:prstGeom>
          <a:solidFill>
            <a:srgbClr val="14203C"/>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23360"/>
            <a:ext cx="1737360" cy="274320"/>
          </a:xfrm>
          <a:prstGeom prst="rect">
            <a:avLst/>
          </a:prstGeom>
          <a:noFill/>
        </p:spPr>
        <p:txBody>
          <a:bodyPr wrap="square" lIns="0" rIns="0" tIns="0" bIns="0" anchor="t">
            <a:spAutoFit/>
          </a:bodyPr>
          <a:lstStyle/>
          <a:p>
            <a:pPr algn="l">
              <a:lnSpc>
                <a:spcPct val="128000"/>
              </a:lnSpc>
            </a:pPr>
            <a:r>
              <a:rPr sz="1200" b="0" i="0">
                <a:solidFill>
                  <a:srgbClr val="EAEEF7"/>
                </a:solidFill>
                <a:latin typeface="Georgia"/>
              </a:rPr>
              <a:t>Company A</a:t>
            </a:r>
          </a:p>
        </p:txBody>
      </p:sp>
      <p:sp>
        <p:nvSpPr>
          <p:cNvPr id="12" name="TextBox 11"/>
          <p:cNvSpPr txBox="1"/>
          <p:nvPr/>
        </p:nvSpPr>
        <p:spPr>
          <a:xfrm>
            <a:off x="1005840" y="4297680"/>
            <a:ext cx="1737360" cy="237744"/>
          </a:xfrm>
          <a:prstGeom prst="rect">
            <a:avLst/>
          </a:prstGeom>
          <a:noFill/>
        </p:spPr>
        <p:txBody>
          <a:bodyPr wrap="square" lIns="0" rIns="0" tIns="0" bIns="0" anchor="t">
            <a:spAutoFit/>
          </a:bodyPr>
          <a:lstStyle/>
          <a:p>
            <a:pPr algn="l">
              <a:lnSpc>
                <a:spcPct val="128000"/>
              </a:lnSpc>
            </a:pPr>
            <a:r>
              <a:rPr sz="900" b="0" i="0">
                <a:solidFill>
                  <a:srgbClr val="6E7A94"/>
                </a:solidFill>
                <a:latin typeface="Consolas"/>
              </a:rPr>
              <a:t>Riyadh</a:t>
            </a:r>
          </a:p>
        </p:txBody>
      </p:sp>
      <p:sp>
        <p:nvSpPr>
          <p:cNvPr id="13" name="Rounded Rectangle 12"/>
          <p:cNvSpPr/>
          <p:nvPr/>
        </p:nvSpPr>
        <p:spPr>
          <a:xfrm>
            <a:off x="9290304" y="3840480"/>
            <a:ext cx="2103120" cy="786384"/>
          </a:xfrm>
          <a:prstGeom prst="roundRect">
            <a:avLst>
              <a:gd name="adj" fmla="val 5000"/>
            </a:avLst>
          </a:prstGeom>
          <a:solidFill>
            <a:srgbClr val="14203C"/>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59" y="4023360"/>
            <a:ext cx="1737360" cy="274320"/>
          </a:xfrm>
          <a:prstGeom prst="rect">
            <a:avLst/>
          </a:prstGeom>
          <a:noFill/>
        </p:spPr>
        <p:txBody>
          <a:bodyPr wrap="square" lIns="0" rIns="0" tIns="0" bIns="0" anchor="t">
            <a:spAutoFit/>
          </a:bodyPr>
          <a:lstStyle/>
          <a:p>
            <a:pPr algn="l">
              <a:lnSpc>
                <a:spcPct val="128000"/>
              </a:lnSpc>
            </a:pPr>
            <a:r>
              <a:rPr sz="1200" b="0" i="0">
                <a:solidFill>
                  <a:srgbClr val="EAEEF7"/>
                </a:solidFill>
                <a:latin typeface="Georgia"/>
              </a:rPr>
              <a:t>Company B</a:t>
            </a:r>
          </a:p>
        </p:txBody>
      </p:sp>
      <p:sp>
        <p:nvSpPr>
          <p:cNvPr id="15" name="TextBox 14"/>
          <p:cNvSpPr txBox="1"/>
          <p:nvPr/>
        </p:nvSpPr>
        <p:spPr>
          <a:xfrm>
            <a:off x="9509759" y="4297680"/>
            <a:ext cx="1737360" cy="237744"/>
          </a:xfrm>
          <a:prstGeom prst="rect">
            <a:avLst/>
          </a:prstGeom>
          <a:noFill/>
        </p:spPr>
        <p:txBody>
          <a:bodyPr wrap="square" lIns="0" rIns="0" tIns="0" bIns="0" anchor="t">
            <a:spAutoFit/>
          </a:bodyPr>
          <a:lstStyle/>
          <a:p>
            <a:pPr algn="l">
              <a:lnSpc>
                <a:spcPct val="128000"/>
              </a:lnSpc>
            </a:pPr>
            <a:r>
              <a:rPr sz="900" b="0" i="0">
                <a:solidFill>
                  <a:srgbClr val="6E7A94"/>
                </a:solidFill>
                <a:latin typeface="Consolas"/>
              </a:rPr>
              <a:t>Frankfurt</a:t>
            </a:r>
          </a:p>
        </p:txBody>
      </p:sp>
      <p:sp>
        <p:nvSpPr>
          <p:cNvPr id="16" name="Rounded Rectangle 15"/>
          <p:cNvSpPr/>
          <p:nvPr/>
        </p:nvSpPr>
        <p:spPr>
          <a:xfrm>
            <a:off x="3300984" y="3566160"/>
            <a:ext cx="1417320" cy="475488"/>
          </a:xfrm>
          <a:prstGeom prst="roundRect">
            <a:avLst>
              <a:gd name="adj" fmla="val 7000"/>
            </a:avLst>
          </a:prstGeom>
          <a:solidFill>
            <a:srgbClr val="0E1A14"/>
          </a:solidFill>
          <a:ln w="12700">
            <a:solidFill>
              <a:srgbClr val="4FC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00984" y="3666744"/>
            <a:ext cx="1417320" cy="274320"/>
          </a:xfrm>
          <a:prstGeom prst="rect">
            <a:avLst/>
          </a:prstGeom>
          <a:noFill/>
        </p:spPr>
        <p:txBody>
          <a:bodyPr wrap="square" lIns="0" rIns="0" tIns="0" bIns="0" anchor="t">
            <a:spAutoFit/>
          </a:bodyPr>
          <a:lstStyle/>
          <a:p>
            <a:pPr algn="ctr">
              <a:lnSpc>
                <a:spcPct val="128000"/>
              </a:lnSpc>
            </a:pPr>
            <a:r>
              <a:rPr sz="950" b="1" i="0">
                <a:solidFill>
                  <a:srgbClr val="4FC088"/>
                </a:solidFill>
                <a:latin typeface="Segoe UI"/>
              </a:rPr>
              <a:t>ZATCA</a:t>
            </a:r>
          </a:p>
        </p:txBody>
      </p:sp>
      <p:sp>
        <p:nvSpPr>
          <p:cNvPr id="18" name="Rounded Rectangle 17"/>
          <p:cNvSpPr/>
          <p:nvPr/>
        </p:nvSpPr>
        <p:spPr>
          <a:xfrm>
            <a:off x="7461504" y="3566160"/>
            <a:ext cx="1417320" cy="475488"/>
          </a:xfrm>
          <a:prstGeom prst="roundRect">
            <a:avLst>
              <a:gd name="adj" fmla="val 7000"/>
            </a:avLst>
          </a:prstGeom>
          <a:solidFill>
            <a:srgbClr val="0E1A14"/>
          </a:solidFill>
          <a:ln w="12700">
            <a:solidFill>
              <a:srgbClr val="4FC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3666744"/>
            <a:ext cx="1417320" cy="274320"/>
          </a:xfrm>
          <a:prstGeom prst="rect">
            <a:avLst/>
          </a:prstGeom>
          <a:noFill/>
        </p:spPr>
        <p:txBody>
          <a:bodyPr wrap="square" lIns="0" rIns="0" tIns="0" bIns="0" anchor="t">
            <a:spAutoFit/>
          </a:bodyPr>
          <a:lstStyle/>
          <a:p>
            <a:pPr algn="ctr">
              <a:lnSpc>
                <a:spcPct val="128000"/>
              </a:lnSpc>
            </a:pPr>
            <a:r>
              <a:rPr sz="950" b="1" i="0">
                <a:solidFill>
                  <a:srgbClr val="4FC088"/>
                </a:solidFill>
                <a:latin typeface="Segoe UI"/>
              </a:rPr>
              <a:t>ViDA</a:t>
            </a:r>
          </a:p>
        </p:txBody>
      </p:sp>
      <p:sp>
        <p:nvSpPr>
          <p:cNvPr id="20" name="Rounded Rectangle 19"/>
          <p:cNvSpPr/>
          <p:nvPr/>
        </p:nvSpPr>
        <p:spPr>
          <a:xfrm>
            <a:off x="4946904" y="3694176"/>
            <a:ext cx="2286000" cy="1097280"/>
          </a:xfrm>
          <a:prstGeom prst="roundRect">
            <a:avLst>
              <a:gd name="adj" fmla="val 5000"/>
            </a:avLst>
          </a:prstGeom>
          <a:solidFill>
            <a:srgbClr val="101A32"/>
          </a:solidFill>
          <a:ln w="17780">
            <a:solidFill>
              <a:srgbClr val="2A5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46904" y="3895344"/>
            <a:ext cx="2286000" cy="274320"/>
          </a:xfrm>
          <a:prstGeom prst="rect">
            <a:avLst/>
          </a:prstGeom>
          <a:noFill/>
        </p:spPr>
        <p:txBody>
          <a:bodyPr wrap="square" lIns="0" rIns="0" tIns="0" bIns="0" anchor="t">
            <a:spAutoFit/>
          </a:bodyPr>
          <a:lstStyle/>
          <a:p>
            <a:pPr algn="ctr">
              <a:lnSpc>
                <a:spcPct val="128000"/>
              </a:lnSpc>
            </a:pPr>
            <a:r>
              <a:rPr sz="950" b="1" i="0" spc="200">
                <a:solidFill>
                  <a:srgbClr val="86A2FF"/>
                </a:solidFill>
                <a:latin typeface="Segoe UI"/>
              </a:rPr>
              <a:t>ONE RECORD</a:t>
            </a:r>
          </a:p>
        </p:txBody>
      </p:sp>
      <p:sp>
        <p:nvSpPr>
          <p:cNvPr id="22" name="TextBox 21"/>
          <p:cNvSpPr txBox="1"/>
          <p:nvPr/>
        </p:nvSpPr>
        <p:spPr>
          <a:xfrm>
            <a:off x="4946904" y="4224528"/>
            <a:ext cx="2286000" cy="457200"/>
          </a:xfrm>
          <a:prstGeom prst="rect">
            <a:avLst/>
          </a:prstGeom>
          <a:noFill/>
        </p:spPr>
        <p:txBody>
          <a:bodyPr wrap="square" lIns="0" rIns="0" tIns="0" bIns="0" anchor="t">
            <a:spAutoFit/>
          </a:bodyPr>
          <a:lstStyle/>
          <a:p>
            <a:pPr algn="ctr">
              <a:lnSpc>
                <a:spcPct val="116000"/>
              </a:lnSpc>
            </a:pPr>
            <a:r>
              <a:rPr sz="1400" b="0" i="0">
                <a:solidFill>
                  <a:srgbClr val="EAEEF7"/>
                </a:solidFill>
                <a:latin typeface="Georgia"/>
              </a:rPr>
              <a:t>Partner
Revenue OS</a:t>
            </a:r>
          </a:p>
        </p:txBody>
      </p:sp>
      <p:sp>
        <p:nvSpPr>
          <p:cNvPr id="23" name="Rectangle 22"/>
          <p:cNvSpPr/>
          <p:nvPr/>
        </p:nvSpPr>
        <p:spPr>
          <a:xfrm>
            <a:off x="2889503" y="4233672"/>
            <a:ext cx="2057400"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32904" y="4233672"/>
            <a:ext cx="2057400" cy="10972"/>
          </a:xfrm>
          <a:prstGeom prst="rect">
            <a:avLst/>
          </a:prstGeom>
          <a:solidFill>
            <a:srgbClr val="2E3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6384" y="5120640"/>
            <a:ext cx="10607040" cy="10972"/>
          </a:xfrm>
          <a:prstGeom prst="rect">
            <a:avLst/>
          </a:prstGeom>
          <a:solidFill>
            <a:srgbClr val="2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285232"/>
            <a:ext cx="6766560" cy="566928"/>
          </a:xfrm>
          <a:prstGeom prst="rect">
            <a:avLst/>
          </a:prstGeom>
          <a:noFill/>
        </p:spPr>
        <p:txBody>
          <a:bodyPr wrap="square" lIns="0" rIns="0" tIns="0" bIns="0" anchor="t">
            <a:spAutoFit/>
          </a:bodyPr>
          <a:lstStyle/>
          <a:p>
            <a:pPr algn="l">
              <a:lnSpc>
                <a:spcPct val="142000"/>
              </a:lnSpc>
            </a:pPr>
            <a:r>
              <a:rPr sz="1000" b="0" i="0">
                <a:solidFill>
                  <a:srgbClr val="A6B2CA"/>
                </a:solidFill>
                <a:latin typeface="Segoe UI"/>
              </a:rPr>
              <a:t>ViDA requires structured e-invoicing plus near-real-time digital reporting for intra-EU B2B from 1 July 2030, and full domestic convergence by 1 January 2035. Saudi Arabia arrives roughly three years early. We intend to be the layer above it before the EU gets there.</a:t>
            </a:r>
          </a:p>
        </p:txBody>
      </p:sp>
      <p:sp>
        <p:nvSpPr>
          <p:cNvPr id="27" name="TextBox 26"/>
          <p:cNvSpPr txBox="1"/>
          <p:nvPr/>
        </p:nvSpPr>
        <p:spPr>
          <a:xfrm>
            <a:off x="8284463" y="5120640"/>
            <a:ext cx="3108960" cy="640080"/>
          </a:xfrm>
          <a:prstGeom prst="rect">
            <a:avLst/>
          </a:prstGeom>
          <a:noFill/>
        </p:spPr>
        <p:txBody>
          <a:bodyPr wrap="square" lIns="0" rIns="0" tIns="0" bIns="0" anchor="t">
            <a:spAutoFit/>
          </a:bodyPr>
          <a:lstStyle/>
          <a:p>
            <a:pPr algn="r">
              <a:lnSpc>
                <a:spcPct val="122000"/>
              </a:lnSpc>
            </a:pPr>
            <a:r>
              <a:rPr sz="1600" b="0" i="0">
                <a:solidFill>
                  <a:srgbClr val="86A2FF"/>
                </a:solidFill>
                <a:latin typeface="Georgia"/>
              </a:rPr>
              <a:t>“Two companies,
one number,
no argument.”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C1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21</a:t>
            </a:r>
          </a:p>
        </p:txBody>
      </p:sp>
      <p:sp>
        <p:nvSpPr>
          <p:cNvPr id="8" name="TextBox 7"/>
          <p:cNvSpPr txBox="1"/>
          <p:nvPr/>
        </p:nvSpPr>
        <p:spPr>
          <a:xfrm>
            <a:off x="786384" y="1481328"/>
            <a:ext cx="1920240" cy="1371600"/>
          </a:xfrm>
          <a:prstGeom prst="rect">
            <a:avLst/>
          </a:prstGeom>
          <a:noFill/>
        </p:spPr>
        <p:txBody>
          <a:bodyPr wrap="square" lIns="0" rIns="0" tIns="0" bIns="0" anchor="t">
            <a:spAutoFit/>
          </a:bodyPr>
          <a:lstStyle/>
          <a:p>
            <a:pPr algn="l">
              <a:lnSpc>
                <a:spcPct val="128000"/>
              </a:lnSpc>
            </a:pPr>
            <a:r>
              <a:rPr sz="7200" b="0" i="0">
                <a:solidFill>
                  <a:srgbClr val="1E2E55"/>
                </a:solidFill>
                <a:latin typeface="Georgia"/>
              </a:rPr>
              <a:t>A</a:t>
            </a:r>
          </a:p>
        </p:txBody>
      </p:sp>
      <p:sp>
        <p:nvSpPr>
          <p:cNvPr id="9" name="TextBox 8"/>
          <p:cNvSpPr txBox="1"/>
          <p:nvPr/>
        </p:nvSpPr>
        <p:spPr>
          <a:xfrm>
            <a:off x="2935224" y="1755648"/>
            <a:ext cx="8686800" cy="274320"/>
          </a:xfrm>
          <a:prstGeom prst="rect">
            <a:avLst/>
          </a:prstGeom>
          <a:noFill/>
        </p:spPr>
        <p:txBody>
          <a:bodyPr wrap="square" lIns="0" rIns="0" tIns="0" bIns="0" anchor="t">
            <a:spAutoFit/>
          </a:bodyPr>
          <a:lstStyle/>
          <a:p>
            <a:pPr algn="l">
              <a:lnSpc>
                <a:spcPct val="128000"/>
              </a:lnSpc>
            </a:pPr>
            <a:r>
              <a:rPr sz="1050" b="1" i="0" spc="300">
                <a:solidFill>
                  <a:srgbClr val="86A2FF"/>
                </a:solidFill>
                <a:latin typeface="Segoe UI"/>
              </a:rPr>
              <a:t>APPENDIX</a:t>
            </a:r>
          </a:p>
        </p:txBody>
      </p:sp>
      <p:sp>
        <p:nvSpPr>
          <p:cNvPr id="10" name="TextBox 9"/>
          <p:cNvSpPr txBox="1"/>
          <p:nvPr/>
        </p:nvSpPr>
        <p:spPr>
          <a:xfrm>
            <a:off x="2935224" y="2194560"/>
            <a:ext cx="8961120" cy="1737360"/>
          </a:xfrm>
          <a:prstGeom prst="rect">
            <a:avLst/>
          </a:prstGeom>
          <a:noFill/>
        </p:spPr>
        <p:txBody>
          <a:bodyPr wrap="square" lIns="0" rIns="0" tIns="0" bIns="0" anchor="t">
            <a:spAutoFit/>
          </a:bodyPr>
          <a:lstStyle/>
          <a:p>
            <a:pPr algn="l">
              <a:lnSpc>
                <a:spcPct val="106000"/>
              </a:lnSpc>
            </a:pPr>
            <a:r>
              <a:rPr sz="4000" b="0" i="0" spc="-50">
                <a:solidFill>
                  <a:srgbClr val="EAEEF7"/>
                </a:solidFill>
                <a:latin typeface="Georgia"/>
              </a:rPr>
              <a:t>The hard questions,
the mechanics, and what
we could not verify.</a:t>
            </a:r>
          </a:p>
        </p:txBody>
      </p:sp>
      <p:sp>
        <p:nvSpPr>
          <p:cNvPr id="11" name="Rectangle 10"/>
          <p:cNvSpPr/>
          <p:nvPr/>
        </p:nvSpPr>
        <p:spPr>
          <a:xfrm>
            <a:off x="2935224" y="4224528"/>
            <a:ext cx="2377440" cy="10972"/>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35224" y="4498848"/>
            <a:ext cx="8138160" cy="1097280"/>
          </a:xfrm>
          <a:prstGeom prst="rect">
            <a:avLst/>
          </a:prstGeom>
          <a:noFill/>
        </p:spPr>
        <p:txBody>
          <a:bodyPr wrap="square" lIns="0" rIns="0" tIns="0" bIns="0" anchor="t">
            <a:spAutoFit/>
          </a:bodyPr>
          <a:lstStyle/>
          <a:p>
            <a:pPr algn="l">
              <a:lnSpc>
                <a:spcPct val="150000"/>
              </a:lnSpc>
            </a:pPr>
            <a:r>
              <a:rPr sz="1450" b="0" i="0">
                <a:solidFill>
                  <a:srgbClr val="A6B2CA"/>
                </a:solidFill>
                <a:latin typeface="Segoe UI"/>
              </a:rPr>
              <a:t>Volunteering the objection is worth more than defending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22</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APPENDIX A  ·  THE HARD QUESTIONS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900" b="0" i="0" spc="-40">
                <a:solidFill>
                  <a:srgbClr val="EAEEF7"/>
                </a:solidFill>
                <a:latin typeface="Georgia"/>
              </a:rPr>
              <a:t>The four questions we expect first.</a:t>
            </a:r>
          </a:p>
        </p:txBody>
      </p:sp>
      <p:sp>
        <p:nvSpPr>
          <p:cNvPr id="10" name="TextBox 9"/>
          <p:cNvSpPr txBox="1"/>
          <p:nvPr/>
        </p:nvSpPr>
        <p:spPr>
          <a:xfrm>
            <a:off x="786384" y="2231136"/>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If this is so obvious, why hasn't PartnerStack, Impartner or Tipalti built it?</a:t>
            </a:r>
          </a:p>
        </p:txBody>
      </p:sp>
      <p:sp>
        <p:nvSpPr>
          <p:cNvPr id="11" name="TextBox 10"/>
          <p:cNvSpPr txBox="1"/>
          <p:nvPr/>
        </p:nvSpPr>
        <p:spPr>
          <a:xfrm>
            <a:off x="1170432" y="2542032"/>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Because the category was defined not to. G2's PRM inclusion criteria require six capabilities — none of them settlement, payout, invoicing, tax or reconciliation — and G2 states in its own words that compliance and contractual tracking are “typically considered as secondary capabilities.” Where payout does appear it is Rebate Management: one party disbursing in one direction, outside the partnerships tree. The gap is structural, not an oversight.</a:t>
            </a:r>
          </a:p>
        </p:txBody>
      </p:sp>
      <p:sp>
        <p:nvSpPr>
          <p:cNvPr id="12" name="Rectangle 11"/>
          <p:cNvSpPr/>
          <p:nvPr/>
        </p:nvSpPr>
        <p:spPr>
          <a:xfrm>
            <a:off x="786384" y="3090672"/>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63824"/>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AppDirect just bought PartnerStack and Tackle. Why won't they localise for Saudi in a quarter?</a:t>
            </a:r>
          </a:p>
        </p:txBody>
      </p:sp>
      <p:sp>
        <p:nvSpPr>
          <p:cNvPr id="14" name="TextBox 13"/>
          <p:cNvSpPr txBox="1"/>
          <p:nvPr/>
        </p:nvSpPr>
        <p:spPr>
          <a:xfrm>
            <a:off x="1170432" y="3474720"/>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The concession first: a well-capitalised acquirer could buy a Saudi e-invoicing service provider tomorrow. We are not claiming they can't build it. Our defence is that the bilateral primitive is in our data model from day one and they would be retrofitting it — and that AppDirect settles as the marketplace, taking a cut of the transaction it would be adjudicating. Also, the localisation is not one build: the UAE runs Peppol five-corner, Saudi runs clearance.</a:t>
            </a:r>
          </a:p>
        </p:txBody>
      </p:sp>
      <p:sp>
        <p:nvSpPr>
          <p:cNvPr id="15" name="Rectangle 14"/>
          <p:cNvSpPr/>
          <p:nvPr/>
        </p:nvSpPr>
        <p:spPr>
          <a:xfrm>
            <a:off x="786384" y="4023360"/>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096512"/>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It only works if both sides adopt. How do you cold-start a two-sided record?</a:t>
            </a:r>
          </a:p>
        </p:txBody>
      </p:sp>
      <p:sp>
        <p:nvSpPr>
          <p:cNvPr id="17" name="TextBox 16"/>
          <p:cNvSpPr txBox="1"/>
          <p:nvPr/>
        </p:nvSpPr>
        <p:spPr>
          <a:xfrm>
            <a:off x="1170432" y="4407408"/>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Phase 1 delivers complete value to a single company with zero counterparty consent — a design constraint, not a hope, and it has a precedent in Crossbeam's account mapping (25,000+ companies, 30,000+ today). The counter-argument we take seriously: almost no great network was built by bolting a network onto a tool. So the cross-tenant bilateral primitive ships in the Phase 1 data model, not retrofitted in Phase 2. Hold us to that.</a:t>
            </a:r>
          </a:p>
        </p:txBody>
      </p:sp>
      <p:sp>
        <p:nvSpPr>
          <p:cNvPr id="18" name="Rectangle 17"/>
          <p:cNvSpPr/>
          <p:nvPr/>
        </p:nvSpPr>
        <p:spPr>
          <a:xfrm>
            <a:off x="786384" y="4956048"/>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029200"/>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Saudi GDP just contracted. Isn't your beachhead shrinking — and why Riyadh rather than San Francisco?</a:t>
            </a:r>
          </a:p>
        </p:txBody>
      </p:sp>
      <p:sp>
        <p:nvSpPr>
          <p:cNvPr id="20" name="TextBox 19"/>
          <p:cNvSpPr txBox="1"/>
          <p:nvPr/>
        </p:nvSpPr>
        <p:spPr>
          <a:xfrm>
            <a:off x="1170432" y="5340096"/>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Volunteered before you ask: the headline is an oil story, and I will not present a full-year 2025 number as a run rate. What did not reverse are the stock measures — non-oil ~55% of GDP, private sector 51% against a 47% baseline and a 65% target — and firm formation: 1.91m active commercial registrations, +12% YoY. Most importantly, the mandate does not move with the oil price. Wave 24's deadline was not contingent on GDP. And the capital is here: Saudi startups raised $1.72bn across 257 deals in 2025, 45% of MENA's $3.8bn.</a:t>
            </a:r>
          </a:p>
        </p:txBody>
      </p:sp>
      <p:sp>
        <p:nvSpPr>
          <p:cNvPr id="21" name="Rectangle 20"/>
          <p:cNvSpPr/>
          <p:nvPr/>
        </p:nvSpPr>
        <p:spPr>
          <a:xfrm>
            <a:off x="786384" y="5888736"/>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23</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APPENDIX A  ·  THE HARD QUESTIONS</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900" b="0" i="0" spc="-40">
                <a:solidFill>
                  <a:srgbClr val="EAEEF7"/>
                </a:solidFill>
                <a:latin typeface="Georgia"/>
              </a:rPr>
              <a:t>And the four that decide it.</a:t>
            </a:r>
          </a:p>
        </p:txBody>
      </p:sp>
      <p:sp>
        <p:nvSpPr>
          <p:cNvPr id="10" name="TextBox 9"/>
          <p:cNvSpPr txBox="1"/>
          <p:nvPr/>
        </p:nvSpPr>
        <p:spPr>
          <a:xfrm>
            <a:off x="786384" y="2231136"/>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Basis points on settled flow sounds like a fantasy revenue line. Justify it.</a:t>
            </a:r>
          </a:p>
        </p:txBody>
      </p:sp>
      <p:sp>
        <p:nvSpPr>
          <p:cNvPr id="11" name="TextBox 10"/>
          <p:cNvSpPr txBox="1"/>
          <p:nvPr/>
        </p:nvSpPr>
        <p:spPr>
          <a:xfrm>
            <a:off x="1170432" y="2542032"/>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We don't put it in the base case, and when we model it we model it from filings. Toast's gross fintech take is 2.55% of $159.1bn of volume; its net is 55 bps at a 21.7% gross margin. ServiceTitan's payments take is ~0.25% of GTV and subscription is still ~70% of revenue. The durable number is tens of basis points, earned at volume — which is precisely why Phase 3 is Phase 3. There is also a strategic reason to price low: a high percentage take invites the counterparties to settle around you.</a:t>
            </a:r>
          </a:p>
        </p:txBody>
      </p:sp>
      <p:sp>
        <p:nvSpPr>
          <p:cNvPr id="12" name="Rectangle 11"/>
          <p:cNvSpPr/>
          <p:nvPr/>
        </p:nvSpPr>
        <p:spPr>
          <a:xfrm>
            <a:off x="786384" y="3090672"/>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63824"/>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Your TAM is going to be made up. Convince me it isn't.</a:t>
            </a:r>
          </a:p>
        </p:txBody>
      </p:sp>
      <p:sp>
        <p:nvSpPr>
          <p:cNvPr id="14" name="TextBox 13"/>
          <p:cNvSpPr txBox="1"/>
          <p:nvPr/>
        </p:nvSpPr>
        <p:spPr>
          <a:xfrm>
            <a:off x="1170432" y="3474720"/>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It is constructed, and we say so on the slide. No research house publishes a total for B2B partner commissions, revenue shares, rebates and referral fees as a category — two independent research passes searched and found nothing. That absence is itself the finding: the money is unmeasured because it is unowned. So we build it bottom-up and label every input sourced or assumed on the same page. The weakest rung is partner-programme penetration, which exists in no public source and which I ground in my own discovery base rate.</a:t>
            </a:r>
          </a:p>
        </p:txBody>
      </p:sp>
      <p:sp>
        <p:nvSpPr>
          <p:cNvPr id="15" name="Rectangle 14"/>
          <p:cNvSpPr/>
          <p:nvPr/>
        </p:nvSpPr>
        <p:spPr>
          <a:xfrm>
            <a:off x="786384" y="4023360"/>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096512"/>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You're pre-revenue with no urgent demand signal. Why isn't that fatal?</a:t>
            </a:r>
          </a:p>
        </p:txBody>
      </p:sp>
      <p:sp>
        <p:nvSpPr>
          <p:cNvPr id="17" name="TextBox 16"/>
          <p:cNvSpPr txBox="1"/>
          <p:nvPr/>
        </p:nvSpPr>
        <p:spPr>
          <a:xfrm>
            <a:off x="1170432" y="4407408"/>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Because this is a Hard Fact market in Sequoia's own product-market-fit taxonomy: customers “have resigned themselves to just living with the problem,” the obstacle is force of habit, and the path requires first educating the market and then capturing it. Two companies reconciling by email do not experience it as a problem; they experience it as the weather. That is a diagnosis, not an excuse — it means we budget for market education, and the urgency we rely on is a filing deadline with a 1%-a-month penalty, not our marketing.</a:t>
            </a:r>
          </a:p>
        </p:txBody>
      </p:sp>
      <p:sp>
        <p:nvSpPr>
          <p:cNvPr id="18" name="Rectangle 17"/>
          <p:cNvSpPr/>
          <p:nvPr/>
        </p:nvSpPr>
        <p:spPr>
          <a:xfrm>
            <a:off x="786384" y="4956048"/>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029200"/>
            <a:ext cx="10515600" cy="292608"/>
          </a:xfrm>
          <a:prstGeom prst="rect">
            <a:avLst/>
          </a:prstGeom>
          <a:noFill/>
        </p:spPr>
        <p:txBody>
          <a:bodyPr wrap="square" lIns="0" rIns="0" tIns="0" bIns="0" anchor="t">
            <a:spAutoFit/>
          </a:bodyPr>
          <a:lstStyle/>
          <a:p>
            <a:pPr algn="l">
              <a:lnSpc>
                <a:spcPct val="128000"/>
              </a:lnSpc>
            </a:pPr>
            <a:r>
              <a:rPr sz="1250" b="0" i="0">
                <a:solidFill>
                  <a:srgbClr val="EAEEF7"/>
                </a:solidFill>
                <a:latin typeface="Georgia"/>
              </a:rPr>
              <a:t>Q.  If ZATCA already clears the invoice, aren't you a thin layer over a government API?</a:t>
            </a:r>
          </a:p>
        </p:txBody>
      </p:sp>
      <p:sp>
        <p:nvSpPr>
          <p:cNvPr id="20" name="TextBox 19"/>
          <p:cNvSpPr txBox="1"/>
          <p:nvPr/>
        </p:nvSpPr>
        <p:spPr>
          <a:xfrm>
            <a:off x="1170432" y="5340096"/>
            <a:ext cx="10104120" cy="603504"/>
          </a:xfrm>
          <a:prstGeom prst="rect">
            <a:avLst/>
          </a:prstGeom>
          <a:noFill/>
        </p:spPr>
        <p:txBody>
          <a:bodyPr wrap="square" lIns="0" rIns="0" tIns="0" bIns="0" anchor="t">
            <a:spAutoFit/>
          </a:bodyPr>
          <a:lstStyle/>
          <a:p>
            <a:pPr algn="l">
              <a:lnSpc>
                <a:spcPct val="138000"/>
              </a:lnSpc>
            </a:pPr>
            <a:r>
              <a:rPr sz="900" b="0" i="0">
                <a:solidFill>
                  <a:srgbClr val="A6B2CA"/>
                </a:solidFill>
                <a:latin typeface="Segoe UI"/>
              </a:rPr>
              <a:t>The cleared invoice is the settlement event, not the agreement. ZATCA holds that an invoice was issued, to whom, at what rate, at what time. It does not hold who sourced the deal, under what protection window, whether the claim was eligible under which version of which ruleset, or whether the counterparty is related — which moves the rate from 5% to 15%. Those facts determine the amount, they are agreed between two companies, and today they exist nowhere but in email. That is also why a tax vendor can't do this: tax vendors don't hold attribution, and partner vendors don't hold tax.</a:t>
            </a:r>
          </a:p>
        </p:txBody>
      </p:sp>
      <p:sp>
        <p:nvSpPr>
          <p:cNvPr id="21" name="Rectangle 20"/>
          <p:cNvSpPr/>
          <p:nvPr/>
        </p:nvSpPr>
        <p:spPr>
          <a:xfrm>
            <a:off x="786384" y="5888736"/>
            <a:ext cx="10607040"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24</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APPENDIX B  ·  ASSUMPTION REGISTER</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700" b="0" i="0" spc="-40">
                <a:solidFill>
                  <a:srgbClr val="EAEEF7"/>
                </a:solidFill>
                <a:latin typeface="Georgia"/>
              </a:rPr>
              <a:t>What is sourced, what is assumed, and what must be confirmed
before this deck circulates.</a:t>
            </a:r>
          </a:p>
        </p:txBody>
      </p:sp>
      <p:sp>
        <p:nvSpPr>
          <p:cNvPr id="10" name="Rounded Rectangle 9"/>
          <p:cNvSpPr/>
          <p:nvPr/>
        </p:nvSpPr>
        <p:spPr>
          <a:xfrm>
            <a:off x="786384" y="2487168"/>
            <a:ext cx="3383280" cy="32186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487168"/>
            <a:ext cx="3383280" cy="41148"/>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70048"/>
            <a:ext cx="2926080" cy="274320"/>
          </a:xfrm>
          <a:prstGeom prst="rect">
            <a:avLst/>
          </a:prstGeom>
          <a:noFill/>
        </p:spPr>
        <p:txBody>
          <a:bodyPr wrap="square" lIns="0" rIns="0" tIns="0" bIns="0" anchor="t">
            <a:spAutoFit/>
          </a:bodyPr>
          <a:lstStyle/>
          <a:p>
            <a:pPr algn="l">
              <a:lnSpc>
                <a:spcPct val="128000"/>
              </a:lnSpc>
            </a:pPr>
            <a:r>
              <a:rPr sz="1250" b="1" i="0">
                <a:solidFill>
                  <a:srgbClr val="EAEEF7"/>
                </a:solidFill>
                <a:latin typeface="Segoe UI"/>
              </a:rPr>
              <a:t>Founder-supplied</a:t>
            </a:r>
          </a:p>
        </p:txBody>
      </p:sp>
      <p:sp>
        <p:nvSpPr>
          <p:cNvPr id="13" name="TextBox 12"/>
          <p:cNvSpPr txBox="1"/>
          <p:nvPr/>
        </p:nvSpPr>
        <p:spPr>
          <a:xfrm>
            <a:off x="1042416" y="2926080"/>
            <a:ext cx="2926080" cy="237744"/>
          </a:xfrm>
          <a:prstGeom prst="rect">
            <a:avLst/>
          </a:prstGeom>
          <a:noFill/>
        </p:spPr>
        <p:txBody>
          <a:bodyPr wrap="square" lIns="0" rIns="0" tIns="0" bIns="0" anchor="t">
            <a:spAutoFit/>
          </a:bodyPr>
          <a:lstStyle/>
          <a:p>
            <a:pPr algn="l">
              <a:lnSpc>
                <a:spcPct val="128000"/>
              </a:lnSpc>
            </a:pPr>
            <a:r>
              <a:rPr sz="850" b="1" i="0" spc="120">
                <a:solidFill>
                  <a:srgbClr val="E4695A"/>
                </a:solidFill>
                <a:latin typeface="Segoe UI"/>
              </a:rPr>
              <a:t>ABSENT FROM ALL RESEARCH</a:t>
            </a:r>
          </a:p>
        </p:txBody>
      </p:sp>
      <p:sp>
        <p:nvSpPr>
          <p:cNvPr id="14" name="Rectangle 13"/>
          <p:cNvSpPr/>
          <p:nvPr/>
        </p:nvSpPr>
        <p:spPr>
          <a:xfrm>
            <a:off x="1042416" y="3351276"/>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5" y="325526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Fast facts — founding date, headcount, stage, raise, use of funds</a:t>
            </a:r>
          </a:p>
        </p:txBody>
      </p:sp>
      <p:sp>
        <p:nvSpPr>
          <p:cNvPr id="16" name="Rectangle 15"/>
          <p:cNvSpPr/>
          <p:nvPr/>
        </p:nvSpPr>
        <p:spPr>
          <a:xfrm>
            <a:off x="1042416" y="3712464"/>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3616452"/>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All evidence on slide 17: design partners, LOIs, interview counts, pilot data</a:t>
            </a:r>
          </a:p>
        </p:txBody>
      </p:sp>
      <p:sp>
        <p:nvSpPr>
          <p:cNvPr id="18" name="Rectangle 17"/>
          <p:cNvSpPr/>
          <p:nvPr/>
        </p:nvSpPr>
        <p:spPr>
          <a:xfrm>
            <a:off x="1042416" y="4073652"/>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5295" y="3977640"/>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Team bios and founder–market fit</a:t>
            </a:r>
          </a:p>
        </p:txBody>
      </p:sp>
      <p:sp>
        <p:nvSpPr>
          <p:cNvPr id="20" name="Rectangle 19"/>
          <p:cNvSpPr/>
          <p:nvPr/>
        </p:nvSpPr>
        <p:spPr>
          <a:xfrm>
            <a:off x="1042416" y="4293108"/>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5295" y="4197096"/>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Ask, runway, hiring plan and all three milestone dates</a:t>
            </a:r>
          </a:p>
        </p:txBody>
      </p:sp>
      <p:sp>
        <p:nvSpPr>
          <p:cNvPr id="22" name="Rectangle 21"/>
          <p:cNvSpPr/>
          <p:nvPr/>
        </p:nvSpPr>
        <p:spPr>
          <a:xfrm>
            <a:off x="1042416" y="4654296"/>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25295" y="455828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Reven's own pricing bands, ACV and unit economics</a:t>
            </a:r>
          </a:p>
        </p:txBody>
      </p:sp>
      <p:sp>
        <p:nvSpPr>
          <p:cNvPr id="24" name="Rectangle 23"/>
          <p:cNvSpPr/>
          <p:nvPr/>
        </p:nvSpPr>
        <p:spPr>
          <a:xfrm>
            <a:off x="1042416" y="5015484"/>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5295" y="4919472"/>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The partner-programme penetration rate in the market arithmetic</a:t>
            </a:r>
          </a:p>
        </p:txBody>
      </p:sp>
      <p:sp>
        <p:nvSpPr>
          <p:cNvPr id="26" name="Rectangle 25"/>
          <p:cNvSpPr/>
          <p:nvPr/>
        </p:nvSpPr>
        <p:spPr>
          <a:xfrm>
            <a:off x="1042416" y="5376672"/>
            <a:ext cx="50292" cy="50292"/>
          </a:xfrm>
          <a:prstGeom prst="rect">
            <a:avLst/>
          </a:prstGeom>
          <a:solidFill>
            <a:srgbClr val="E46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5295" y="5280660"/>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Who tried this a decade ago, and what stopped them</a:t>
            </a:r>
          </a:p>
        </p:txBody>
      </p:sp>
      <p:sp>
        <p:nvSpPr>
          <p:cNvPr id="28" name="Rounded Rectangle 27"/>
          <p:cNvSpPr/>
          <p:nvPr/>
        </p:nvSpPr>
        <p:spPr>
          <a:xfrm>
            <a:off x="4398264" y="2487168"/>
            <a:ext cx="3383280" cy="32186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2487168"/>
            <a:ext cx="3383280" cy="41148"/>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4296" y="2670048"/>
            <a:ext cx="2926080" cy="274320"/>
          </a:xfrm>
          <a:prstGeom prst="rect">
            <a:avLst/>
          </a:prstGeom>
          <a:noFill/>
        </p:spPr>
        <p:txBody>
          <a:bodyPr wrap="square" lIns="0" rIns="0" tIns="0" bIns="0" anchor="t">
            <a:spAutoFit/>
          </a:bodyPr>
          <a:lstStyle/>
          <a:p>
            <a:pPr algn="l">
              <a:lnSpc>
                <a:spcPct val="128000"/>
              </a:lnSpc>
            </a:pPr>
            <a:r>
              <a:rPr sz="1250" b="1" i="0">
                <a:solidFill>
                  <a:srgbClr val="EAEEF7"/>
                </a:solidFill>
                <a:latin typeface="Segoe UI"/>
              </a:rPr>
              <a:t>Confirm at the primary source</a:t>
            </a:r>
          </a:p>
        </p:txBody>
      </p:sp>
      <p:sp>
        <p:nvSpPr>
          <p:cNvPr id="31" name="TextBox 30"/>
          <p:cNvSpPr txBox="1"/>
          <p:nvPr/>
        </p:nvSpPr>
        <p:spPr>
          <a:xfrm>
            <a:off x="4654296" y="2926080"/>
            <a:ext cx="2926080" cy="237744"/>
          </a:xfrm>
          <a:prstGeom prst="rect">
            <a:avLst/>
          </a:prstGeom>
          <a:noFill/>
        </p:spPr>
        <p:txBody>
          <a:bodyPr wrap="square" lIns="0" rIns="0" tIns="0" bIns="0" anchor="t">
            <a:spAutoFit/>
          </a:bodyPr>
          <a:lstStyle/>
          <a:p>
            <a:pPr algn="l">
              <a:lnSpc>
                <a:spcPct val="128000"/>
              </a:lnSpc>
            </a:pPr>
            <a:r>
              <a:rPr sz="850" b="1" i="0" spc="120">
                <a:solidFill>
                  <a:srgbClr val="E0955E"/>
                </a:solidFill>
                <a:latin typeface="Segoe UI"/>
              </a:rPr>
              <a:t>ONE PASS ONLY, OR A CONFLICT</a:t>
            </a:r>
          </a:p>
        </p:txBody>
      </p:sp>
      <p:sp>
        <p:nvSpPr>
          <p:cNvPr id="32" name="Rectangle 31"/>
          <p:cNvSpPr/>
          <p:nvPr/>
        </p:nvSpPr>
        <p:spPr>
          <a:xfrm>
            <a:off x="4654296" y="3351276"/>
            <a:ext cx="50292" cy="50292"/>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37176" y="325526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ZATCA Wave 25 (SAR 187,500 / 1 Feb 2027) — screenshot the announcement. Wave 24 carries the argument alone if it does not hold</a:t>
            </a:r>
          </a:p>
        </p:txBody>
      </p:sp>
      <p:sp>
        <p:nvSpPr>
          <p:cNvPr id="34" name="Rectangle 33"/>
          <p:cNvSpPr/>
          <p:nvPr/>
        </p:nvSpPr>
        <p:spPr>
          <a:xfrm>
            <a:off x="4654296" y="3854196"/>
            <a:ext cx="50292" cy="50292"/>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37176" y="375818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The whole Saudi regulatory block: wave thresholds, WHT rates, VAT treatment, document type codes</a:t>
            </a:r>
          </a:p>
        </p:txBody>
      </p:sp>
      <p:sp>
        <p:nvSpPr>
          <p:cNvPr id="36" name="Rectangle 35"/>
          <p:cNvSpPr/>
          <p:nvPr/>
        </p:nvSpPr>
        <p:spPr>
          <a:xfrm>
            <a:off x="4654296" y="4357116"/>
            <a:ext cx="50292" cy="50292"/>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37176" y="426110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Shopify's FY2024 revenue mix, at the filing</a:t>
            </a:r>
          </a:p>
        </p:txBody>
      </p:sp>
      <p:sp>
        <p:nvSpPr>
          <p:cNvPr id="38" name="Rectangle 37"/>
          <p:cNvSpPr/>
          <p:nvPr/>
        </p:nvSpPr>
        <p:spPr>
          <a:xfrm>
            <a:off x="4654296" y="4576572"/>
            <a:ext cx="50292" cy="50292"/>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37176" y="4480560"/>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Poland's KSeF dates — postponed repeatedly</a:t>
            </a:r>
          </a:p>
        </p:txBody>
      </p:sp>
      <p:sp>
        <p:nvSpPr>
          <p:cNvPr id="40" name="Rectangle 39"/>
          <p:cNvSpPr/>
          <p:nvPr/>
        </p:nvSpPr>
        <p:spPr>
          <a:xfrm>
            <a:off x="4654296" y="4796028"/>
            <a:ext cx="50292" cy="50292"/>
          </a:xfrm>
          <a:prstGeom prst="rect">
            <a:avLst/>
          </a:prstGeom>
          <a:solidFill>
            <a:srgbClr val="E09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37176" y="4700016"/>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The market-absence claim — the searches for Europe, India, LATAM and China were never run</a:t>
            </a:r>
          </a:p>
        </p:txBody>
      </p:sp>
      <p:sp>
        <p:nvSpPr>
          <p:cNvPr id="42" name="Rounded Rectangle 41"/>
          <p:cNvSpPr/>
          <p:nvPr/>
        </p:nvSpPr>
        <p:spPr>
          <a:xfrm>
            <a:off x="8010144" y="2487168"/>
            <a:ext cx="3383280" cy="3218688"/>
          </a:xfrm>
          <a:prstGeom prst="roundRect">
            <a:avLst>
              <a:gd name="adj" fmla="val 4000"/>
            </a:avLst>
          </a:prstGeom>
          <a:solidFill>
            <a:srgbClr val="101A32"/>
          </a:solidFill>
          <a:ln w="12700">
            <a:solidFill>
              <a:srgbClr val="232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10144" y="2487168"/>
            <a:ext cx="3383280" cy="41148"/>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66175" y="2670048"/>
            <a:ext cx="2926080" cy="274320"/>
          </a:xfrm>
          <a:prstGeom prst="rect">
            <a:avLst/>
          </a:prstGeom>
          <a:noFill/>
        </p:spPr>
        <p:txBody>
          <a:bodyPr wrap="square" lIns="0" rIns="0" tIns="0" bIns="0" anchor="t">
            <a:spAutoFit/>
          </a:bodyPr>
          <a:lstStyle/>
          <a:p>
            <a:pPr algn="l">
              <a:lnSpc>
                <a:spcPct val="128000"/>
              </a:lnSpc>
            </a:pPr>
            <a:r>
              <a:rPr sz="1250" b="1" i="0">
                <a:solidFill>
                  <a:srgbClr val="EAEEF7"/>
                </a:solidFill>
                <a:latin typeface="Segoe UI"/>
              </a:rPr>
              <a:t>Cut, and must not come back</a:t>
            </a:r>
          </a:p>
        </p:txBody>
      </p:sp>
      <p:sp>
        <p:nvSpPr>
          <p:cNvPr id="45" name="TextBox 44"/>
          <p:cNvSpPr txBox="1"/>
          <p:nvPr/>
        </p:nvSpPr>
        <p:spPr>
          <a:xfrm>
            <a:off x="8266175" y="2926080"/>
            <a:ext cx="2926080" cy="237744"/>
          </a:xfrm>
          <a:prstGeom prst="rect">
            <a:avLst/>
          </a:prstGeom>
          <a:noFill/>
        </p:spPr>
        <p:txBody>
          <a:bodyPr wrap="square" lIns="0" rIns="0" tIns="0" bIns="0" anchor="t">
            <a:spAutoFit/>
          </a:bodyPr>
          <a:lstStyle/>
          <a:p>
            <a:pPr algn="l">
              <a:lnSpc>
                <a:spcPct val="128000"/>
              </a:lnSpc>
            </a:pPr>
            <a:r>
              <a:rPr sz="850" b="1" i="0" spc="120">
                <a:solidFill>
                  <a:srgbClr val="8C97B2"/>
                </a:solidFill>
                <a:latin typeface="Segoe UI"/>
              </a:rPr>
              <a:t>FAILED ADVERSARIAL VERIFICATION</a:t>
            </a:r>
          </a:p>
        </p:txBody>
      </p:sp>
      <p:sp>
        <p:nvSpPr>
          <p:cNvPr id="46" name="Rectangle 45"/>
          <p:cNvSpPr/>
          <p:nvPr/>
        </p:nvSpPr>
        <p:spPr>
          <a:xfrm>
            <a:off x="8266175" y="3351276"/>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49056" y="325526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Play Bigger's “76% to the category king”; DocSend's deck-attention seconds</a:t>
            </a:r>
          </a:p>
        </p:txBody>
      </p:sp>
      <p:sp>
        <p:nvSpPr>
          <p:cNvPr id="48" name="Rectangle 47"/>
          <p:cNvSpPr/>
          <p:nvPr/>
        </p:nvSpPr>
        <p:spPr>
          <a:xfrm>
            <a:off x="8266175" y="3712464"/>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49056" y="3616452"/>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Every figure in the payout-economy sizing pass — none survived</a:t>
            </a:r>
          </a:p>
        </p:txBody>
      </p:sp>
      <p:sp>
        <p:nvSpPr>
          <p:cNvPr id="50" name="Rectangle 49"/>
          <p:cNvSpPr/>
          <p:nvPr/>
        </p:nvSpPr>
        <p:spPr>
          <a:xfrm>
            <a:off x="8266175" y="4073652"/>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49056" y="3977640"/>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The 94% spreadsheet-error rate; contract-leakage percentages; quota attainment 57%</a:t>
            </a:r>
          </a:p>
        </p:txBody>
      </p:sp>
      <p:sp>
        <p:nvSpPr>
          <p:cNvPr id="52" name="Rectangle 51"/>
          <p:cNvSpPr/>
          <p:nvPr/>
        </p:nvSpPr>
        <p:spPr>
          <a:xfrm>
            <a:off x="8266175" y="4434840"/>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49056" y="4338828"/>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SDAIA's “48 enforcement decisions”; the ZATCA amnesty cliff; DAC7 as mandating a partner registry</a:t>
            </a:r>
          </a:p>
        </p:txBody>
      </p:sp>
      <p:sp>
        <p:nvSpPr>
          <p:cNvPr id="54" name="Rectangle 53"/>
          <p:cNvSpPr/>
          <p:nvPr/>
        </p:nvSpPr>
        <p:spPr>
          <a:xfrm>
            <a:off x="8266175" y="4937760"/>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49056" y="4841748"/>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“Half of every venture dollar in MENA” — it is 45%</a:t>
            </a:r>
          </a:p>
        </p:txBody>
      </p:sp>
      <p:sp>
        <p:nvSpPr>
          <p:cNvPr id="56" name="Rectangle 55"/>
          <p:cNvSpPr/>
          <p:nvPr/>
        </p:nvSpPr>
        <p:spPr>
          <a:xfrm>
            <a:off x="8266175" y="5298948"/>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49056" y="5202936"/>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“~600 RHQs against a target of 500” — 780+ against a target of 480</a:t>
            </a:r>
          </a:p>
        </p:txBody>
      </p:sp>
      <p:sp>
        <p:nvSpPr>
          <p:cNvPr id="58" name="Rectangle 57"/>
          <p:cNvSpPr/>
          <p:nvPr/>
        </p:nvSpPr>
        <p:spPr>
          <a:xfrm>
            <a:off x="8266175" y="5660136"/>
            <a:ext cx="50292" cy="50292"/>
          </a:xfrm>
          <a:prstGeom prst="rect">
            <a:avLst/>
          </a:prstGeom>
          <a:solidFill>
            <a:srgbClr val="8C9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49056" y="5564124"/>
            <a:ext cx="2743200" cy="384048"/>
          </a:xfrm>
          <a:prstGeom prst="rect">
            <a:avLst/>
          </a:prstGeom>
          <a:noFill/>
        </p:spPr>
        <p:txBody>
          <a:bodyPr wrap="square" lIns="0" rIns="0" tIns="0" bIns="0" anchor="t">
            <a:spAutoFit/>
          </a:bodyPr>
          <a:lstStyle/>
          <a:p>
            <a:pPr algn="l">
              <a:lnSpc>
                <a:spcPct val="134000"/>
              </a:lnSpc>
            </a:pPr>
            <a:r>
              <a:rPr sz="850" b="0" i="0">
                <a:solidFill>
                  <a:srgbClr val="A6B2CA"/>
                </a:solidFill>
                <a:latin typeface="Segoe UI"/>
              </a:rPr>
              <a:t>“93% of Vision 2030 indicators on target” — 309 of 390, which is 79%</a:t>
            </a:r>
          </a:p>
        </p:txBody>
      </p:sp>
      <p:sp>
        <p:nvSpPr>
          <p:cNvPr id="60" name="TextBox 59"/>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Evidence base: nine parallel research angles, each adversarially fact-checked by an independent pass instructed to default to refuted where a claim could not be confirmed. Figures that failed verification were deleted, not softened.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 y="6291072"/>
            <a:ext cx="10619201" cy="10972"/>
          </a:xfrm>
          <a:prstGeom prst="rect">
            <a:avLst/>
          </a:prstGeom>
          <a:solidFill>
            <a:srgbClr val="18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 y="6455664"/>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7824" y="6547103"/>
            <a:ext cx="65836" cy="65836"/>
          </a:xfrm>
          <a:prstGeom prst="rect">
            <a:avLst/>
          </a:prstGeom>
          <a:solidFill>
            <a:srgbClr val="2A5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6441948"/>
            <a:ext cx="5669280" cy="219456"/>
          </a:xfrm>
          <a:prstGeom prst="rect">
            <a:avLst/>
          </a:prstGeom>
          <a:noFill/>
        </p:spPr>
        <p:txBody>
          <a:bodyPr wrap="square" lIns="0" rIns="0" tIns="0" bIns="0" anchor="t">
            <a:spAutoFit/>
          </a:bodyPr>
          <a:lstStyle/>
          <a:p>
            <a:pPr algn="l">
              <a:lnSpc>
                <a:spcPct val="128000"/>
              </a:lnSpc>
            </a:pPr>
            <a:r>
              <a:rPr sz="900" b="1" i="0" spc="200">
                <a:solidFill>
                  <a:srgbClr val="48526E"/>
                </a:solidFill>
                <a:latin typeface="Segoe UI"/>
              </a:rPr>
              <a:t>REVEN</a:t>
            </a:r>
          </a:p>
        </p:txBody>
      </p:sp>
      <p:sp>
        <p:nvSpPr>
          <p:cNvPr id="7" name="TextBox 6"/>
          <p:cNvSpPr txBox="1"/>
          <p:nvPr/>
        </p:nvSpPr>
        <p:spPr>
          <a:xfrm>
            <a:off x="10308305" y="6441948"/>
            <a:ext cx="1097280" cy="219456"/>
          </a:xfrm>
          <a:prstGeom prst="rect">
            <a:avLst/>
          </a:prstGeom>
          <a:noFill/>
        </p:spPr>
        <p:txBody>
          <a:bodyPr wrap="square" lIns="0" rIns="0" tIns="0" bIns="0" anchor="t">
            <a:spAutoFit/>
          </a:bodyPr>
          <a:lstStyle/>
          <a:p>
            <a:pPr algn="r">
              <a:lnSpc>
                <a:spcPct val="128000"/>
              </a:lnSpc>
            </a:pPr>
            <a:r>
              <a:rPr sz="900" b="0" i="0" spc="100">
                <a:solidFill>
                  <a:srgbClr val="48526E"/>
                </a:solidFill>
                <a:latin typeface="Consolas"/>
              </a:rPr>
              <a:t>25</a:t>
            </a:r>
          </a:p>
        </p:txBody>
      </p:sp>
      <p:sp>
        <p:nvSpPr>
          <p:cNvPr id="8" name="TextBox 7"/>
          <p:cNvSpPr txBox="1"/>
          <p:nvPr/>
        </p:nvSpPr>
        <p:spPr>
          <a:xfrm>
            <a:off x="786384" y="576072"/>
            <a:ext cx="7315200" cy="237744"/>
          </a:xfrm>
          <a:prstGeom prst="rect">
            <a:avLst/>
          </a:prstGeom>
          <a:noFill/>
        </p:spPr>
        <p:txBody>
          <a:bodyPr wrap="square" lIns="0" rIns="0" tIns="0" bIns="0" anchor="t">
            <a:spAutoFit/>
          </a:bodyPr>
          <a:lstStyle/>
          <a:p>
            <a:pPr algn="l">
              <a:lnSpc>
                <a:spcPct val="128000"/>
              </a:lnSpc>
            </a:pPr>
            <a:r>
              <a:rPr sz="1050" b="1" i="0" spc="220">
                <a:solidFill>
                  <a:srgbClr val="86A2FF"/>
                </a:solidFill>
                <a:latin typeface="Segoe UI"/>
              </a:rPr>
              <a:t>APPENDIX C  ·  METHOD</a:t>
            </a:r>
          </a:p>
        </p:txBody>
      </p:sp>
      <p:sp>
        <p:nvSpPr>
          <p:cNvPr id="9" name="TextBox 8"/>
          <p:cNvSpPr txBox="1"/>
          <p:nvPr/>
        </p:nvSpPr>
        <p:spPr>
          <a:xfrm>
            <a:off x="786384" y="960120"/>
            <a:ext cx="10058400" cy="1417320"/>
          </a:xfrm>
          <a:prstGeom prst="rect">
            <a:avLst/>
          </a:prstGeom>
          <a:noFill/>
        </p:spPr>
        <p:txBody>
          <a:bodyPr wrap="square" lIns="0" rIns="0" tIns="0" bIns="0" anchor="t">
            <a:spAutoFit/>
          </a:bodyPr>
          <a:lstStyle/>
          <a:p>
            <a:pPr algn="l">
              <a:lnSpc>
                <a:spcPct val="112000"/>
              </a:lnSpc>
            </a:pPr>
            <a:r>
              <a:rPr sz="2900" b="0" i="0" spc="-40">
                <a:solidFill>
                  <a:srgbClr val="EAEEF7"/>
                </a:solidFill>
                <a:latin typeface="Georgia"/>
              </a:rPr>
              <a:t>How this deck is built — so the next version stays honest.</a:t>
            </a:r>
          </a:p>
        </p:txBody>
      </p:sp>
      <p:sp>
        <p:nvSpPr>
          <p:cNvPr id="10" name="TextBox 9"/>
          <p:cNvSpPr txBox="1"/>
          <p:nvPr/>
        </p:nvSpPr>
        <p:spPr>
          <a:xfrm>
            <a:off x="786384" y="2487168"/>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The skeleton</a:t>
            </a:r>
          </a:p>
        </p:txBody>
      </p:sp>
      <p:sp>
        <p:nvSpPr>
          <p:cNvPr id="11" name="TextBox 10"/>
          <p:cNvSpPr txBox="1"/>
          <p:nvPr/>
        </p:nvSpPr>
        <p:spPr>
          <a:xfrm>
            <a:off x="786384" y="2779776"/>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Sequoia's live “Writing a Business Plan” — ten sections, in order: Company purpose · Problem · Solution · Why now? · Market potential · Competition/alternatives · Business model · Team · Financials · Vision. There is no Product section and no Traction section, and there is a Vision closer.</a:t>
            </a:r>
          </a:p>
        </p:txBody>
      </p:sp>
      <p:sp>
        <p:nvSpPr>
          <p:cNvPr id="12" name="TextBox 11"/>
          <p:cNvSpPr txBox="1"/>
          <p:nvPr/>
        </p:nvSpPr>
        <p:spPr>
          <a:xfrm>
            <a:off x="6318504" y="2487168"/>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The opener</a:t>
            </a:r>
          </a:p>
        </p:txBody>
      </p:sp>
      <p:sp>
        <p:nvSpPr>
          <p:cNvPr id="13" name="TextBox 12"/>
          <p:cNvSpPr txBox="1"/>
          <p:nvPr/>
        </p:nvSpPr>
        <p:spPr>
          <a:xfrm>
            <a:off x="6318504" y="2779776"/>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Sequoia's “How to Present to Investors”: three slides in the first five minutes — What's changed? · What you do · Fast facts — then an agenda, then ask the room what to address. The shift comes before the problem.</a:t>
            </a:r>
          </a:p>
        </p:txBody>
      </p:sp>
      <p:sp>
        <p:nvSpPr>
          <p:cNvPr id="14" name="TextBox 13"/>
          <p:cNvSpPr txBox="1"/>
          <p:nvPr/>
        </p:nvSpPr>
        <p:spPr>
          <a:xfrm>
            <a:off x="786384" y="3657600"/>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The spine</a:t>
            </a:r>
          </a:p>
        </p:txBody>
      </p:sp>
      <p:sp>
        <p:nvSpPr>
          <p:cNvPr id="15" name="TextBox 14"/>
          <p:cNvSpPr txBox="1"/>
          <p:nvPr/>
        </p:nvSpPr>
        <p:spPr>
          <a:xfrm>
            <a:off x="786384" y="3950208"/>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Andy Raskin's five beats, in order: name a big relevant change · show winners and losers · tease the promised land · introduce capabilities as the gifts that overcome obstacles · present evidence you can make the story come true. Opening on change rather than problem keeps the room out of a defensive crouch.</a:t>
            </a:r>
          </a:p>
        </p:txBody>
      </p:sp>
      <p:sp>
        <p:nvSpPr>
          <p:cNvPr id="16" name="TextBox 15"/>
          <p:cNvSpPr txBox="1"/>
          <p:nvPr/>
        </p:nvSpPr>
        <p:spPr>
          <a:xfrm>
            <a:off x="6318504" y="3657600"/>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The diagnosis</a:t>
            </a:r>
          </a:p>
        </p:txBody>
      </p:sp>
      <p:sp>
        <p:nvSpPr>
          <p:cNvPr id="17" name="TextBox 16"/>
          <p:cNvSpPr txBox="1"/>
          <p:nvPr/>
        </p:nvSpPr>
        <p:spPr>
          <a:xfrm>
            <a:off x="6318504" y="3950208"/>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Sequoia's Arc PMF taxonomy: this is a Hard Fact market — customers have “resigned themselves to just living with the problem” and the obstacle is force of habit. Naming the archetype converts a weak demand signal from a weakness into a stated strategy.</a:t>
            </a:r>
          </a:p>
        </p:txBody>
      </p:sp>
      <p:sp>
        <p:nvSpPr>
          <p:cNvPr id="18" name="TextBox 17"/>
          <p:cNvSpPr txBox="1"/>
          <p:nvPr/>
        </p:nvSpPr>
        <p:spPr>
          <a:xfrm>
            <a:off x="786384" y="4828032"/>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Every headline is an assertion</a:t>
            </a:r>
          </a:p>
        </p:txBody>
      </p:sp>
      <p:sp>
        <p:nvSpPr>
          <p:cNvPr id="19" name="TextBox 18"/>
          <p:cNvSpPr txBox="1"/>
          <p:nvPr/>
        </p:nvSpPr>
        <p:spPr>
          <a:xfrm>
            <a:off x="786384" y="5120640"/>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A full sentence that states the point, never a topic label. Paste the twenty headlines into a blank page: if that page is not a persuasive argument on its own to someone who has never heard of ZATCA, the deck is not finished — because it will be forwarded to exactly that person.</a:t>
            </a:r>
          </a:p>
        </p:txBody>
      </p:sp>
      <p:sp>
        <p:nvSpPr>
          <p:cNvPr id="20" name="TextBox 19"/>
          <p:cNvSpPr txBox="1"/>
          <p:nvPr/>
        </p:nvSpPr>
        <p:spPr>
          <a:xfrm>
            <a:off x="6318504" y="4828032"/>
            <a:ext cx="5029200" cy="274320"/>
          </a:xfrm>
          <a:prstGeom prst="rect">
            <a:avLst/>
          </a:prstGeom>
          <a:noFill/>
        </p:spPr>
        <p:txBody>
          <a:bodyPr wrap="square" lIns="0" rIns="0" tIns="0" bIns="0" anchor="t">
            <a:spAutoFit/>
          </a:bodyPr>
          <a:lstStyle/>
          <a:p>
            <a:pPr algn="l">
              <a:lnSpc>
                <a:spcPct val="128000"/>
              </a:lnSpc>
            </a:pPr>
            <a:r>
              <a:rPr sz="1150" b="1" i="0">
                <a:solidFill>
                  <a:srgbClr val="86A2FF"/>
                </a:solidFill>
                <a:latin typeface="Segoe UI"/>
              </a:rPr>
              <a:t>Two artefacts, one narrative</a:t>
            </a:r>
          </a:p>
        </p:txBody>
      </p:sp>
      <p:sp>
        <p:nvSpPr>
          <p:cNvPr id="21" name="TextBox 20"/>
          <p:cNvSpPr txBox="1"/>
          <p:nvPr/>
        </p:nvSpPr>
        <p:spPr>
          <a:xfrm>
            <a:off x="6318504" y="5120640"/>
            <a:ext cx="5074920" cy="822960"/>
          </a:xfrm>
          <a:prstGeom prst="rect">
            <a:avLst/>
          </a:prstGeom>
          <a:noFill/>
        </p:spPr>
        <p:txBody>
          <a:bodyPr wrap="square" lIns="0" rIns="0" tIns="0" bIns="0" anchor="t">
            <a:spAutoFit/>
          </a:bodyPr>
          <a:lstStyle/>
          <a:p>
            <a:pPr algn="l">
              <a:lnSpc>
                <a:spcPct val="140000"/>
              </a:lnSpc>
            </a:pPr>
            <a:r>
              <a:rPr sz="900" b="0" i="0">
                <a:solidFill>
                  <a:srgbClr val="A6B2CA"/>
                </a:solidFill>
                <a:latin typeface="Segoe UI"/>
              </a:rPr>
              <a:t>A read-alone deck that survives being emailed, and a twelve-slide twenty-minute live cut: keep 1, 2, 3, 4, 6, 7, 9, 11, 12, 15, 17, 19 — fold 5 into 4 and 8 into 7, demo 10, offer 13/14/16, say 18 and 20 rather than sliding them.</a:t>
            </a:r>
          </a:p>
        </p:txBody>
      </p:sp>
      <p:sp>
        <p:nvSpPr>
          <p:cNvPr id="22" name="TextBox 21"/>
          <p:cNvSpPr txBox="1"/>
          <p:nvPr/>
        </p:nvSpPr>
        <p:spPr>
          <a:xfrm>
            <a:off x="786384" y="5925312"/>
            <a:ext cx="10619201" cy="310896"/>
          </a:xfrm>
          <a:prstGeom prst="rect">
            <a:avLst/>
          </a:prstGeom>
          <a:noFill/>
        </p:spPr>
        <p:txBody>
          <a:bodyPr wrap="square" lIns="0" rIns="0" tIns="0" bIns="0" anchor="t">
            <a:spAutoFit/>
          </a:bodyPr>
          <a:lstStyle/>
          <a:p>
            <a:pPr algn="l">
              <a:lnSpc>
                <a:spcPct val="135000"/>
              </a:lnSpc>
            </a:pPr>
            <a:r>
              <a:rPr sz="800" b="0" i="0">
                <a:solidFill>
                  <a:srgbClr val="48526E"/>
                </a:solidFill>
                <a:latin typeface="Segoe UI"/>
              </a:rPr>
              <a:t>Sequoia Capital, “Writing a Business Plan” (15 Mar 2019, modified 13 Mar 2025) and “How to Present to Investors” · Sequoia Arc, PMF Framework · Andy Raskin, “The Greatest Sales Deck I've Ever Seen” (2016) · April Dunford, positioning from competitive alternatives · Barbara Minto, The Pyramid Principle. Sequoia publishes no template file of its 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