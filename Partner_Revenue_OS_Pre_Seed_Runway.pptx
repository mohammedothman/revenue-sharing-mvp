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answers: once the SAR 2.0M lands, how long does it last, which week/month gets tight, and what must change. Base case assumes zero revenue (the honest survival view). The upside is illustrative, built from the repo's pricing ranges, and clearly flagged.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One-screen verdict for a board. The headline tension: the cost plan is fully specified and consumes almost the entire raise; survival past ~month 11-12 depends on revenue and/or more capital.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Sets expectations: cash not accounting profit; real vs assumed; the no-hallucination discipline from the repo's own model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single editable control panel. REAL = founder data. ASSUMPTION/ILLUSTRATIVE/GAP are what to refine.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of the commitment problem: nearly the whole raise is people + setup; no discretionary room.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regimes: a heavy Month 1 (setup lands at once), then a flat ~153k/month once the team is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full 2.0M up front and no revenue, cash declines steadily, drops below the 150k floor in Month 12, and ends the year at SAR 86,410. It never hits zero inside 12 months, but only just (runway-to-zero ~12.6 months) — and this ignores tax and GTM.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 case for prioritising revenue in H2. Upside deliberately conservative on timing (long enterprise cycles).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Lump-sum case: setup hits in W1, payroll at month-ends (W4/W9/W13). The 13-week window is the calm early period; the crunch (in the tranche case) comes later, around month 5-6.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chart visualising the first-tranche threshold and the immediate breach if it's too small.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Quantifies why front-loading matters. Tranche assumptions are illustrative (50/50) to show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Keeps the upside honest: clearly labelled illustrative, conservative on count and timing, tied to the repo's own seed milestone.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'to make this board-defensible' list. Items 1-3 move the conclusion; the rest refine accuracy.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Actionable close: capital structure, the revenue milestone, the missing budget, and when to start the next raise.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month-by-month for the illustrative upside, for reference.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73152"/>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698480" cy="1280160"/>
          </a:xfrm>
          <a:prstGeom prst="rect">
            <a:avLst/>
          </a:prstGeom>
          <a:noFill/>
        </p:spPr>
        <p:txBody>
          <a:bodyPr wrap="square">
            <a:spAutoFit/>
          </a:bodyPr>
          <a:lstStyle/>
          <a:p>
            <a:pPr algn="l"/>
            <a:r>
              <a:rPr sz="4000" b="1" i="0">
                <a:solidFill>
                  <a:srgbClr val="FFFFFF"/>
                </a:solidFill>
                <a:latin typeface="Calibri"/>
              </a:rPr>
              <a:t>Partner Revenue OS</a:t>
            </a:r>
          </a:p>
        </p:txBody>
      </p:sp>
      <p:sp>
        <p:nvSpPr>
          <p:cNvPr id="5" name="TextBox 4"/>
          <p:cNvSpPr txBox="1"/>
          <p:nvPr/>
        </p:nvSpPr>
        <p:spPr>
          <a:xfrm>
            <a:off x="731520" y="2971800"/>
            <a:ext cx="10698480" cy="1463040"/>
          </a:xfrm>
          <a:prstGeom prst="rect">
            <a:avLst/>
          </a:prstGeom>
          <a:noFill/>
        </p:spPr>
        <p:txBody>
          <a:bodyPr wrap="square">
            <a:spAutoFit/>
          </a:bodyPr>
          <a:lstStyle/>
          <a:p>
            <a:pPr algn="l"/>
            <a:r>
              <a:rPr sz="2400" b="1" i="0">
                <a:solidFill>
                  <a:srgbClr val="189AB4"/>
                </a:solidFill>
                <a:latin typeface="Calibri"/>
              </a:rPr>
              <a:t>Pre-Seed Runway — 13-Week Weekly + 12-Month Cash-Flow Model</a:t>
            </a:r>
          </a:p>
          <a:p>
            <a:r>
              <a:rPr sz="1600">
                <a:solidFill>
                  <a:srgbClr val="FFFFFF"/>
                </a:solidFill>
                <a:latin typeface="Calibri"/>
              </a:rPr>
              <a:t>Zero-revenue base case + illustrative upside · SAR · KSA/GCC-calibrated</a:t>
            </a:r>
          </a:p>
        </p:txBody>
      </p:sp>
      <p:sp>
        <p:nvSpPr>
          <p:cNvPr id="6" name="TextBox 5"/>
          <p:cNvSpPr txBox="1"/>
          <p:nvPr/>
        </p:nvSpPr>
        <p:spPr>
          <a:xfrm>
            <a:off x="731520" y="5212080"/>
            <a:ext cx="10698480" cy="1097280"/>
          </a:xfrm>
          <a:prstGeom prst="rect">
            <a:avLst/>
          </a:prstGeom>
          <a:noFill/>
        </p:spPr>
        <p:txBody>
          <a:bodyPr wrap="square">
            <a:spAutoFit/>
          </a:bodyPr>
          <a:lstStyle/>
          <a:p>
            <a:pPr algn="l"/>
            <a:r>
              <a:rPr sz="1200" b="0" i="0">
                <a:solidFill>
                  <a:srgbClr val="C8D2DC"/>
                </a:solidFill>
                <a:latin typeface="Calibri"/>
              </a:rPr>
              <a:t>June 2026  ·  Built only from founder-provided cost data (Pillars 1-3) and the repo's regulatory reference.</a:t>
            </a:r>
          </a:p>
          <a:p>
            <a:r>
              <a:rPr sz="1200" i="1">
                <a:solidFill>
                  <a:srgbClr val="C8D2DC"/>
                </a:solidFill>
                <a:latin typeface="Calibri"/>
              </a:rPr>
              <a:t>No invented figures: every number is founder input (real) or a clearly-flagged assumption.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THE BOTTOM LINE</a:t>
            </a:r>
          </a:p>
          <a:p>
            <a:r>
              <a:rPr sz="2600" b="1">
                <a:solidFill>
                  <a:srgbClr val="FFFFFF"/>
                </a:solidFill>
                <a:latin typeface="Calibri"/>
              </a:rPr>
              <a:t>Executive summary</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600"/>
              </a:spcAft>
            </a:pPr>
            <a:r>
              <a:rPr sz="1400" b="1">
                <a:solidFill>
                  <a:srgbClr val="0F2A4A"/>
                </a:solidFill>
                <a:latin typeface="Calibri"/>
              </a:rPr>
              <a:t>▪ Starting cash is SAR 0. The clock starts when the first capital lands. Raise = SAR 2.0M (timing not yet decided).</a:t>
            </a:r>
          </a:p>
          <a:p>
            <a:pPr>
              <a:spcAft>
                <a:spcPts val="600"/>
              </a:spcAft>
            </a:pPr>
            <a:r>
              <a:rPr sz="1400" b="0">
                <a:solidFill>
                  <a:srgbClr val="22262A"/>
                </a:solidFill>
                <a:latin typeface="Calibri"/>
              </a:rPr>
              <a:t>▪ The SAR 2.0M is ~95.7% pre-committed: Setup + 4 founders + 6 execution hires + cloud = SAR 1,913,590. Only SAR 86,410 (4.3%) is uncommitted.</a:t>
            </a:r>
          </a:p>
          <a:p>
            <a:pPr>
              <a:spcAft>
                <a:spcPts val="600"/>
              </a:spcAft>
            </a:pPr>
            <a:r>
              <a:rPr sz="1400" b="0">
                <a:solidFill>
                  <a:srgbClr val="22262A"/>
                </a:solidFill>
                <a:latin typeface="Calibri"/>
              </a:rPr>
              <a:t>▪ Average burn ≈ SAR 159,466/month. Month 1 is front-loaded at SAR 227,193 (setup + first payroll).</a:t>
            </a:r>
          </a:p>
          <a:p>
            <a:pPr>
              <a:spcAft>
                <a:spcPts val="600"/>
              </a:spcAft>
            </a:pPr>
            <a:r>
              <a:rPr sz="1400" b="1">
                <a:solidFill>
                  <a:srgbClr val="C0392B"/>
                </a:solidFill>
                <a:latin typeface="Calibri"/>
              </a:rPr>
              <a:t>▪ BASE CASE (zero revenue, lump sum): cash lasts the year but ends at SAR 86,410 — BELOW the SAR 150k floor, breached around Month 12. Runway-to-zero ≈ 12.6 months.</a:t>
            </a:r>
          </a:p>
          <a:p>
            <a:pPr lvl="1">
              <a:spcAft>
                <a:spcPts val="600"/>
              </a:spcAft>
            </a:pPr>
            <a:r>
              <a:rPr sz="1200" b="0">
                <a:solidFill>
                  <a:srgbClr val="C0392B"/>
                </a:solidFill>
                <a:latin typeface="Calibri"/>
              </a:rPr>
              <a:t>– This is 'default-dead' on cost alone: the raise funds the team for ~a year with no cushion, no tax line, and no marketing budget.</a:t>
            </a:r>
          </a:p>
          <a:p>
            <a:pPr>
              <a:spcAft>
                <a:spcPts val="600"/>
              </a:spcAft>
            </a:pPr>
            <a:r>
              <a:rPr sz="1400" b="1">
                <a:solidFill>
                  <a:srgbClr val="1E8E3E"/>
                </a:solidFill>
                <a:latin typeface="Calibri"/>
              </a:rPr>
              <a:t>▪ ILLUSTRATIVE UPSIDE (3-5 mid-market logos in H2): ends the year at ~SAR 614,410, stays above the floor — revenue is the difference between survival and stall.</a:t>
            </a:r>
          </a:p>
          <a:p>
            <a:pPr>
              <a:spcAft>
                <a:spcPts val="600"/>
              </a:spcAft>
            </a:pPr>
            <a:r>
              <a:rPr sz="1400" b="1">
                <a:solidFill>
                  <a:srgbClr val="B8860B"/>
                </a:solidFill>
                <a:latin typeface="Calibri"/>
              </a:rPr>
              <a:t>▪ If funded in tranches, the FIRST tranche must be ≥ ~SAR 377,193 or Month 1 breaches the floor; tranche 2 must land by ~Month 6.</a:t>
            </a:r>
          </a:p>
          <a:p>
            <a:pPr>
              <a:spcAft>
                <a:spcPts val="600"/>
              </a:spcAft>
            </a:pPr>
            <a:r>
              <a:rPr sz="1400" b="1">
                <a:solidFill>
                  <a:srgbClr val="0F2A4A"/>
                </a:solidFill>
                <a:latin typeface="Calibri"/>
              </a:rPr>
              <a:t>▪ Recommendation: front-load the raise (lump sum or a large first tranche), itemize taxes + GTM, and treat H2 revenue as the gating milestone for survival and the seed round.</a:t>
            </a:r>
          </a:p>
        </p:txBody>
      </p:sp>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METHOD &amp; DISCIPLINE</a:t>
            </a:r>
          </a:p>
          <a:p>
            <a:r>
              <a:rPr sz="2600" b="1">
                <a:solidFill>
                  <a:srgbClr val="FFFFFF"/>
                </a:solidFill>
                <a:latin typeface="Calibri"/>
              </a:rPr>
              <a:t>How to read this model</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600"/>
              </a:spcAft>
            </a:pPr>
            <a:r>
              <a:rPr sz="1400" b="1">
                <a:solidFill>
                  <a:srgbClr val="0F2A4A"/>
                </a:solidFill>
                <a:latin typeface="Calibri"/>
              </a:rPr>
              <a:t>▪ This is a CASH model — it tracks money in and money out of the bank, week by week and month by month.</a:t>
            </a:r>
          </a:p>
          <a:p>
            <a:pPr lvl="1">
              <a:spcAft>
                <a:spcPts val="600"/>
              </a:spcAft>
            </a:pPr>
            <a:r>
              <a:rPr sz="1200" b="0">
                <a:solidFill>
                  <a:srgbClr val="22262A"/>
                </a:solidFill>
                <a:latin typeface="Calibri"/>
              </a:rPr>
              <a:t>– Opening cash  +  cash in  −  cash out  =  ending cash.  Ending cash carries to the next period. Repeat.</a:t>
            </a:r>
          </a:p>
          <a:p>
            <a:pPr>
              <a:spcAft>
                <a:spcPts val="600"/>
              </a:spcAft>
            </a:pPr>
            <a:r>
              <a:rPr sz="1400" b="0">
                <a:solidFill>
                  <a:srgbClr val="22262A"/>
                </a:solidFill>
                <a:latin typeface="Calibri"/>
              </a:rPr>
              <a:t>▪ Every figure is tagged: REAL (founder-provided cost data) or ASSUMPTION (clearly flagged, editable).</a:t>
            </a:r>
          </a:p>
          <a:p>
            <a:pPr lvl="1">
              <a:spcAft>
                <a:spcPts val="600"/>
              </a:spcAft>
            </a:pPr>
            <a:r>
              <a:rPr sz="1200" b="0">
                <a:solidFill>
                  <a:srgbClr val="22262A"/>
                </a:solidFill>
                <a:latin typeface="Calibri"/>
              </a:rPr>
              <a:t>– No invented numbers. Where an input isn't decided yet, the model uses a stated assumption you can overwrite.</a:t>
            </a:r>
          </a:p>
          <a:p>
            <a:pPr>
              <a:spcAft>
                <a:spcPts val="600"/>
              </a:spcAft>
            </a:pPr>
            <a:r>
              <a:rPr sz="1400" b="0">
                <a:solidFill>
                  <a:srgbClr val="22262A"/>
                </a:solidFill>
                <a:latin typeface="Calibri"/>
              </a:rPr>
              <a:t>▪ Four things kept separate: bookings ≠ invoices ≠ recognised revenue ≠ CASH COLLECTED. This model = cash only.</a:t>
            </a:r>
          </a:p>
          <a:p>
            <a:pPr lvl="1">
              <a:spcAft>
                <a:spcPts val="600"/>
              </a:spcAft>
            </a:pPr>
            <a:r>
              <a:rPr sz="1200" b="0">
                <a:solidFill>
                  <a:srgbClr val="22262A"/>
                </a:solidFill>
                <a:latin typeface="Calibri"/>
              </a:rPr>
              <a:t>– VAT is treated as working capital, never revenue. Currency = SAR.</a:t>
            </a:r>
          </a:p>
          <a:p>
            <a:pPr>
              <a:spcAft>
                <a:spcPts val="600"/>
              </a:spcAft>
            </a:pPr>
            <a:r>
              <a:rPr sz="1400" b="0">
                <a:solidFill>
                  <a:srgbClr val="22262A"/>
                </a:solidFill>
                <a:latin typeface="Calibri"/>
              </a:rPr>
              <a:t>▪ Sources: founder cost sheet (Pillars 1-3, the verified financial model) + the repo's KSA/GCC regulatory reference for rates and timing.</a:t>
            </a:r>
          </a:p>
          <a:p>
            <a:pPr>
              <a:spcAft>
                <a:spcPts val="600"/>
              </a:spcAft>
            </a:pPr>
            <a:r>
              <a:rPr sz="1400" b="0">
                <a:solidFill>
                  <a:srgbClr val="22262A"/>
                </a:solidFill>
                <a:latin typeface="Calibri"/>
              </a:rPr>
              <a:t>▪ Scope: all 12 months sit inside Phase 1 'Capture' (the software product) — no money-movement / settlement in this window.</a:t>
            </a:r>
          </a:p>
        </p:txBody>
      </p:sp>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WHAT GOES IN</a:t>
            </a:r>
          </a:p>
          <a:p>
            <a:r>
              <a:rPr sz="2600" b="1">
                <a:solidFill>
                  <a:srgbClr val="FFFFFF"/>
                </a:solidFill>
                <a:latin typeface="Calibri"/>
              </a:rPr>
              <a:t>Inputs &amp; assumptions register</a:t>
            </a:r>
          </a:p>
        </p:txBody>
      </p:sp>
      <p:graphicFrame>
        <p:nvGraphicFramePr>
          <p:cNvPr id="5" name="Table 4"/>
          <p:cNvGraphicFramePr>
            <a:graphicFrameLocks noGrp="1"/>
          </p:cNvGraphicFramePr>
          <p:nvPr/>
        </p:nvGraphicFramePr>
        <p:xfrm>
          <a:off x="457200" y="1325880"/>
          <a:ext cx="11247120" cy="4754880"/>
        </p:xfrm>
        <a:graphic>
          <a:graphicData uri="http://schemas.openxmlformats.org/drawingml/2006/table">
            <a:tbl>
              <a:tblPr firstRow="1" bandRow="1">
                <a:tableStyleId>{5C22544A-7EE6-4342-B048-85BDC9FD1C3A}</a:tableStyleId>
              </a:tblPr>
              <a:tblGrid>
                <a:gridCol w="2743200"/>
                <a:gridCol w="2468880"/>
                <a:gridCol w="1554480"/>
                <a:gridCol w="4480560"/>
              </a:tblGrid>
              <a:tr h="396240">
                <a:tc>
                  <a:txBody>
                    <a:bodyPr/>
                    <a:lstStyle/>
                    <a:p>
                      <a:pPr algn="l"/>
                      <a:r>
                        <a:rPr sz="1100" b="1">
                          <a:solidFill>
                            <a:srgbClr val="FFFFFF"/>
                          </a:solidFill>
                          <a:latin typeface="Calibri"/>
                        </a:rPr>
                        <a:t>Input</a:t>
                      </a:r>
                    </a:p>
                  </a:txBody>
                  <a:tcPr anchor="ctr">
                    <a:solidFill>
                      <a:srgbClr val="0F2A4A"/>
                    </a:solidFill>
                  </a:tcPr>
                </a:tc>
                <a:tc>
                  <a:txBody>
                    <a:bodyPr/>
                    <a:lstStyle/>
                    <a:p>
                      <a:pPr algn="ctr"/>
                      <a:r>
                        <a:rPr sz="1100" b="1">
                          <a:solidFill>
                            <a:srgbClr val="FFFFFF"/>
                          </a:solidFill>
                          <a:latin typeface="Calibri"/>
                        </a:rPr>
                        <a:t>Value</a:t>
                      </a:r>
                    </a:p>
                  </a:txBody>
                  <a:tcPr anchor="ctr">
                    <a:solidFill>
                      <a:srgbClr val="0F2A4A"/>
                    </a:solidFill>
                  </a:tcPr>
                </a:tc>
                <a:tc>
                  <a:txBody>
                    <a:bodyPr/>
                    <a:lstStyle/>
                    <a:p>
                      <a:pPr algn="ctr"/>
                      <a:r>
                        <a:rPr sz="1100" b="1">
                          <a:solidFill>
                            <a:srgbClr val="FFFFFF"/>
                          </a:solidFill>
                          <a:latin typeface="Calibri"/>
                        </a:rPr>
                        <a:t>Tier</a:t>
                      </a:r>
                    </a:p>
                  </a:txBody>
                  <a:tcPr anchor="ctr">
                    <a:solidFill>
                      <a:srgbClr val="0F2A4A"/>
                    </a:solidFill>
                  </a:tcPr>
                </a:tc>
                <a:tc>
                  <a:txBody>
                    <a:bodyPr/>
                    <a:lstStyle/>
                    <a:p>
                      <a:pPr algn="ctr"/>
                      <a:r>
                        <a:rPr sz="1100" b="1">
                          <a:solidFill>
                            <a:srgbClr val="FFFFFF"/>
                          </a:solidFill>
                          <a:latin typeface="Calibri"/>
                        </a:rPr>
                        <a:t>Note</a:t>
                      </a:r>
                    </a:p>
                  </a:txBody>
                  <a:tcPr anchor="ctr">
                    <a:solidFill>
                      <a:srgbClr val="0F2A4A"/>
                    </a:solidFill>
                  </a:tcPr>
                </a:tc>
              </a:tr>
              <a:tr h="396240">
                <a:tc>
                  <a:txBody>
                    <a:bodyPr/>
                    <a:lstStyle/>
                    <a:p>
                      <a:pPr algn="l"/>
                      <a:r>
                        <a:rPr sz="1100">
                          <a:solidFill>
                            <a:srgbClr val="22262A"/>
                          </a:solidFill>
                          <a:latin typeface="Calibri"/>
                        </a:rPr>
                        <a:t>Starting cash</a:t>
                      </a:r>
                    </a:p>
                  </a:txBody>
                  <a:tcPr anchor="ctr" marL="45720" marR="45720" marT="9144" marB="9144">
                    <a:solidFill>
                      <a:srgbClr val="FFFFFF"/>
                    </a:solidFill>
                  </a:tcPr>
                </a:tc>
                <a:tc>
                  <a:txBody>
                    <a:bodyPr/>
                    <a:lstStyle/>
                    <a:p>
                      <a:pPr algn="ctr"/>
                      <a:r>
                        <a:rPr sz="1100">
                          <a:solidFill>
                            <a:srgbClr val="22262A"/>
                          </a:solidFill>
                          <a:latin typeface="Calibri"/>
                        </a:rPr>
                        <a:t>SAR 0</a:t>
                      </a:r>
                    </a:p>
                  </a:txBody>
                  <a:tcPr anchor="ctr" marL="45720" marR="45720" marT="9144" marB="9144">
                    <a:solidFill>
                      <a:srgbClr val="FFFFFF"/>
                    </a:solidFill>
                  </a:tcPr>
                </a:tc>
                <a:tc>
                  <a:txBody>
                    <a:bodyPr/>
                    <a:lstStyle/>
                    <a:p>
                      <a:pPr algn="ctr"/>
                      <a:r>
                        <a:rPr sz="1100" b="1">
                          <a:solidFill>
                            <a:srgbClr val="1E8E3E"/>
                          </a:solidFill>
                          <a:latin typeface="Calibri"/>
                        </a:rPr>
                        <a:t>REAL</a:t>
                      </a:r>
                    </a:p>
                  </a:txBody>
                  <a:tcPr anchor="ctr" marL="45720" marR="45720" marT="9144" marB="9144">
                    <a:solidFill>
                      <a:srgbClr val="FFFFFF"/>
                    </a:solidFill>
                  </a:tcPr>
                </a:tc>
                <a:tc>
                  <a:txBody>
                    <a:bodyPr/>
                    <a:lstStyle/>
                    <a:p>
                      <a:pPr algn="ctr"/>
                      <a:r>
                        <a:rPr sz="1100">
                          <a:solidFill>
                            <a:srgbClr val="22262A"/>
                          </a:solidFill>
                          <a:latin typeface="Calibri"/>
                        </a:rPr>
                        <a:t>Clock starts at first capital injection</a:t>
                      </a:r>
                    </a:p>
                  </a:txBody>
                  <a:tcPr anchor="ctr" marL="45720" marR="45720" marT="9144" marB="9144">
                    <a:solidFill>
                      <a:srgbClr val="FFFFFF"/>
                    </a:solidFill>
                  </a:tcPr>
                </a:tc>
              </a:tr>
              <a:tr h="396240">
                <a:tc>
                  <a:txBody>
                    <a:bodyPr/>
                    <a:lstStyle/>
                    <a:p>
                      <a:pPr algn="l"/>
                      <a:r>
                        <a:rPr sz="1100">
                          <a:solidFill>
                            <a:srgbClr val="22262A"/>
                          </a:solidFill>
                          <a:latin typeface="Calibri"/>
                        </a:rPr>
                        <a:t>Raise</a:t>
                      </a:r>
                    </a:p>
                  </a:txBody>
                  <a:tcPr anchor="ctr" marL="45720" marR="45720" marT="9144" marB="9144">
                    <a:solidFill>
                      <a:srgbClr val="EEF2F6"/>
                    </a:solidFill>
                  </a:tcPr>
                </a:tc>
                <a:tc>
                  <a:txBody>
                    <a:bodyPr/>
                    <a:lstStyle/>
                    <a:p>
                      <a:pPr algn="ctr"/>
                      <a:r>
                        <a:rPr sz="1100">
                          <a:solidFill>
                            <a:srgbClr val="22262A"/>
                          </a:solidFill>
                          <a:latin typeface="Calibri"/>
                        </a:rPr>
                        <a:t>SAR 2,000,000</a:t>
                      </a:r>
                    </a:p>
                  </a:txBody>
                  <a:tcPr anchor="ctr" marL="45720" marR="45720" marT="9144" marB="9144">
                    <a:solidFill>
                      <a:srgbClr val="EEF2F6"/>
                    </a:solidFill>
                  </a:tcPr>
                </a:tc>
                <a:tc>
                  <a:txBody>
                    <a:bodyPr/>
                    <a:lstStyle/>
                    <a:p>
                      <a:pPr algn="ctr"/>
                      <a:r>
                        <a:rPr sz="1100" b="1">
                          <a:solidFill>
                            <a:srgbClr val="1E8E3E"/>
                          </a:solidFill>
                          <a:latin typeface="Calibri"/>
                        </a:rPr>
                        <a:t>REAL</a:t>
                      </a:r>
                    </a:p>
                  </a:txBody>
                  <a:tcPr anchor="ctr" marL="45720" marR="45720" marT="9144" marB="9144">
                    <a:solidFill>
                      <a:srgbClr val="EEF2F6"/>
                    </a:solidFill>
                  </a:tcPr>
                </a:tc>
                <a:tc>
                  <a:txBody>
                    <a:bodyPr/>
                    <a:lstStyle/>
                    <a:p>
                      <a:pPr algn="ctr"/>
                      <a:r>
                        <a:rPr sz="1100">
                          <a:solidFill>
                            <a:srgbClr val="22262A"/>
                          </a:solidFill>
                          <a:latin typeface="Calibri"/>
                        </a:rPr>
                        <a:t>Instrument (shares/SAFE) &amp; timing undecided</a:t>
                      </a:r>
                    </a:p>
                  </a:txBody>
                  <a:tcPr anchor="ctr" marL="45720" marR="45720" marT="9144" marB="9144">
                    <a:solidFill>
                      <a:srgbClr val="EEF2F6"/>
                    </a:solidFill>
                  </a:tcPr>
                </a:tc>
              </a:tr>
              <a:tr h="396240">
                <a:tc>
                  <a:txBody>
                    <a:bodyPr/>
                    <a:lstStyle/>
                    <a:p>
                      <a:pPr algn="l"/>
                      <a:r>
                        <a:rPr sz="1100">
                          <a:solidFill>
                            <a:srgbClr val="22262A"/>
                          </a:solidFill>
                          <a:latin typeface="Calibri"/>
                        </a:rPr>
                        <a:t>Inflow timing</a:t>
                      </a:r>
                    </a:p>
                  </a:txBody>
                  <a:tcPr anchor="ctr" marL="45720" marR="45720" marT="9144" marB="9144">
                    <a:solidFill>
                      <a:srgbClr val="FFFFFF"/>
                    </a:solidFill>
                  </a:tcPr>
                </a:tc>
                <a:tc>
                  <a:txBody>
                    <a:bodyPr/>
                    <a:lstStyle/>
                    <a:p>
                      <a:pPr algn="ctr"/>
                      <a:r>
                        <a:rPr sz="1100">
                          <a:solidFill>
                            <a:srgbClr val="22262A"/>
                          </a:solidFill>
                          <a:latin typeface="Calibri"/>
                        </a:rPr>
                        <a:t>Lump sum @ M1</a:t>
                      </a:r>
                    </a:p>
                  </a:txBody>
                  <a:tcPr anchor="ctr" marL="45720" marR="45720" marT="9144" marB="9144">
                    <a:solidFill>
                      <a:srgbClr val="FFFFFF"/>
                    </a:solidFill>
                  </a:tcPr>
                </a:tc>
                <a:tc>
                  <a:txBody>
                    <a:bodyPr/>
                    <a:lstStyle/>
                    <a:p>
                      <a:pPr algn="ctr"/>
                      <a:r>
                        <a:rPr sz="1100" b="1">
                          <a:solidFill>
                            <a:srgbClr val="1E8E3E"/>
                          </a:solidFill>
                          <a:latin typeface="Calibri"/>
                        </a:rPr>
                        <a:t>ASSUMPTION</a:t>
                      </a:r>
                    </a:p>
                  </a:txBody>
                  <a:tcPr anchor="ctr" marL="45720" marR="45720" marT="9144" marB="9144">
                    <a:solidFill>
                      <a:srgbClr val="FFFFFF"/>
                    </a:solidFill>
                  </a:tcPr>
                </a:tc>
                <a:tc>
                  <a:txBody>
                    <a:bodyPr/>
                    <a:lstStyle/>
                    <a:p>
                      <a:pPr algn="ctr"/>
                      <a:r>
                        <a:rPr sz="1100">
                          <a:solidFill>
                            <a:srgbClr val="22262A"/>
                          </a:solidFill>
                          <a:latin typeface="Calibri"/>
                        </a:rPr>
                        <a:t>Base case; tranche stress shown separately</a:t>
                      </a:r>
                    </a:p>
                  </a:txBody>
                  <a:tcPr anchor="ctr" marL="45720" marR="45720" marT="9144" marB="9144">
                    <a:solidFill>
                      <a:srgbClr val="FFFFFF"/>
                    </a:solidFill>
                  </a:tcPr>
                </a:tc>
              </a:tr>
              <a:tr h="396240">
                <a:tc>
                  <a:txBody>
                    <a:bodyPr/>
                    <a:lstStyle/>
                    <a:p>
                      <a:pPr algn="l"/>
                      <a:r>
                        <a:rPr sz="1100">
                          <a:solidFill>
                            <a:srgbClr val="22262A"/>
                          </a:solidFill>
                          <a:latin typeface="Calibri"/>
                        </a:rPr>
                        <a:t>Cash floor</a:t>
                      </a:r>
                    </a:p>
                  </a:txBody>
                  <a:tcPr anchor="ctr" marL="45720" marR="45720" marT="9144" marB="9144">
                    <a:solidFill>
                      <a:srgbClr val="EEF2F6"/>
                    </a:solidFill>
                  </a:tcPr>
                </a:tc>
                <a:tc>
                  <a:txBody>
                    <a:bodyPr/>
                    <a:lstStyle/>
                    <a:p>
                      <a:pPr algn="ctr"/>
                      <a:r>
                        <a:rPr sz="1100">
                          <a:solidFill>
                            <a:srgbClr val="22262A"/>
                          </a:solidFill>
                          <a:latin typeface="Calibri"/>
                        </a:rPr>
                        <a:t>SAR 150,000</a:t>
                      </a:r>
                    </a:p>
                  </a:txBody>
                  <a:tcPr anchor="ctr" marL="45720" marR="45720" marT="9144" marB="9144">
                    <a:solidFill>
                      <a:srgbClr val="EEF2F6"/>
                    </a:solidFill>
                  </a:tcPr>
                </a:tc>
                <a:tc>
                  <a:txBody>
                    <a:bodyPr/>
                    <a:lstStyle/>
                    <a:p>
                      <a:pPr algn="ctr"/>
                      <a:r>
                        <a:rPr sz="1100" b="1">
                          <a:solidFill>
                            <a:srgbClr val="1E8E3E"/>
                          </a:solidFill>
                          <a:latin typeface="Calibri"/>
                        </a:rPr>
                        <a:t>REAL</a:t>
                      </a:r>
                    </a:p>
                  </a:txBody>
                  <a:tcPr anchor="ctr" marL="45720" marR="45720" marT="9144" marB="9144">
                    <a:solidFill>
                      <a:srgbClr val="EEF2F6"/>
                    </a:solidFill>
                  </a:tcPr>
                </a:tc>
                <a:tc>
                  <a:txBody>
                    <a:bodyPr/>
                    <a:lstStyle/>
                    <a:p>
                      <a:pPr algn="ctr"/>
                      <a:r>
                        <a:rPr sz="1100">
                          <a:solidFill>
                            <a:srgbClr val="22262A"/>
                          </a:solidFill>
                          <a:latin typeface="Calibri"/>
                        </a:rPr>
                        <a:t>Do-not-breach line</a:t>
                      </a:r>
                    </a:p>
                  </a:txBody>
                  <a:tcPr anchor="ctr" marL="45720" marR="45720" marT="9144" marB="9144">
                    <a:solidFill>
                      <a:srgbClr val="EEF2F6"/>
                    </a:solidFill>
                  </a:tcPr>
                </a:tc>
              </a:tr>
              <a:tr h="396240">
                <a:tc>
                  <a:txBody>
                    <a:bodyPr/>
                    <a:lstStyle/>
                    <a:p>
                      <a:pPr algn="l"/>
                      <a:r>
                        <a:rPr sz="1100">
                          <a:solidFill>
                            <a:srgbClr val="22262A"/>
                          </a:solidFill>
                          <a:latin typeface="Calibri"/>
                        </a:rPr>
                        <a:t>Team</a:t>
                      </a:r>
                    </a:p>
                  </a:txBody>
                  <a:tcPr anchor="ctr" marL="45720" marR="45720" marT="9144" marB="9144">
                    <a:solidFill>
                      <a:srgbClr val="FFFFFF"/>
                    </a:solidFill>
                  </a:tcPr>
                </a:tc>
                <a:tc>
                  <a:txBody>
                    <a:bodyPr/>
                    <a:lstStyle/>
                    <a:p>
                      <a:pPr algn="ctr"/>
                      <a:r>
                        <a:rPr sz="1100">
                          <a:solidFill>
                            <a:srgbClr val="22262A"/>
                          </a:solidFill>
                          <a:latin typeface="Calibri"/>
                        </a:rPr>
                        <a:t>4 founders (M1) + 6 hires (M2)</a:t>
                      </a:r>
                    </a:p>
                  </a:txBody>
                  <a:tcPr anchor="ctr" marL="45720" marR="45720" marT="9144" marB="9144">
                    <a:solidFill>
                      <a:srgbClr val="FFFFFF"/>
                    </a:solidFill>
                  </a:tcPr>
                </a:tc>
                <a:tc>
                  <a:txBody>
                    <a:bodyPr/>
                    <a:lstStyle/>
                    <a:p>
                      <a:pPr algn="ctr"/>
                      <a:r>
                        <a:rPr sz="1100" b="1">
                          <a:solidFill>
                            <a:srgbClr val="1E8E3E"/>
                          </a:solidFill>
                          <a:latin typeface="Calibri"/>
                        </a:rPr>
                        <a:t>REAL</a:t>
                      </a:r>
                    </a:p>
                  </a:txBody>
                  <a:tcPr anchor="ctr" marL="45720" marR="45720" marT="9144" marB="9144">
                    <a:solidFill>
                      <a:srgbClr val="FFFFFF"/>
                    </a:solidFill>
                  </a:tcPr>
                </a:tc>
                <a:tc>
                  <a:txBody>
                    <a:bodyPr/>
                    <a:lstStyle/>
                    <a:p>
                      <a:pPr algn="ctr"/>
                      <a:r>
                        <a:rPr sz="1100">
                          <a:solidFill>
                            <a:srgbClr val="22262A"/>
                          </a:solidFill>
                          <a:latin typeface="Calibri"/>
                        </a:rPr>
                        <a:t>10 people by Month 2; mixed Saudi/expat</a:t>
                      </a:r>
                    </a:p>
                  </a:txBody>
                  <a:tcPr anchor="ctr" marL="45720" marR="45720" marT="9144" marB="9144">
                    <a:solidFill>
                      <a:srgbClr val="FFFFFF"/>
                    </a:solidFill>
                  </a:tcPr>
                </a:tc>
              </a:tr>
              <a:tr h="396240">
                <a:tc>
                  <a:txBody>
                    <a:bodyPr/>
                    <a:lstStyle/>
                    <a:p>
                      <a:pPr algn="l"/>
                      <a:r>
                        <a:rPr sz="1100">
                          <a:solidFill>
                            <a:srgbClr val="22262A"/>
                          </a:solidFill>
                          <a:latin typeface="Calibri"/>
                        </a:rPr>
                        <a:t>Pillar 1 (setup)</a:t>
                      </a:r>
                    </a:p>
                  </a:txBody>
                  <a:tcPr anchor="ctr" marL="45720" marR="45720" marT="9144" marB="9144">
                    <a:solidFill>
                      <a:srgbClr val="EEF2F6"/>
                    </a:solidFill>
                  </a:tcPr>
                </a:tc>
                <a:tc>
                  <a:txBody>
                    <a:bodyPr/>
                    <a:lstStyle/>
                    <a:p>
                      <a:pPr algn="ctr"/>
                      <a:r>
                        <a:rPr sz="1100">
                          <a:solidFill>
                            <a:srgbClr val="22262A"/>
                          </a:solidFill>
                          <a:latin typeface="Calibri"/>
                        </a:rPr>
                        <a:t>SAR 158,083.75</a:t>
                      </a:r>
                    </a:p>
                  </a:txBody>
                  <a:tcPr anchor="ctr" marL="45720" marR="45720" marT="9144" marB="9144">
                    <a:solidFill>
                      <a:srgbClr val="EEF2F6"/>
                    </a:solidFill>
                  </a:tcPr>
                </a:tc>
                <a:tc>
                  <a:txBody>
                    <a:bodyPr/>
                    <a:lstStyle/>
                    <a:p>
                      <a:pPr algn="ctr"/>
                      <a:r>
                        <a:rPr sz="1100" b="1">
                          <a:solidFill>
                            <a:srgbClr val="1E8E3E"/>
                          </a:solidFill>
                          <a:latin typeface="Calibri"/>
                        </a:rPr>
                        <a:t>REAL</a:t>
                      </a:r>
                    </a:p>
                  </a:txBody>
                  <a:tcPr anchor="ctr" marL="45720" marR="45720" marT="9144" marB="9144">
                    <a:solidFill>
                      <a:srgbClr val="EEF2F6"/>
                    </a:solidFill>
                  </a:tcPr>
                </a:tc>
                <a:tc>
                  <a:txBody>
                    <a:bodyPr/>
                    <a:lstStyle/>
                    <a:p>
                      <a:pPr algn="ctr"/>
                      <a:r>
                        <a:rPr sz="1100">
                          <a:solidFill>
                            <a:srgbClr val="22262A"/>
                          </a:solidFill>
                          <a:latin typeface="Calibri"/>
                        </a:rPr>
                        <a:t>One-time, Month 1</a:t>
                      </a:r>
                    </a:p>
                  </a:txBody>
                  <a:tcPr anchor="ctr" marL="45720" marR="45720" marT="9144" marB="9144">
                    <a:solidFill>
                      <a:srgbClr val="EEF2F6"/>
                    </a:solidFill>
                  </a:tcPr>
                </a:tc>
              </a:tr>
              <a:tr h="396240">
                <a:tc>
                  <a:txBody>
                    <a:bodyPr/>
                    <a:lstStyle/>
                    <a:p>
                      <a:pPr algn="l"/>
                      <a:r>
                        <a:rPr sz="1100">
                          <a:solidFill>
                            <a:srgbClr val="22262A"/>
                          </a:solidFill>
                          <a:latin typeface="Calibri"/>
                        </a:rPr>
                        <a:t>Pillar 2 (founders+cloud)</a:t>
                      </a:r>
                    </a:p>
                  </a:txBody>
                  <a:tcPr anchor="ctr" marL="45720" marR="45720" marT="9144" marB="9144">
                    <a:solidFill>
                      <a:srgbClr val="FFFFFF"/>
                    </a:solidFill>
                  </a:tcPr>
                </a:tc>
                <a:tc>
                  <a:txBody>
                    <a:bodyPr/>
                    <a:lstStyle/>
                    <a:p>
                      <a:pPr algn="ctr"/>
                      <a:r>
                        <a:rPr sz="1100">
                          <a:solidFill>
                            <a:srgbClr val="22262A"/>
                          </a:solidFill>
                          <a:latin typeface="Calibri"/>
                        </a:rPr>
                        <a:t>SAR 829,306.25 / yr</a:t>
                      </a:r>
                    </a:p>
                  </a:txBody>
                  <a:tcPr anchor="ctr" marL="45720" marR="45720" marT="9144" marB="9144">
                    <a:solidFill>
                      <a:srgbClr val="FFFFFF"/>
                    </a:solidFill>
                  </a:tcPr>
                </a:tc>
                <a:tc>
                  <a:txBody>
                    <a:bodyPr/>
                    <a:lstStyle/>
                    <a:p>
                      <a:pPr algn="ctr"/>
                      <a:r>
                        <a:rPr sz="1100" b="1">
                          <a:solidFill>
                            <a:srgbClr val="1E8E3E"/>
                          </a:solidFill>
                          <a:latin typeface="Calibri"/>
                        </a:rPr>
                        <a:t>REAL</a:t>
                      </a:r>
                    </a:p>
                  </a:txBody>
                  <a:tcPr anchor="ctr" marL="45720" marR="45720" marT="9144" marB="9144">
                    <a:solidFill>
                      <a:srgbClr val="FFFFFF"/>
                    </a:solidFill>
                  </a:tcPr>
                </a:tc>
                <a:tc>
                  <a:txBody>
                    <a:bodyPr/>
                    <a:lstStyle/>
                    <a:p>
                      <a:pPr algn="ctr"/>
                      <a:r>
                        <a:rPr sz="1100">
                          <a:solidFill>
                            <a:srgbClr val="22262A"/>
                          </a:solidFill>
                          <a:latin typeface="Calibri"/>
                        </a:rPr>
                        <a:t>Payroll 715k + GOSI 58.5k + cloud 55.8k</a:t>
                      </a:r>
                    </a:p>
                  </a:txBody>
                  <a:tcPr anchor="ctr" marL="45720" marR="45720" marT="9144" marB="9144">
                    <a:solidFill>
                      <a:srgbClr val="FFFFFF"/>
                    </a:solidFill>
                  </a:tcPr>
                </a:tc>
              </a:tr>
              <a:tr h="396240">
                <a:tc>
                  <a:txBody>
                    <a:bodyPr/>
                    <a:lstStyle/>
                    <a:p>
                      <a:pPr algn="l"/>
                      <a:r>
                        <a:rPr sz="1100">
                          <a:solidFill>
                            <a:srgbClr val="22262A"/>
                          </a:solidFill>
                          <a:latin typeface="Calibri"/>
                        </a:rPr>
                        <a:t>Pillar 3 (execution)</a:t>
                      </a:r>
                    </a:p>
                  </a:txBody>
                  <a:tcPr anchor="ctr" marL="45720" marR="45720" marT="9144" marB="9144">
                    <a:solidFill>
                      <a:srgbClr val="EEF2F6"/>
                    </a:solidFill>
                  </a:tcPr>
                </a:tc>
                <a:tc>
                  <a:txBody>
                    <a:bodyPr/>
                    <a:lstStyle/>
                    <a:p>
                      <a:pPr algn="ctr"/>
                      <a:r>
                        <a:rPr sz="1100">
                          <a:solidFill>
                            <a:srgbClr val="22262A"/>
                          </a:solidFill>
                          <a:latin typeface="Calibri"/>
                        </a:rPr>
                        <a:t>SAR 926,200 / 11 mo</a:t>
                      </a:r>
                    </a:p>
                  </a:txBody>
                  <a:tcPr anchor="ctr" marL="45720" marR="45720" marT="9144" marB="9144">
                    <a:solidFill>
                      <a:srgbClr val="EEF2F6"/>
                    </a:solidFill>
                  </a:tcPr>
                </a:tc>
                <a:tc>
                  <a:txBody>
                    <a:bodyPr/>
                    <a:lstStyle/>
                    <a:p>
                      <a:pPr algn="ctr"/>
                      <a:r>
                        <a:rPr sz="1100" b="1">
                          <a:solidFill>
                            <a:srgbClr val="1E8E3E"/>
                          </a:solidFill>
                          <a:latin typeface="Calibri"/>
                        </a:rPr>
                        <a:t>REAL</a:t>
                      </a:r>
                    </a:p>
                  </a:txBody>
                  <a:tcPr anchor="ctr" marL="45720" marR="45720" marT="9144" marB="9144">
                    <a:solidFill>
                      <a:srgbClr val="EEF2F6"/>
                    </a:solidFill>
                  </a:tcPr>
                </a:tc>
                <a:tc>
                  <a:txBody>
                    <a:bodyPr/>
                    <a:lstStyle/>
                    <a:p>
                      <a:pPr algn="ctr"/>
                      <a:r>
                        <a:rPr sz="1100">
                          <a:solidFill>
                            <a:srgbClr val="22262A"/>
                          </a:solidFill>
                          <a:latin typeface="Calibri"/>
                        </a:rPr>
                        <a:t>SAR 84,200/mo from Month 2</a:t>
                      </a:r>
                    </a:p>
                  </a:txBody>
                  <a:tcPr anchor="ctr" marL="45720" marR="45720" marT="9144" marB="9144">
                    <a:solidFill>
                      <a:srgbClr val="EEF2F6"/>
                    </a:solidFill>
                  </a:tcPr>
                </a:tc>
              </a:tr>
              <a:tr h="396240">
                <a:tc>
                  <a:txBody>
                    <a:bodyPr/>
                    <a:lstStyle/>
                    <a:p>
                      <a:pPr algn="l"/>
                      <a:r>
                        <a:rPr sz="1100">
                          <a:solidFill>
                            <a:srgbClr val="22262A"/>
                          </a:solidFill>
                          <a:latin typeface="Calibri"/>
                        </a:rPr>
                        <a:t>Revenue (base)</a:t>
                      </a:r>
                    </a:p>
                  </a:txBody>
                  <a:tcPr anchor="ctr" marL="45720" marR="45720" marT="9144" marB="9144">
                    <a:solidFill>
                      <a:srgbClr val="FFFFFF"/>
                    </a:solidFill>
                  </a:tcPr>
                </a:tc>
                <a:tc>
                  <a:txBody>
                    <a:bodyPr/>
                    <a:lstStyle/>
                    <a:p>
                      <a:pPr algn="ctr"/>
                      <a:r>
                        <a:rPr sz="1100">
                          <a:solidFill>
                            <a:srgbClr val="22262A"/>
                          </a:solidFill>
                          <a:latin typeface="Calibri"/>
                        </a:rPr>
                        <a:t>SAR 0</a:t>
                      </a:r>
                    </a:p>
                  </a:txBody>
                  <a:tcPr anchor="ctr" marL="45720" marR="45720" marT="9144" marB="9144">
                    <a:solidFill>
                      <a:srgbClr val="FFFFFF"/>
                    </a:solidFill>
                  </a:tcPr>
                </a:tc>
                <a:tc>
                  <a:txBody>
                    <a:bodyPr/>
                    <a:lstStyle/>
                    <a:p>
                      <a:pPr algn="ctr"/>
                      <a:r>
                        <a:rPr sz="1100" b="1">
                          <a:solidFill>
                            <a:srgbClr val="1E8E3E"/>
                          </a:solidFill>
                          <a:latin typeface="Calibri"/>
                        </a:rPr>
                        <a:t>ASSUMPTION</a:t>
                      </a:r>
                    </a:p>
                  </a:txBody>
                  <a:tcPr anchor="ctr" marL="45720" marR="45720" marT="9144" marB="9144">
                    <a:solidFill>
                      <a:srgbClr val="FFFFFF"/>
                    </a:solidFill>
                  </a:tcPr>
                </a:tc>
                <a:tc>
                  <a:txBody>
                    <a:bodyPr/>
                    <a:lstStyle/>
                    <a:p>
                      <a:pPr algn="ctr"/>
                      <a:r>
                        <a:rPr sz="1100">
                          <a:solidFill>
                            <a:srgbClr val="22262A"/>
                          </a:solidFill>
                          <a:latin typeface="Calibri"/>
                        </a:rPr>
                        <a:t>Honest survival view; nothing signed</a:t>
                      </a:r>
                    </a:p>
                  </a:txBody>
                  <a:tcPr anchor="ctr" marL="45720" marR="45720" marT="9144" marB="9144">
                    <a:solidFill>
                      <a:srgbClr val="FFFFFF"/>
                    </a:solidFill>
                  </a:tcPr>
                </a:tc>
              </a:tr>
              <a:tr h="396240">
                <a:tc>
                  <a:txBody>
                    <a:bodyPr/>
                    <a:lstStyle/>
                    <a:p>
                      <a:pPr algn="l"/>
                      <a:r>
                        <a:rPr sz="1100">
                          <a:solidFill>
                            <a:srgbClr val="22262A"/>
                          </a:solidFill>
                          <a:latin typeface="Calibri"/>
                        </a:rPr>
                        <a:t>Revenue (upside)</a:t>
                      </a:r>
                    </a:p>
                  </a:txBody>
                  <a:tcPr anchor="ctr" marL="45720" marR="45720" marT="9144" marB="9144">
                    <a:solidFill>
                      <a:srgbClr val="EEF2F6"/>
                    </a:solidFill>
                  </a:tcPr>
                </a:tc>
                <a:tc>
                  <a:txBody>
                    <a:bodyPr/>
                    <a:lstStyle/>
                    <a:p>
                      <a:pPr algn="ctr"/>
                      <a:r>
                        <a:rPr sz="1100">
                          <a:solidFill>
                            <a:srgbClr val="22262A"/>
                          </a:solidFill>
                          <a:latin typeface="Calibri"/>
                        </a:rPr>
                        <a:t>~SAR 132k/deal, H2</a:t>
                      </a:r>
                    </a:p>
                  </a:txBody>
                  <a:tcPr anchor="ctr" marL="45720" marR="45720" marT="9144" marB="9144">
                    <a:solidFill>
                      <a:srgbClr val="EEF2F6"/>
                    </a:solidFill>
                  </a:tcPr>
                </a:tc>
                <a:tc>
                  <a:txBody>
                    <a:bodyPr/>
                    <a:lstStyle/>
                    <a:p>
                      <a:pPr algn="ctr"/>
                      <a:r>
                        <a:rPr sz="1100" b="1">
                          <a:solidFill>
                            <a:srgbClr val="1E8E3E"/>
                          </a:solidFill>
                          <a:latin typeface="Calibri"/>
                        </a:rPr>
                        <a:t>ILLUSTRATIVE</a:t>
                      </a:r>
                    </a:p>
                  </a:txBody>
                  <a:tcPr anchor="ctr" marL="45720" marR="45720" marT="9144" marB="9144">
                    <a:solidFill>
                      <a:srgbClr val="EEF2F6"/>
                    </a:solidFill>
                  </a:tcPr>
                </a:tc>
                <a:tc>
                  <a:txBody>
                    <a:bodyPr/>
                    <a:lstStyle/>
                    <a:p>
                      <a:pPr algn="ctr"/>
                      <a:r>
                        <a:rPr sz="1100">
                          <a:solidFill>
                            <a:srgbClr val="22262A"/>
                          </a:solidFill>
                          <a:latin typeface="Calibri"/>
                        </a:rPr>
                        <a:t>110k ARR prepay + 22k impl; repo pricing ranges</a:t>
                      </a:r>
                    </a:p>
                  </a:txBody>
                  <a:tcPr anchor="ctr" marL="45720" marR="45720" marT="9144" marB="9144">
                    <a:solidFill>
                      <a:srgbClr val="EEF2F6"/>
                    </a:solidFill>
                  </a:tcPr>
                </a:tc>
              </a:tr>
              <a:tr h="396240">
                <a:tc>
                  <a:txBody>
                    <a:bodyPr/>
                    <a:lstStyle/>
                    <a:p>
                      <a:pPr algn="l"/>
                      <a:r>
                        <a:rPr sz="1100">
                          <a:solidFill>
                            <a:srgbClr val="22262A"/>
                          </a:solidFill>
                          <a:latin typeface="Calibri"/>
                        </a:rPr>
                        <a:t>Taxes (Zakat/VAT/WHT)</a:t>
                      </a:r>
                    </a:p>
                  </a:txBody>
                  <a:tcPr anchor="ctr" marL="45720" marR="45720" marT="9144" marB="9144">
                    <a:solidFill>
                      <a:srgbClr val="FFFFFF"/>
                    </a:solidFill>
                  </a:tcPr>
                </a:tc>
                <a:tc>
                  <a:txBody>
                    <a:bodyPr/>
                    <a:lstStyle/>
                    <a:p>
                      <a:pPr algn="ctr"/>
                      <a:r>
                        <a:rPr sz="1100">
                          <a:solidFill>
                            <a:srgbClr val="22262A"/>
                          </a:solidFill>
                          <a:latin typeface="Calibri"/>
                        </a:rPr>
                        <a:t>Not yet modelled</a:t>
                      </a:r>
                    </a:p>
                  </a:txBody>
                  <a:tcPr anchor="ctr" marL="45720" marR="45720" marT="9144" marB="9144">
                    <a:solidFill>
                      <a:srgbClr val="FFFFFF"/>
                    </a:solidFill>
                  </a:tcPr>
                </a:tc>
                <a:tc>
                  <a:txBody>
                    <a:bodyPr/>
                    <a:lstStyle/>
                    <a:p>
                      <a:pPr algn="ctr"/>
                      <a:r>
                        <a:rPr sz="1100" b="1">
                          <a:solidFill>
                            <a:srgbClr val="1E8E3E"/>
                          </a:solidFill>
                          <a:latin typeface="Calibri"/>
                        </a:rPr>
                        <a:t>GAP</a:t>
                      </a:r>
                    </a:p>
                  </a:txBody>
                  <a:tcPr anchor="ctr" marL="45720" marR="45720" marT="9144" marB="9144">
                    <a:solidFill>
                      <a:srgbClr val="FFFFFF"/>
                    </a:solidFill>
                  </a:tcPr>
                </a:tc>
                <a:tc>
                  <a:txBody>
                    <a:bodyPr/>
                    <a:lstStyle/>
                    <a:p>
                      <a:pPr algn="ctr"/>
                      <a:r>
                        <a:rPr sz="1100">
                          <a:solidFill>
                            <a:srgbClr val="22262A"/>
                          </a:solidFill>
                          <a:latin typeface="Calibri"/>
                        </a:rPr>
                        <a:t>Need ownership split, VAT status, foreign vendors</a:t>
                      </a:r>
                    </a:p>
                  </a:txBody>
                  <a:tcPr anchor="ctr" marL="45720" marR="45720" marT="9144" marB="9144">
                    <a:solidFill>
                      <a:srgbClr val="FFFFFF"/>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PILLARS 1-3</a:t>
            </a:r>
          </a:p>
          <a:p>
            <a:r>
              <a:rPr sz="2600" b="1">
                <a:solidFill>
                  <a:srgbClr val="FFFFFF"/>
                </a:solidFill>
                <a:latin typeface="Calibri"/>
              </a:rPr>
              <a:t>The cost structure: where the SAR 2.0M goes</a:t>
            </a:r>
          </a:p>
        </p:txBody>
      </p:sp>
      <p:pic>
        <p:nvPicPr>
          <p:cNvPr id="5" name="Picture 4" descr="pie.png"/>
          <p:cNvPicPr>
            <a:picLocks noChangeAspect="1"/>
          </p:cNvPicPr>
          <p:nvPr/>
        </p:nvPicPr>
        <p:blipFill>
          <a:blip r:embed="rId2"/>
          <a:stretch>
            <a:fillRect/>
          </a:stretch>
        </p:blipFill>
        <p:spPr>
          <a:xfrm>
            <a:off x="365760" y="1371600"/>
            <a:ext cx="5835148" cy="4480560"/>
          </a:xfrm>
          <a:prstGeom prst="rect">
            <a:avLst/>
          </a:prstGeom>
        </p:spPr>
      </p:pic>
      <p:sp>
        <p:nvSpPr>
          <p:cNvPr id="6" name="TextBox 5"/>
          <p:cNvSpPr txBox="1"/>
          <p:nvPr/>
        </p:nvSpPr>
        <p:spPr>
          <a:xfrm>
            <a:off x="5943600" y="1554480"/>
            <a:ext cx="5852160" cy="4846320"/>
          </a:xfrm>
          <a:prstGeom prst="rect">
            <a:avLst/>
          </a:prstGeom>
          <a:noFill/>
        </p:spPr>
        <p:txBody>
          <a:bodyPr wrap="square">
            <a:spAutoFit/>
          </a:bodyPr>
          <a:lstStyle/>
          <a:p>
            <a:pPr>
              <a:spcAft>
                <a:spcPts val="600"/>
              </a:spcAft>
            </a:pPr>
            <a:r>
              <a:rPr sz="1300" b="0">
                <a:solidFill>
                  <a:srgbClr val="22262A"/>
                </a:solidFill>
                <a:latin typeface="Calibri"/>
              </a:rPr>
              <a:t>▪ Setup (Pillar 1): SAR 158,084 one-time — CR/MISA, visas &amp; Iqamas, portals, office, accounting+insurance.</a:t>
            </a:r>
          </a:p>
          <a:p>
            <a:pPr>
              <a:spcAft>
                <a:spcPts val="600"/>
              </a:spcAft>
            </a:pPr>
            <a:r>
              <a:rPr sz="1300" b="0">
                <a:solidFill>
                  <a:srgbClr val="22262A"/>
                </a:solidFill>
                <a:latin typeface="Calibri"/>
              </a:rPr>
              <a:t>▪ Founders + cloud (Pillar 2): SAR 829,306/yr — 4 founders, GOSI/levies, Riyadh cloud.</a:t>
            </a:r>
          </a:p>
          <a:p>
            <a:pPr>
              <a:spcAft>
                <a:spcPts val="600"/>
              </a:spcAft>
            </a:pPr>
            <a:r>
              <a:rPr sz="1300" b="0">
                <a:solidFill>
                  <a:srgbClr val="22262A"/>
                </a:solidFill>
                <a:latin typeface="Calibri"/>
              </a:rPr>
              <a:t>▪ Execution team (Pillar 3): SAR 926,200 — 6 hires from Month 2 (architect, DevOps, integration, sales, CSM, support).</a:t>
            </a:r>
          </a:p>
          <a:p>
            <a:pPr>
              <a:spcAft>
                <a:spcPts val="600"/>
              </a:spcAft>
            </a:pPr>
            <a:r>
              <a:rPr sz="1300" b="1">
                <a:solidFill>
                  <a:srgbClr val="0F2A4A"/>
                </a:solidFill>
                <a:latin typeface="Calibri"/>
              </a:rPr>
              <a:t>▪ Committed = SAR 1,913,590 = 95.7% of the raise.</a:t>
            </a:r>
          </a:p>
          <a:p>
            <a:pPr>
              <a:spcAft>
                <a:spcPts val="600"/>
              </a:spcAft>
            </a:pPr>
            <a:r>
              <a:rPr sz="1300" b="1">
                <a:solidFill>
                  <a:srgbClr val="B8860B"/>
                </a:solidFill>
                <a:latin typeface="Calibri"/>
              </a:rPr>
              <a:t>▪ Unallocated = SAR 86,410 (4.3%) — the only cushion.</a:t>
            </a:r>
          </a:p>
          <a:p>
            <a:pPr>
              <a:spcAft>
                <a:spcPts val="600"/>
              </a:spcAft>
            </a:pPr>
            <a:r>
              <a:rPr sz="1300" b="1">
                <a:solidFill>
                  <a:srgbClr val="C0392B"/>
                </a:solidFill>
                <a:latin typeface="Calibri"/>
              </a:rPr>
              <a:t>▪ Not yet in any pillar: marketing/GTM spend, taxes, travel, contingency.</a:t>
            </a:r>
          </a:p>
        </p:txBody>
      </p:sp>
      <p:sp>
        <p:nvSpPr>
          <p:cNvPr id="7" name="TextBox 6"/>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8" name="TextBox 7"/>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THE BURN</a:t>
            </a:r>
          </a:p>
          <a:p>
            <a:r>
              <a:rPr sz="2600" b="1">
                <a:solidFill>
                  <a:srgbClr val="FFFFFF"/>
                </a:solidFill>
                <a:latin typeface="Calibri"/>
              </a:rPr>
              <a:t>Monthly run-rate: how fast cash leaves</a:t>
            </a:r>
          </a:p>
        </p:txBody>
      </p:sp>
      <p:graphicFrame>
        <p:nvGraphicFramePr>
          <p:cNvPr id="5" name="Table 4"/>
          <p:cNvGraphicFramePr>
            <a:graphicFrameLocks noGrp="1"/>
          </p:cNvGraphicFramePr>
          <p:nvPr/>
        </p:nvGraphicFramePr>
        <p:xfrm>
          <a:off x="457200" y="1325880"/>
          <a:ext cx="11274552" cy="4754880"/>
        </p:xfrm>
        <a:graphic>
          <a:graphicData uri="http://schemas.openxmlformats.org/drawingml/2006/table">
            <a:tbl>
              <a:tblPr firstRow="1" bandRow="1">
                <a:tableStyleId>{5C22544A-7EE6-4342-B048-85BDC9FD1C3A}</a:tableStyleId>
              </a:tblPr>
              <a:tblGrid>
                <a:gridCol w="4206240"/>
                <a:gridCol w="3291840"/>
                <a:gridCol w="3776472"/>
              </a:tblGrid>
              <a:tr h="528320">
                <a:tc>
                  <a:txBody>
                    <a:bodyPr/>
                    <a:lstStyle/>
                    <a:p>
                      <a:pPr algn="l"/>
                      <a:r>
                        <a:rPr sz="1250" b="1">
                          <a:solidFill>
                            <a:srgbClr val="FFFFFF"/>
                          </a:solidFill>
                          <a:latin typeface="Calibri"/>
                        </a:rPr>
                        <a:t>Cost line</a:t>
                      </a:r>
                    </a:p>
                  </a:txBody>
                  <a:tcPr anchor="ctr">
                    <a:solidFill>
                      <a:srgbClr val="0F2A4A"/>
                    </a:solidFill>
                  </a:tcPr>
                </a:tc>
                <a:tc>
                  <a:txBody>
                    <a:bodyPr/>
                    <a:lstStyle/>
                    <a:p>
                      <a:pPr algn="ctr"/>
                      <a:r>
                        <a:rPr sz="1250" b="1">
                          <a:solidFill>
                            <a:srgbClr val="FFFFFF"/>
                          </a:solidFill>
                          <a:latin typeface="Calibri"/>
                        </a:rPr>
                        <a:t>SAR / month</a:t>
                      </a:r>
                    </a:p>
                  </a:txBody>
                  <a:tcPr anchor="ctr">
                    <a:solidFill>
                      <a:srgbClr val="0F2A4A"/>
                    </a:solidFill>
                  </a:tcPr>
                </a:tc>
                <a:tc>
                  <a:txBody>
                    <a:bodyPr/>
                    <a:lstStyle/>
                    <a:p>
                      <a:pPr algn="ctr"/>
                      <a:r>
                        <a:rPr sz="1250" b="1">
                          <a:solidFill>
                            <a:srgbClr val="FFFFFF"/>
                          </a:solidFill>
                          <a:latin typeface="Calibri"/>
                        </a:rPr>
                        <a:t>When</a:t>
                      </a:r>
                    </a:p>
                  </a:txBody>
                  <a:tcPr anchor="ctr">
                    <a:solidFill>
                      <a:srgbClr val="0F2A4A"/>
                    </a:solidFill>
                  </a:tcPr>
                </a:tc>
              </a:tr>
              <a:tr h="528320">
                <a:tc>
                  <a:txBody>
                    <a:bodyPr/>
                    <a:lstStyle/>
                    <a:p>
                      <a:pPr algn="l"/>
                      <a:r>
                        <a:rPr sz="1250">
                          <a:solidFill>
                            <a:srgbClr val="22262A"/>
                          </a:solidFill>
                          <a:latin typeface="Calibri"/>
                        </a:rPr>
                        <a:t>Founder payroll (4)</a:t>
                      </a:r>
                    </a:p>
                  </a:txBody>
                  <a:tcPr anchor="ctr" marL="45720" marR="45720" marT="9144" marB="9144">
                    <a:solidFill>
                      <a:srgbClr val="FFFFFF"/>
                    </a:solidFill>
                  </a:tcPr>
                </a:tc>
                <a:tc>
                  <a:txBody>
                    <a:bodyPr/>
                    <a:lstStyle/>
                    <a:p>
                      <a:pPr algn="ctr"/>
                      <a:r>
                        <a:rPr sz="1250">
                          <a:solidFill>
                            <a:srgbClr val="22262A"/>
                          </a:solidFill>
                          <a:latin typeface="Calibri"/>
                        </a:rPr>
                        <a:t>59,583.33</a:t>
                      </a:r>
                    </a:p>
                  </a:txBody>
                  <a:tcPr anchor="ctr" marL="45720" marR="45720" marT="9144" marB="9144">
                    <a:solidFill>
                      <a:srgbClr val="FFFFFF"/>
                    </a:solidFill>
                  </a:tcPr>
                </a:tc>
                <a:tc>
                  <a:txBody>
                    <a:bodyPr/>
                    <a:lstStyle/>
                    <a:p>
                      <a:pPr algn="ctr"/>
                      <a:r>
                        <a:rPr sz="1250">
                          <a:solidFill>
                            <a:srgbClr val="22262A"/>
                          </a:solidFill>
                          <a:latin typeface="Calibri"/>
                        </a:rPr>
                        <a:t>Every month, M1-12</a:t>
                      </a:r>
                    </a:p>
                  </a:txBody>
                  <a:tcPr anchor="ctr" marL="45720" marR="45720" marT="9144" marB="9144">
                    <a:solidFill>
                      <a:srgbClr val="FFFFFF"/>
                    </a:solidFill>
                  </a:tcPr>
                </a:tc>
              </a:tr>
              <a:tr h="528320">
                <a:tc>
                  <a:txBody>
                    <a:bodyPr/>
                    <a:lstStyle/>
                    <a:p>
                      <a:pPr algn="l"/>
                      <a:r>
                        <a:rPr sz="1250">
                          <a:solidFill>
                            <a:srgbClr val="22262A"/>
                          </a:solidFill>
                          <a:latin typeface="Calibri"/>
                        </a:rPr>
                        <a:t>GOSI &amp; statutory levies</a:t>
                      </a:r>
                    </a:p>
                  </a:txBody>
                  <a:tcPr anchor="ctr" marL="45720" marR="45720" marT="9144" marB="9144">
                    <a:solidFill>
                      <a:srgbClr val="EEF2F6"/>
                    </a:solidFill>
                  </a:tcPr>
                </a:tc>
                <a:tc>
                  <a:txBody>
                    <a:bodyPr/>
                    <a:lstStyle/>
                    <a:p>
                      <a:pPr algn="ctr"/>
                      <a:r>
                        <a:rPr sz="1250">
                          <a:solidFill>
                            <a:srgbClr val="22262A"/>
                          </a:solidFill>
                          <a:latin typeface="Calibri"/>
                        </a:rPr>
                        <a:t>4,875.52</a:t>
                      </a:r>
                    </a:p>
                  </a:txBody>
                  <a:tcPr anchor="ctr" marL="45720" marR="45720" marT="9144" marB="9144">
                    <a:solidFill>
                      <a:srgbClr val="EEF2F6"/>
                    </a:solidFill>
                  </a:tcPr>
                </a:tc>
                <a:tc>
                  <a:txBody>
                    <a:bodyPr/>
                    <a:lstStyle/>
                    <a:p>
                      <a:pPr algn="ctr"/>
                      <a:r>
                        <a:rPr sz="1250">
                          <a:solidFill>
                            <a:srgbClr val="22262A"/>
                          </a:solidFill>
                          <a:latin typeface="Calibri"/>
                        </a:rPr>
                        <a:t>Every month, M1-12</a:t>
                      </a:r>
                    </a:p>
                  </a:txBody>
                  <a:tcPr anchor="ctr" marL="45720" marR="45720" marT="9144" marB="9144">
                    <a:solidFill>
                      <a:srgbClr val="EEF2F6"/>
                    </a:solidFill>
                  </a:tcPr>
                </a:tc>
              </a:tr>
              <a:tr h="528320">
                <a:tc>
                  <a:txBody>
                    <a:bodyPr/>
                    <a:lstStyle/>
                    <a:p>
                      <a:pPr algn="l"/>
                      <a:r>
                        <a:rPr sz="1250">
                          <a:solidFill>
                            <a:srgbClr val="22262A"/>
                          </a:solidFill>
                          <a:latin typeface="Calibri"/>
                        </a:rPr>
                        <a:t>Cloud infrastructure</a:t>
                      </a:r>
                    </a:p>
                  </a:txBody>
                  <a:tcPr anchor="ctr" marL="45720" marR="45720" marT="9144" marB="9144">
                    <a:solidFill>
                      <a:srgbClr val="FFFFFF"/>
                    </a:solidFill>
                  </a:tcPr>
                </a:tc>
                <a:tc>
                  <a:txBody>
                    <a:bodyPr/>
                    <a:lstStyle/>
                    <a:p>
                      <a:pPr algn="ctr"/>
                      <a:r>
                        <a:rPr sz="1250">
                          <a:solidFill>
                            <a:srgbClr val="22262A"/>
                          </a:solidFill>
                          <a:latin typeface="Calibri"/>
                        </a:rPr>
                        <a:t>4,650.00</a:t>
                      </a:r>
                    </a:p>
                  </a:txBody>
                  <a:tcPr anchor="ctr" marL="45720" marR="45720" marT="9144" marB="9144">
                    <a:solidFill>
                      <a:srgbClr val="FFFFFF"/>
                    </a:solidFill>
                  </a:tcPr>
                </a:tc>
                <a:tc>
                  <a:txBody>
                    <a:bodyPr/>
                    <a:lstStyle/>
                    <a:p>
                      <a:pPr algn="ctr"/>
                      <a:r>
                        <a:rPr sz="1250">
                          <a:solidFill>
                            <a:srgbClr val="22262A"/>
                          </a:solidFill>
                          <a:latin typeface="Calibri"/>
                        </a:rPr>
                        <a:t>Every month, M1-12</a:t>
                      </a:r>
                    </a:p>
                  </a:txBody>
                  <a:tcPr anchor="ctr" marL="45720" marR="45720" marT="9144" marB="9144">
                    <a:solidFill>
                      <a:srgbClr val="FFFFFF"/>
                    </a:solidFill>
                  </a:tcPr>
                </a:tc>
              </a:tr>
              <a:tr h="528320">
                <a:tc>
                  <a:txBody>
                    <a:bodyPr/>
                    <a:lstStyle/>
                    <a:p>
                      <a:pPr algn="l"/>
                      <a:r>
                        <a:rPr sz="1250">
                          <a:solidFill>
                            <a:srgbClr val="22262A"/>
                          </a:solidFill>
                          <a:latin typeface="Calibri"/>
                        </a:rPr>
                        <a:t>Execution team (6)</a:t>
                      </a:r>
                    </a:p>
                  </a:txBody>
                  <a:tcPr anchor="ctr" marL="45720" marR="45720" marT="9144" marB="9144">
                    <a:solidFill>
                      <a:srgbClr val="EEF2F6"/>
                    </a:solidFill>
                  </a:tcPr>
                </a:tc>
                <a:tc>
                  <a:txBody>
                    <a:bodyPr/>
                    <a:lstStyle/>
                    <a:p>
                      <a:pPr algn="ctr"/>
                      <a:r>
                        <a:rPr sz="1250">
                          <a:solidFill>
                            <a:srgbClr val="22262A"/>
                          </a:solidFill>
                          <a:latin typeface="Calibri"/>
                        </a:rPr>
                        <a:t>84,200.00</a:t>
                      </a:r>
                    </a:p>
                  </a:txBody>
                  <a:tcPr anchor="ctr" marL="45720" marR="45720" marT="9144" marB="9144">
                    <a:solidFill>
                      <a:srgbClr val="EEF2F6"/>
                    </a:solidFill>
                  </a:tcPr>
                </a:tc>
                <a:tc>
                  <a:txBody>
                    <a:bodyPr/>
                    <a:lstStyle/>
                    <a:p>
                      <a:pPr algn="ctr"/>
                      <a:r>
                        <a:rPr sz="1250">
                          <a:solidFill>
                            <a:srgbClr val="22262A"/>
                          </a:solidFill>
                          <a:latin typeface="Calibri"/>
                        </a:rPr>
                        <a:t>From Month 2 (M2-12)</a:t>
                      </a:r>
                    </a:p>
                  </a:txBody>
                  <a:tcPr anchor="ctr" marL="45720" marR="45720" marT="9144" marB="9144">
                    <a:solidFill>
                      <a:srgbClr val="EEF2F6"/>
                    </a:solidFill>
                  </a:tcPr>
                </a:tc>
              </a:tr>
              <a:tr h="528320">
                <a:tc>
                  <a:txBody>
                    <a:bodyPr/>
                    <a:lstStyle/>
                    <a:p>
                      <a:pPr algn="l"/>
                      <a:r>
                        <a:rPr sz="1250">
                          <a:solidFill>
                            <a:srgbClr val="22262A"/>
                          </a:solidFill>
                          <a:latin typeface="Calibri"/>
                        </a:rPr>
                        <a:t>Setup (one-time)</a:t>
                      </a:r>
                    </a:p>
                  </a:txBody>
                  <a:tcPr anchor="ctr" marL="45720" marR="45720" marT="9144" marB="9144">
                    <a:solidFill>
                      <a:srgbClr val="FFFFFF"/>
                    </a:solidFill>
                  </a:tcPr>
                </a:tc>
                <a:tc>
                  <a:txBody>
                    <a:bodyPr/>
                    <a:lstStyle/>
                    <a:p>
                      <a:pPr algn="ctr"/>
                      <a:r>
                        <a:rPr sz="1250">
                          <a:solidFill>
                            <a:srgbClr val="22262A"/>
                          </a:solidFill>
                          <a:latin typeface="Calibri"/>
                        </a:rPr>
                        <a:t>158,083.75</a:t>
                      </a:r>
                    </a:p>
                  </a:txBody>
                  <a:tcPr anchor="ctr" marL="45720" marR="45720" marT="9144" marB="9144">
                    <a:solidFill>
                      <a:srgbClr val="FFFFFF"/>
                    </a:solidFill>
                  </a:tcPr>
                </a:tc>
                <a:tc>
                  <a:txBody>
                    <a:bodyPr/>
                    <a:lstStyle/>
                    <a:p>
                      <a:pPr algn="ctr"/>
                      <a:r>
                        <a:rPr sz="1250">
                          <a:solidFill>
                            <a:srgbClr val="22262A"/>
                          </a:solidFill>
                          <a:latin typeface="Calibri"/>
                        </a:rPr>
                        <a:t>Month 1 only</a:t>
                      </a:r>
                    </a:p>
                  </a:txBody>
                  <a:tcPr anchor="ctr" marL="45720" marR="45720" marT="9144" marB="9144">
                    <a:solidFill>
                      <a:srgbClr val="FFFFFF"/>
                    </a:solidFill>
                  </a:tcPr>
                </a:tc>
              </a:tr>
              <a:tr h="528320">
                <a:tc>
                  <a:txBody>
                    <a:bodyPr/>
                    <a:lstStyle/>
                    <a:p>
                      <a:pPr algn="l"/>
                      <a:r>
                        <a:rPr sz="1250">
                          <a:solidFill>
                            <a:srgbClr val="22262A"/>
                          </a:solidFill>
                          <a:latin typeface="Calibri"/>
                        </a:rPr>
                        <a:t>— Run-rate Month 1</a:t>
                      </a:r>
                    </a:p>
                  </a:txBody>
                  <a:tcPr anchor="ctr" marL="45720" marR="45720" marT="9144" marB="9144">
                    <a:solidFill>
                      <a:srgbClr val="EEF2F6"/>
                    </a:solidFill>
                  </a:tcPr>
                </a:tc>
                <a:tc>
                  <a:txBody>
                    <a:bodyPr/>
                    <a:lstStyle/>
                    <a:p>
                      <a:pPr algn="ctr"/>
                      <a:r>
                        <a:rPr sz="1250">
                          <a:solidFill>
                            <a:srgbClr val="22262A"/>
                          </a:solidFill>
                          <a:latin typeface="Calibri"/>
                        </a:rPr>
                        <a:t>227,192.60</a:t>
                      </a:r>
                    </a:p>
                  </a:txBody>
                  <a:tcPr anchor="ctr" marL="45720" marR="45720" marT="9144" marB="9144">
                    <a:solidFill>
                      <a:srgbClr val="EEF2F6"/>
                    </a:solidFill>
                  </a:tcPr>
                </a:tc>
                <a:tc>
                  <a:txBody>
                    <a:bodyPr/>
                    <a:lstStyle/>
                    <a:p>
                      <a:pPr algn="ctr"/>
                      <a:r>
                        <a:rPr sz="1250">
                          <a:solidFill>
                            <a:srgbClr val="22262A"/>
                          </a:solidFill>
                          <a:latin typeface="Calibri"/>
                        </a:rPr>
                        <a:t>Front-loaded (setup + payroll)</a:t>
                      </a:r>
                    </a:p>
                  </a:txBody>
                  <a:tcPr anchor="ctr" marL="45720" marR="45720" marT="9144" marB="9144">
                    <a:solidFill>
                      <a:srgbClr val="EEF2F6"/>
                    </a:solidFill>
                  </a:tcPr>
                </a:tc>
              </a:tr>
              <a:tr h="528320">
                <a:tc>
                  <a:txBody>
                    <a:bodyPr/>
                    <a:lstStyle/>
                    <a:p>
                      <a:pPr algn="l"/>
                      <a:r>
                        <a:rPr sz="1250">
                          <a:solidFill>
                            <a:srgbClr val="22262A"/>
                          </a:solidFill>
                          <a:latin typeface="Calibri"/>
                        </a:rPr>
                        <a:t>— Run-rate Months 2-12</a:t>
                      </a:r>
                    </a:p>
                  </a:txBody>
                  <a:tcPr anchor="ctr" marL="45720" marR="45720" marT="9144" marB="9144">
                    <a:solidFill>
                      <a:srgbClr val="FFFFFF"/>
                    </a:solidFill>
                  </a:tcPr>
                </a:tc>
                <a:tc>
                  <a:txBody>
                    <a:bodyPr/>
                    <a:lstStyle/>
                    <a:p>
                      <a:pPr algn="ctr"/>
                      <a:r>
                        <a:rPr sz="1250">
                          <a:solidFill>
                            <a:srgbClr val="22262A"/>
                          </a:solidFill>
                          <a:latin typeface="Calibri"/>
                        </a:rPr>
                        <a:t>153,308.85</a:t>
                      </a:r>
                    </a:p>
                  </a:txBody>
                  <a:tcPr anchor="ctr" marL="45720" marR="45720" marT="9144" marB="9144">
                    <a:solidFill>
                      <a:srgbClr val="FFFFFF"/>
                    </a:solidFill>
                  </a:tcPr>
                </a:tc>
                <a:tc>
                  <a:txBody>
                    <a:bodyPr/>
                    <a:lstStyle/>
                    <a:p>
                      <a:pPr algn="ctr"/>
                      <a:r>
                        <a:rPr sz="1250">
                          <a:solidFill>
                            <a:srgbClr val="22262A"/>
                          </a:solidFill>
                          <a:latin typeface="Calibri"/>
                        </a:rPr>
                        <a:t>Steady monthly burn</a:t>
                      </a:r>
                    </a:p>
                  </a:txBody>
                  <a:tcPr anchor="ctr" marL="45720" marR="45720" marT="9144" marB="9144">
                    <a:solidFill>
                      <a:srgbClr val="FFFFFF"/>
                    </a:solidFill>
                  </a:tcPr>
                </a:tc>
              </a:tr>
              <a:tr h="528320">
                <a:tc>
                  <a:txBody>
                    <a:bodyPr/>
                    <a:lstStyle/>
                    <a:p>
                      <a:pPr algn="l"/>
                      <a:r>
                        <a:rPr sz="1250">
                          <a:solidFill>
                            <a:srgbClr val="22262A"/>
                          </a:solidFill>
                          <a:latin typeface="Calibri"/>
                        </a:rPr>
                        <a:t>— Average burn / month</a:t>
                      </a:r>
                    </a:p>
                  </a:txBody>
                  <a:tcPr anchor="ctr" marL="45720" marR="45720" marT="9144" marB="9144">
                    <a:solidFill>
                      <a:srgbClr val="EEF2F6"/>
                    </a:solidFill>
                  </a:tcPr>
                </a:tc>
                <a:tc>
                  <a:txBody>
                    <a:bodyPr/>
                    <a:lstStyle/>
                    <a:p>
                      <a:pPr algn="ctr"/>
                      <a:r>
                        <a:rPr sz="1250">
                          <a:solidFill>
                            <a:srgbClr val="22262A"/>
                          </a:solidFill>
                          <a:latin typeface="Calibri"/>
                        </a:rPr>
                        <a:t>159,465.83</a:t>
                      </a:r>
                    </a:p>
                  </a:txBody>
                  <a:tcPr anchor="ctr" marL="45720" marR="45720" marT="9144" marB="9144">
                    <a:solidFill>
                      <a:srgbClr val="EEF2F6"/>
                    </a:solidFill>
                  </a:tcPr>
                </a:tc>
                <a:tc>
                  <a:txBody>
                    <a:bodyPr/>
                    <a:lstStyle/>
                    <a:p>
                      <a:pPr algn="ctr"/>
                      <a:r>
                        <a:rPr sz="1250">
                          <a:solidFill>
                            <a:srgbClr val="22262A"/>
                          </a:solidFill>
                          <a:latin typeface="Calibri"/>
                        </a:rPr>
                        <a:t>Across the 12 months</a:t>
                      </a:r>
                    </a:p>
                  </a:txBody>
                  <a:tcPr anchor="ctr" marL="45720" marR="45720" marT="9144" marB="9144">
                    <a:solidFill>
                      <a:srgbClr val="EEF2F6"/>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MONTHLY</a:t>
            </a:r>
          </a:p>
          <a:p>
            <a:r>
              <a:rPr sz="2600" b="1">
                <a:solidFill>
                  <a:srgbClr val="FFFFFF"/>
                </a:solidFill>
                <a:latin typeface="Calibri"/>
              </a:rPr>
              <a:t>12-month runway — base case (zero revenue, lump sum)</a:t>
            </a:r>
          </a:p>
        </p:txBody>
      </p:sp>
      <p:graphicFrame>
        <p:nvGraphicFramePr>
          <p:cNvPr id="5" name="Table 4"/>
          <p:cNvGraphicFramePr>
            <a:graphicFrameLocks noGrp="1"/>
          </p:cNvGraphicFramePr>
          <p:nvPr/>
        </p:nvGraphicFramePr>
        <p:xfrm>
          <a:off x="457200" y="1280160"/>
          <a:ext cx="11274552" cy="4754880"/>
        </p:xfrm>
        <a:graphic>
          <a:graphicData uri="http://schemas.openxmlformats.org/drawingml/2006/table">
            <a:tbl>
              <a:tblPr firstRow="1" bandRow="1">
                <a:tableStyleId>{5C22544A-7EE6-4342-B048-85BDC9FD1C3A}</a:tableStyleId>
              </a:tblPr>
              <a:tblGrid>
                <a:gridCol w="1463040"/>
                <a:gridCol w="2468880"/>
                <a:gridCol w="2468880"/>
                <a:gridCol w="2651760"/>
                <a:gridCol w="2221992"/>
              </a:tblGrid>
              <a:tr h="365760">
                <a:tc>
                  <a:txBody>
                    <a:bodyPr/>
                    <a:lstStyle/>
                    <a:p>
                      <a:pPr algn="l"/>
                      <a:r>
                        <a:rPr sz="1150" b="1">
                          <a:solidFill>
                            <a:srgbClr val="FFFFFF"/>
                          </a:solidFill>
                          <a:latin typeface="Calibri"/>
                        </a:rPr>
                        <a:t>Month</a:t>
                      </a:r>
                    </a:p>
                  </a:txBody>
                  <a:tcPr anchor="ctr">
                    <a:solidFill>
                      <a:srgbClr val="0F2A4A"/>
                    </a:solidFill>
                  </a:tcPr>
                </a:tc>
                <a:tc>
                  <a:txBody>
                    <a:bodyPr/>
                    <a:lstStyle/>
                    <a:p>
                      <a:pPr algn="ctr"/>
                      <a:r>
                        <a:rPr sz="1150" b="1">
                          <a:solidFill>
                            <a:srgbClr val="FFFFFF"/>
                          </a:solidFill>
                          <a:latin typeface="Calibri"/>
                        </a:rPr>
                        <a:t>Cash in</a:t>
                      </a:r>
                    </a:p>
                  </a:txBody>
                  <a:tcPr anchor="ctr">
                    <a:solidFill>
                      <a:srgbClr val="0F2A4A"/>
                    </a:solidFill>
                  </a:tcPr>
                </a:tc>
                <a:tc>
                  <a:txBody>
                    <a:bodyPr/>
                    <a:lstStyle/>
                    <a:p>
                      <a:pPr algn="ctr"/>
                      <a:r>
                        <a:rPr sz="1150" b="1">
                          <a:solidFill>
                            <a:srgbClr val="FFFFFF"/>
                          </a:solidFill>
                          <a:latin typeface="Calibri"/>
                        </a:rPr>
                        <a:t>Cash out</a:t>
                      </a:r>
                    </a:p>
                  </a:txBody>
                  <a:tcPr anchor="ctr">
                    <a:solidFill>
                      <a:srgbClr val="0F2A4A"/>
                    </a:solidFill>
                  </a:tcPr>
                </a:tc>
                <a:tc>
                  <a:txBody>
                    <a:bodyPr/>
                    <a:lstStyle/>
                    <a:p>
                      <a:pPr algn="ctr"/>
                      <a:r>
                        <a:rPr sz="1150" b="1">
                          <a:solidFill>
                            <a:srgbClr val="FFFFFF"/>
                          </a:solidFill>
                          <a:latin typeface="Calibri"/>
                        </a:rPr>
                        <a:t>Ending cash</a:t>
                      </a:r>
                    </a:p>
                  </a:txBody>
                  <a:tcPr anchor="ctr">
                    <a:solidFill>
                      <a:srgbClr val="0F2A4A"/>
                    </a:solidFill>
                  </a:tcPr>
                </a:tc>
                <a:tc>
                  <a:txBody>
                    <a:bodyPr/>
                    <a:lstStyle/>
                    <a:p>
                      <a:pPr algn="ctr"/>
                      <a:r>
                        <a:rPr sz="1150" b="1">
                          <a:solidFill>
                            <a:srgbClr val="FFFFFF"/>
                          </a:solidFill>
                          <a:latin typeface="Calibri"/>
                        </a:rPr>
                        <a:t>Status</a:t>
                      </a:r>
                    </a:p>
                  </a:txBody>
                  <a:tcPr anchor="ctr">
                    <a:solidFill>
                      <a:srgbClr val="0F2A4A"/>
                    </a:solidFill>
                  </a:tcPr>
                </a:tc>
              </a:tr>
              <a:tr h="365760">
                <a:tc>
                  <a:txBody>
                    <a:bodyPr/>
                    <a:lstStyle/>
                    <a:p>
                      <a:pPr algn="l"/>
                      <a:r>
                        <a:rPr sz="1150">
                          <a:solidFill>
                            <a:srgbClr val="22262A"/>
                          </a:solidFill>
                          <a:latin typeface="Calibri"/>
                        </a:rPr>
                        <a:t>M1</a:t>
                      </a:r>
                    </a:p>
                  </a:txBody>
                  <a:tcPr anchor="ctr" marL="45720" marR="45720" marT="9144" marB="9144">
                    <a:solidFill>
                      <a:srgbClr val="FFFFFF"/>
                    </a:solidFill>
                  </a:tcPr>
                </a:tc>
                <a:tc>
                  <a:txBody>
                    <a:bodyPr/>
                    <a:lstStyle/>
                    <a:p>
                      <a:pPr algn="ctr"/>
                      <a:r>
                        <a:rPr sz="1150">
                          <a:solidFill>
                            <a:srgbClr val="22262A"/>
                          </a:solidFill>
                          <a:latin typeface="Calibri"/>
                        </a:rPr>
                        <a:t>2,000,000</a:t>
                      </a:r>
                    </a:p>
                  </a:txBody>
                  <a:tcPr anchor="ctr" marL="45720" marR="45720" marT="9144" marB="9144">
                    <a:solidFill>
                      <a:srgbClr val="FFFFFF"/>
                    </a:solidFill>
                  </a:tcPr>
                </a:tc>
                <a:tc>
                  <a:txBody>
                    <a:bodyPr/>
                    <a:lstStyle/>
                    <a:p>
                      <a:pPr algn="ctr"/>
                      <a:r>
                        <a:rPr sz="1150">
                          <a:solidFill>
                            <a:srgbClr val="22262A"/>
                          </a:solidFill>
                          <a:latin typeface="Calibri"/>
                        </a:rPr>
                        <a:t>227,193</a:t>
                      </a:r>
                    </a:p>
                  </a:txBody>
                  <a:tcPr anchor="ctr" marL="45720" marR="45720" marT="9144" marB="9144">
                    <a:solidFill>
                      <a:srgbClr val="FFFFFF"/>
                    </a:solidFill>
                  </a:tcPr>
                </a:tc>
                <a:tc>
                  <a:txBody>
                    <a:bodyPr/>
                    <a:lstStyle/>
                    <a:p>
                      <a:pPr algn="ctr"/>
                      <a:r>
                        <a:rPr sz="1150">
                          <a:solidFill>
                            <a:srgbClr val="22262A"/>
                          </a:solidFill>
                          <a:latin typeface="Calibri"/>
                        </a:rPr>
                        <a:t>1,772,807</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M2</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1,619,499</a:t>
                      </a:r>
                    </a:p>
                  </a:txBody>
                  <a:tcPr anchor="ctr" marL="45720" marR="45720" marT="9144" marB="9144">
                    <a:solidFill>
                      <a:srgbClr val="EEF2F6"/>
                    </a:solidFill>
                  </a:tcPr>
                </a:tc>
                <a:tc>
                  <a:txBody>
                    <a:bodyPr/>
                    <a:lstStyle/>
                    <a:p>
                      <a:pPr algn="ctr"/>
                      <a:r>
                        <a:rPr sz="1150" b="1">
                          <a:solidFill>
                            <a:srgbClr val="1E8E3E"/>
                          </a:solidFill>
                          <a:latin typeface="Calibri"/>
                        </a:rPr>
                        <a:t>OK</a:t>
                      </a:r>
                    </a:p>
                  </a:txBody>
                  <a:tcPr anchor="ctr" marL="45720" marR="45720" marT="9144" marB="9144">
                    <a:solidFill>
                      <a:srgbClr val="EEF2F6"/>
                    </a:solidFill>
                  </a:tcPr>
                </a:tc>
              </a:tr>
              <a:tr h="365760">
                <a:tc>
                  <a:txBody>
                    <a:bodyPr/>
                    <a:lstStyle/>
                    <a:p>
                      <a:pPr algn="l"/>
                      <a:r>
                        <a:rPr sz="1150">
                          <a:solidFill>
                            <a:srgbClr val="22262A"/>
                          </a:solidFill>
                          <a:latin typeface="Calibri"/>
                        </a:rPr>
                        <a:t>M3</a:t>
                      </a:r>
                    </a:p>
                  </a:txBody>
                  <a:tcPr anchor="ctr" marL="45720" marR="45720" marT="9144" marB="9144">
                    <a:solidFill>
                      <a:srgbClr val="FFFFFF"/>
                    </a:solidFill>
                  </a:tcPr>
                </a:tc>
                <a:tc>
                  <a:txBody>
                    <a:bodyPr/>
                    <a:lstStyle/>
                    <a:p>
                      <a:pPr algn="ctr"/>
                      <a:r>
                        <a:rPr sz="1150">
                          <a:solidFill>
                            <a:srgbClr val="22262A"/>
                          </a:solidFill>
                          <a:latin typeface="Calibri"/>
                        </a:rPr>
                        <a:t>0</a:t>
                      </a:r>
                    </a:p>
                  </a:txBody>
                  <a:tcPr anchor="ctr" marL="45720" marR="45720" marT="9144" marB="9144">
                    <a:solidFill>
                      <a:srgbClr val="FFFFFF"/>
                    </a:solidFill>
                  </a:tcPr>
                </a:tc>
                <a:tc>
                  <a:txBody>
                    <a:bodyPr/>
                    <a:lstStyle/>
                    <a:p>
                      <a:pPr algn="ctr"/>
                      <a:r>
                        <a:rPr sz="1150">
                          <a:solidFill>
                            <a:srgbClr val="22262A"/>
                          </a:solidFill>
                          <a:latin typeface="Calibri"/>
                        </a:rPr>
                        <a:t>153,309</a:t>
                      </a:r>
                    </a:p>
                  </a:txBody>
                  <a:tcPr anchor="ctr" marL="45720" marR="45720" marT="9144" marB="9144">
                    <a:solidFill>
                      <a:srgbClr val="FFFFFF"/>
                    </a:solidFill>
                  </a:tcPr>
                </a:tc>
                <a:tc>
                  <a:txBody>
                    <a:bodyPr/>
                    <a:lstStyle/>
                    <a:p>
                      <a:pPr algn="ctr"/>
                      <a:r>
                        <a:rPr sz="1150">
                          <a:solidFill>
                            <a:srgbClr val="22262A"/>
                          </a:solidFill>
                          <a:latin typeface="Calibri"/>
                        </a:rPr>
                        <a:t>1,466,190</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M4</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1,312,881</a:t>
                      </a:r>
                    </a:p>
                  </a:txBody>
                  <a:tcPr anchor="ctr" marL="45720" marR="45720" marT="9144" marB="9144">
                    <a:solidFill>
                      <a:srgbClr val="EEF2F6"/>
                    </a:solidFill>
                  </a:tcPr>
                </a:tc>
                <a:tc>
                  <a:txBody>
                    <a:bodyPr/>
                    <a:lstStyle/>
                    <a:p>
                      <a:pPr algn="ctr"/>
                      <a:r>
                        <a:rPr sz="1150" b="1">
                          <a:solidFill>
                            <a:srgbClr val="1E8E3E"/>
                          </a:solidFill>
                          <a:latin typeface="Calibri"/>
                        </a:rPr>
                        <a:t>OK</a:t>
                      </a:r>
                    </a:p>
                  </a:txBody>
                  <a:tcPr anchor="ctr" marL="45720" marR="45720" marT="9144" marB="9144">
                    <a:solidFill>
                      <a:srgbClr val="EEF2F6"/>
                    </a:solidFill>
                  </a:tcPr>
                </a:tc>
              </a:tr>
              <a:tr h="365760">
                <a:tc>
                  <a:txBody>
                    <a:bodyPr/>
                    <a:lstStyle/>
                    <a:p>
                      <a:pPr algn="l"/>
                      <a:r>
                        <a:rPr sz="1150">
                          <a:solidFill>
                            <a:srgbClr val="22262A"/>
                          </a:solidFill>
                          <a:latin typeface="Calibri"/>
                        </a:rPr>
                        <a:t>M5</a:t>
                      </a:r>
                    </a:p>
                  </a:txBody>
                  <a:tcPr anchor="ctr" marL="45720" marR="45720" marT="9144" marB="9144">
                    <a:solidFill>
                      <a:srgbClr val="FFFFFF"/>
                    </a:solidFill>
                  </a:tcPr>
                </a:tc>
                <a:tc>
                  <a:txBody>
                    <a:bodyPr/>
                    <a:lstStyle/>
                    <a:p>
                      <a:pPr algn="ctr"/>
                      <a:r>
                        <a:rPr sz="1150">
                          <a:solidFill>
                            <a:srgbClr val="22262A"/>
                          </a:solidFill>
                          <a:latin typeface="Calibri"/>
                        </a:rPr>
                        <a:t>0</a:t>
                      </a:r>
                    </a:p>
                  </a:txBody>
                  <a:tcPr anchor="ctr" marL="45720" marR="45720" marT="9144" marB="9144">
                    <a:solidFill>
                      <a:srgbClr val="FFFFFF"/>
                    </a:solidFill>
                  </a:tcPr>
                </a:tc>
                <a:tc>
                  <a:txBody>
                    <a:bodyPr/>
                    <a:lstStyle/>
                    <a:p>
                      <a:pPr algn="ctr"/>
                      <a:r>
                        <a:rPr sz="1150">
                          <a:solidFill>
                            <a:srgbClr val="22262A"/>
                          </a:solidFill>
                          <a:latin typeface="Calibri"/>
                        </a:rPr>
                        <a:t>153,309</a:t>
                      </a:r>
                    </a:p>
                  </a:txBody>
                  <a:tcPr anchor="ctr" marL="45720" marR="45720" marT="9144" marB="9144">
                    <a:solidFill>
                      <a:srgbClr val="FFFFFF"/>
                    </a:solidFill>
                  </a:tcPr>
                </a:tc>
                <a:tc>
                  <a:txBody>
                    <a:bodyPr/>
                    <a:lstStyle/>
                    <a:p>
                      <a:pPr algn="ctr"/>
                      <a:r>
                        <a:rPr sz="1150">
                          <a:solidFill>
                            <a:srgbClr val="22262A"/>
                          </a:solidFill>
                          <a:latin typeface="Calibri"/>
                        </a:rPr>
                        <a:t>1,159,572</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M6</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1,006,263</a:t>
                      </a:r>
                    </a:p>
                  </a:txBody>
                  <a:tcPr anchor="ctr" marL="45720" marR="45720" marT="9144" marB="9144">
                    <a:solidFill>
                      <a:srgbClr val="EEF2F6"/>
                    </a:solidFill>
                  </a:tcPr>
                </a:tc>
                <a:tc>
                  <a:txBody>
                    <a:bodyPr/>
                    <a:lstStyle/>
                    <a:p>
                      <a:pPr algn="ctr"/>
                      <a:r>
                        <a:rPr sz="1150" b="1">
                          <a:solidFill>
                            <a:srgbClr val="1E8E3E"/>
                          </a:solidFill>
                          <a:latin typeface="Calibri"/>
                        </a:rPr>
                        <a:t>OK</a:t>
                      </a:r>
                    </a:p>
                  </a:txBody>
                  <a:tcPr anchor="ctr" marL="45720" marR="45720" marT="9144" marB="9144">
                    <a:solidFill>
                      <a:srgbClr val="EEF2F6"/>
                    </a:solidFill>
                  </a:tcPr>
                </a:tc>
              </a:tr>
              <a:tr h="365760">
                <a:tc>
                  <a:txBody>
                    <a:bodyPr/>
                    <a:lstStyle/>
                    <a:p>
                      <a:pPr algn="l"/>
                      <a:r>
                        <a:rPr sz="1150">
                          <a:solidFill>
                            <a:srgbClr val="22262A"/>
                          </a:solidFill>
                          <a:latin typeface="Calibri"/>
                        </a:rPr>
                        <a:t>M7</a:t>
                      </a:r>
                    </a:p>
                  </a:txBody>
                  <a:tcPr anchor="ctr" marL="45720" marR="45720" marT="9144" marB="9144">
                    <a:solidFill>
                      <a:srgbClr val="FFFFFF"/>
                    </a:solidFill>
                  </a:tcPr>
                </a:tc>
                <a:tc>
                  <a:txBody>
                    <a:bodyPr/>
                    <a:lstStyle/>
                    <a:p>
                      <a:pPr algn="ctr"/>
                      <a:r>
                        <a:rPr sz="1150">
                          <a:solidFill>
                            <a:srgbClr val="22262A"/>
                          </a:solidFill>
                          <a:latin typeface="Calibri"/>
                        </a:rPr>
                        <a:t>0</a:t>
                      </a:r>
                    </a:p>
                  </a:txBody>
                  <a:tcPr anchor="ctr" marL="45720" marR="45720" marT="9144" marB="9144">
                    <a:solidFill>
                      <a:srgbClr val="FFFFFF"/>
                    </a:solidFill>
                  </a:tcPr>
                </a:tc>
                <a:tc>
                  <a:txBody>
                    <a:bodyPr/>
                    <a:lstStyle/>
                    <a:p>
                      <a:pPr algn="ctr"/>
                      <a:r>
                        <a:rPr sz="1150">
                          <a:solidFill>
                            <a:srgbClr val="22262A"/>
                          </a:solidFill>
                          <a:latin typeface="Calibri"/>
                        </a:rPr>
                        <a:t>153,309</a:t>
                      </a:r>
                    </a:p>
                  </a:txBody>
                  <a:tcPr anchor="ctr" marL="45720" marR="45720" marT="9144" marB="9144">
                    <a:solidFill>
                      <a:srgbClr val="FFFFFF"/>
                    </a:solidFill>
                  </a:tcPr>
                </a:tc>
                <a:tc>
                  <a:txBody>
                    <a:bodyPr/>
                    <a:lstStyle/>
                    <a:p>
                      <a:pPr algn="ctr"/>
                      <a:r>
                        <a:rPr sz="1150">
                          <a:solidFill>
                            <a:srgbClr val="22262A"/>
                          </a:solidFill>
                          <a:latin typeface="Calibri"/>
                        </a:rPr>
                        <a:t>852,954</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M8</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699,645</a:t>
                      </a:r>
                    </a:p>
                  </a:txBody>
                  <a:tcPr anchor="ctr" marL="45720" marR="45720" marT="9144" marB="9144">
                    <a:solidFill>
                      <a:srgbClr val="EEF2F6"/>
                    </a:solidFill>
                  </a:tcPr>
                </a:tc>
                <a:tc>
                  <a:txBody>
                    <a:bodyPr/>
                    <a:lstStyle/>
                    <a:p>
                      <a:pPr algn="ctr"/>
                      <a:r>
                        <a:rPr sz="1150" b="1">
                          <a:solidFill>
                            <a:srgbClr val="1E8E3E"/>
                          </a:solidFill>
                          <a:latin typeface="Calibri"/>
                        </a:rPr>
                        <a:t>OK</a:t>
                      </a:r>
                    </a:p>
                  </a:txBody>
                  <a:tcPr anchor="ctr" marL="45720" marR="45720" marT="9144" marB="9144">
                    <a:solidFill>
                      <a:srgbClr val="EEF2F6"/>
                    </a:solidFill>
                  </a:tcPr>
                </a:tc>
              </a:tr>
              <a:tr h="365760">
                <a:tc>
                  <a:txBody>
                    <a:bodyPr/>
                    <a:lstStyle/>
                    <a:p>
                      <a:pPr algn="l"/>
                      <a:r>
                        <a:rPr sz="1150">
                          <a:solidFill>
                            <a:srgbClr val="22262A"/>
                          </a:solidFill>
                          <a:latin typeface="Calibri"/>
                        </a:rPr>
                        <a:t>M9</a:t>
                      </a:r>
                    </a:p>
                  </a:txBody>
                  <a:tcPr anchor="ctr" marL="45720" marR="45720" marT="9144" marB="9144">
                    <a:solidFill>
                      <a:srgbClr val="FFFFFF"/>
                    </a:solidFill>
                  </a:tcPr>
                </a:tc>
                <a:tc>
                  <a:txBody>
                    <a:bodyPr/>
                    <a:lstStyle/>
                    <a:p>
                      <a:pPr algn="ctr"/>
                      <a:r>
                        <a:rPr sz="1150">
                          <a:solidFill>
                            <a:srgbClr val="22262A"/>
                          </a:solidFill>
                          <a:latin typeface="Calibri"/>
                        </a:rPr>
                        <a:t>0</a:t>
                      </a:r>
                    </a:p>
                  </a:txBody>
                  <a:tcPr anchor="ctr" marL="45720" marR="45720" marT="9144" marB="9144">
                    <a:solidFill>
                      <a:srgbClr val="FFFFFF"/>
                    </a:solidFill>
                  </a:tcPr>
                </a:tc>
                <a:tc>
                  <a:txBody>
                    <a:bodyPr/>
                    <a:lstStyle/>
                    <a:p>
                      <a:pPr algn="ctr"/>
                      <a:r>
                        <a:rPr sz="1150">
                          <a:solidFill>
                            <a:srgbClr val="22262A"/>
                          </a:solidFill>
                          <a:latin typeface="Calibri"/>
                        </a:rPr>
                        <a:t>153,309</a:t>
                      </a:r>
                    </a:p>
                  </a:txBody>
                  <a:tcPr anchor="ctr" marL="45720" marR="45720" marT="9144" marB="9144">
                    <a:solidFill>
                      <a:srgbClr val="FFFFFF"/>
                    </a:solidFill>
                  </a:tcPr>
                </a:tc>
                <a:tc>
                  <a:txBody>
                    <a:bodyPr/>
                    <a:lstStyle/>
                    <a:p>
                      <a:pPr algn="ctr"/>
                      <a:r>
                        <a:rPr sz="1150">
                          <a:solidFill>
                            <a:srgbClr val="22262A"/>
                          </a:solidFill>
                          <a:latin typeface="Calibri"/>
                        </a:rPr>
                        <a:t>546,337</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M10</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393,028</a:t>
                      </a:r>
                    </a:p>
                  </a:txBody>
                  <a:tcPr anchor="ctr" marL="45720" marR="45720" marT="9144" marB="9144">
                    <a:solidFill>
                      <a:srgbClr val="EEF2F6"/>
                    </a:solidFill>
                  </a:tcPr>
                </a:tc>
                <a:tc>
                  <a:txBody>
                    <a:bodyPr/>
                    <a:lstStyle/>
                    <a:p>
                      <a:pPr algn="ctr"/>
                      <a:r>
                        <a:rPr sz="1150" b="1">
                          <a:solidFill>
                            <a:srgbClr val="1E8E3E"/>
                          </a:solidFill>
                          <a:latin typeface="Calibri"/>
                        </a:rPr>
                        <a:t>OK</a:t>
                      </a:r>
                    </a:p>
                  </a:txBody>
                  <a:tcPr anchor="ctr" marL="45720" marR="45720" marT="9144" marB="9144">
                    <a:solidFill>
                      <a:srgbClr val="EEF2F6"/>
                    </a:solidFill>
                  </a:tcPr>
                </a:tc>
              </a:tr>
              <a:tr h="365760">
                <a:tc>
                  <a:txBody>
                    <a:bodyPr/>
                    <a:lstStyle/>
                    <a:p>
                      <a:pPr algn="l"/>
                      <a:r>
                        <a:rPr sz="1150">
                          <a:solidFill>
                            <a:srgbClr val="22262A"/>
                          </a:solidFill>
                          <a:latin typeface="Calibri"/>
                        </a:rPr>
                        <a:t>M11</a:t>
                      </a:r>
                    </a:p>
                  </a:txBody>
                  <a:tcPr anchor="ctr" marL="45720" marR="45720" marT="9144" marB="9144">
                    <a:solidFill>
                      <a:srgbClr val="FFFFFF"/>
                    </a:solidFill>
                  </a:tcPr>
                </a:tc>
                <a:tc>
                  <a:txBody>
                    <a:bodyPr/>
                    <a:lstStyle/>
                    <a:p>
                      <a:pPr algn="ctr"/>
                      <a:r>
                        <a:rPr sz="1150">
                          <a:solidFill>
                            <a:srgbClr val="22262A"/>
                          </a:solidFill>
                          <a:latin typeface="Calibri"/>
                        </a:rPr>
                        <a:t>0</a:t>
                      </a:r>
                    </a:p>
                  </a:txBody>
                  <a:tcPr anchor="ctr" marL="45720" marR="45720" marT="9144" marB="9144">
                    <a:solidFill>
                      <a:srgbClr val="FFFFFF"/>
                    </a:solidFill>
                  </a:tcPr>
                </a:tc>
                <a:tc>
                  <a:txBody>
                    <a:bodyPr/>
                    <a:lstStyle/>
                    <a:p>
                      <a:pPr algn="ctr"/>
                      <a:r>
                        <a:rPr sz="1150">
                          <a:solidFill>
                            <a:srgbClr val="22262A"/>
                          </a:solidFill>
                          <a:latin typeface="Calibri"/>
                        </a:rPr>
                        <a:t>153,309</a:t>
                      </a:r>
                    </a:p>
                  </a:txBody>
                  <a:tcPr anchor="ctr" marL="45720" marR="45720" marT="9144" marB="9144">
                    <a:solidFill>
                      <a:srgbClr val="FFFFFF"/>
                    </a:solidFill>
                  </a:tcPr>
                </a:tc>
                <a:tc>
                  <a:txBody>
                    <a:bodyPr/>
                    <a:lstStyle/>
                    <a:p>
                      <a:pPr algn="ctr"/>
                      <a:r>
                        <a:rPr sz="1150">
                          <a:solidFill>
                            <a:srgbClr val="22262A"/>
                          </a:solidFill>
                          <a:latin typeface="Calibri"/>
                        </a:rPr>
                        <a:t>239,719</a:t>
                      </a:r>
                    </a:p>
                  </a:txBody>
                  <a:tcPr anchor="ctr" marL="45720" marR="45720" marT="9144" marB="9144">
                    <a:solidFill>
                      <a:srgbClr val="FFFFFF"/>
                    </a:solidFill>
                  </a:tcPr>
                </a:tc>
                <a:tc>
                  <a:txBody>
                    <a:bodyPr/>
                    <a:lstStyle/>
                    <a:p>
                      <a:pPr algn="ctr"/>
                      <a:r>
                        <a:rPr sz="1150" b="1">
                          <a:solidFill>
                            <a:srgbClr val="1E8E3E"/>
                          </a:solidFill>
                          <a:latin typeface="Calibri"/>
                        </a:rPr>
                        <a:t>OK</a:t>
                      </a:r>
                    </a:p>
                  </a:txBody>
                  <a:tcPr anchor="ctr" marL="45720" marR="45720" marT="9144" marB="9144">
                    <a:solidFill>
                      <a:srgbClr val="FFFFFF"/>
                    </a:solidFill>
                  </a:tcPr>
                </a:tc>
              </a:tr>
              <a:tr h="365760">
                <a:tc>
                  <a:txBody>
                    <a:bodyPr/>
                    <a:lstStyle/>
                    <a:p>
                      <a:pPr algn="l"/>
                      <a:r>
                        <a:rPr sz="1150">
                          <a:solidFill>
                            <a:srgbClr val="22262A"/>
                          </a:solidFill>
                          <a:latin typeface="Calibri"/>
                        </a:rPr>
                        <a:t>M12</a:t>
                      </a:r>
                    </a:p>
                  </a:txBody>
                  <a:tcPr anchor="ctr" marL="45720" marR="45720" marT="9144" marB="9144">
                    <a:solidFill>
                      <a:srgbClr val="EEF2F6"/>
                    </a:solidFill>
                  </a:tcPr>
                </a:tc>
                <a:tc>
                  <a:txBody>
                    <a:bodyPr/>
                    <a:lstStyle/>
                    <a:p>
                      <a:pPr algn="ctr"/>
                      <a:r>
                        <a:rPr sz="1150">
                          <a:solidFill>
                            <a:srgbClr val="22262A"/>
                          </a:solidFill>
                          <a:latin typeface="Calibri"/>
                        </a:rPr>
                        <a:t>0</a:t>
                      </a:r>
                    </a:p>
                  </a:txBody>
                  <a:tcPr anchor="ctr" marL="45720" marR="45720" marT="9144" marB="9144">
                    <a:solidFill>
                      <a:srgbClr val="EEF2F6"/>
                    </a:solidFill>
                  </a:tcPr>
                </a:tc>
                <a:tc>
                  <a:txBody>
                    <a:bodyPr/>
                    <a:lstStyle/>
                    <a:p>
                      <a:pPr algn="ctr"/>
                      <a:r>
                        <a:rPr sz="1150">
                          <a:solidFill>
                            <a:srgbClr val="22262A"/>
                          </a:solidFill>
                          <a:latin typeface="Calibri"/>
                        </a:rPr>
                        <a:t>153,309</a:t>
                      </a:r>
                    </a:p>
                  </a:txBody>
                  <a:tcPr anchor="ctr" marL="45720" marR="45720" marT="9144" marB="9144">
                    <a:solidFill>
                      <a:srgbClr val="EEF2F6"/>
                    </a:solidFill>
                  </a:tcPr>
                </a:tc>
                <a:tc>
                  <a:txBody>
                    <a:bodyPr/>
                    <a:lstStyle/>
                    <a:p>
                      <a:pPr algn="ctr"/>
                      <a:r>
                        <a:rPr sz="1150">
                          <a:solidFill>
                            <a:srgbClr val="22262A"/>
                          </a:solidFill>
                          <a:latin typeface="Calibri"/>
                        </a:rPr>
                        <a:t>86,410</a:t>
                      </a:r>
                    </a:p>
                  </a:txBody>
                  <a:tcPr anchor="ctr" marL="45720" marR="45720" marT="9144" marB="9144">
                    <a:solidFill>
                      <a:srgbClr val="EEF2F6"/>
                    </a:solidFill>
                  </a:tcPr>
                </a:tc>
                <a:tc>
                  <a:txBody>
                    <a:bodyPr/>
                    <a:lstStyle/>
                    <a:p>
                      <a:pPr algn="ctr"/>
                      <a:r>
                        <a:rPr sz="1150" b="1">
                          <a:solidFill>
                            <a:srgbClr val="C0392B"/>
                          </a:solidFill>
                          <a:latin typeface="Calibri"/>
                        </a:rPr>
                        <a:t>BELOW FLOOR</a:t>
                      </a:r>
                    </a:p>
                  </a:txBody>
                  <a:tcPr anchor="ctr" marL="45720" marR="45720" marT="9144" marB="9144">
                    <a:solidFill>
                      <a:srgbClr val="EEF2F6"/>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12-MONTH ENDING CASH</a:t>
            </a:r>
          </a:p>
          <a:p>
            <a:r>
              <a:rPr sz="2600" b="1">
                <a:solidFill>
                  <a:srgbClr val="FFFFFF"/>
                </a:solidFill>
                <a:latin typeface="Calibri"/>
              </a:rPr>
              <a:t>Base vs illustrative upside</a:t>
            </a:r>
          </a:p>
        </p:txBody>
      </p:sp>
      <p:pic>
        <p:nvPicPr>
          <p:cNvPr id="5" name="Picture 4" descr="monthly.png"/>
          <p:cNvPicPr>
            <a:picLocks noChangeAspect="1"/>
          </p:cNvPicPr>
          <p:nvPr/>
        </p:nvPicPr>
        <p:blipFill>
          <a:blip r:embed="rId2"/>
          <a:stretch>
            <a:fillRect/>
          </a:stretch>
        </p:blipFill>
        <p:spPr>
          <a:xfrm>
            <a:off x="457200" y="1325880"/>
            <a:ext cx="7863840" cy="3793146"/>
          </a:xfrm>
          <a:prstGeom prst="rect">
            <a:avLst/>
          </a:prstGeom>
        </p:spPr>
      </p:pic>
      <p:sp>
        <p:nvSpPr>
          <p:cNvPr id="6" name="TextBox 5"/>
          <p:cNvSpPr txBox="1"/>
          <p:nvPr/>
        </p:nvSpPr>
        <p:spPr>
          <a:xfrm>
            <a:off x="8503920" y="1554480"/>
            <a:ext cx="3383280" cy="4846320"/>
          </a:xfrm>
          <a:prstGeom prst="rect">
            <a:avLst/>
          </a:prstGeom>
          <a:noFill/>
        </p:spPr>
        <p:txBody>
          <a:bodyPr wrap="square">
            <a:spAutoFit/>
          </a:bodyPr>
          <a:lstStyle/>
          <a:p>
            <a:pPr>
              <a:spcAft>
                <a:spcPts val="600"/>
              </a:spcAft>
            </a:pPr>
            <a:r>
              <a:rPr sz="1200" b="0">
                <a:solidFill>
                  <a:srgbClr val="5A636E"/>
                </a:solidFill>
                <a:latin typeface="Calibri"/>
              </a:rPr>
              <a:t>▪ Red dashed line = SAR 150k floor.</a:t>
            </a:r>
          </a:p>
          <a:p>
            <a:pPr>
              <a:spcAft>
                <a:spcPts val="600"/>
              </a:spcAft>
            </a:pPr>
            <a:r>
              <a:rPr sz="1200" b="1">
                <a:solidFill>
                  <a:srgbClr val="C0392B"/>
                </a:solidFill>
                <a:latin typeface="Calibri"/>
              </a:rPr>
              <a:t>▪ Base (no revenue) ends at SAR 86,410 — below floor.</a:t>
            </a:r>
          </a:p>
          <a:p>
            <a:pPr>
              <a:spcAft>
                <a:spcPts val="600"/>
              </a:spcAft>
            </a:pPr>
            <a:r>
              <a:rPr sz="1200" b="1">
                <a:solidFill>
                  <a:srgbClr val="1E8E3E"/>
                </a:solidFill>
                <a:latin typeface="Calibri"/>
              </a:rPr>
              <a:t>▪ Upside ends at SAR 614,410 — above floor.</a:t>
            </a:r>
          </a:p>
          <a:p>
            <a:pPr>
              <a:spcAft>
                <a:spcPts val="600"/>
              </a:spcAft>
            </a:pPr>
            <a:r>
              <a:rPr sz="1200" b="0">
                <a:solidFill>
                  <a:srgbClr val="22262A"/>
                </a:solidFill>
                <a:latin typeface="Calibri"/>
              </a:rPr>
              <a:t>▪ Upside = 4 mid-market logos landing in H2 (illustrative, from the repo's pricing ranges).</a:t>
            </a:r>
          </a:p>
          <a:p>
            <a:pPr>
              <a:spcAft>
                <a:spcPts val="600"/>
              </a:spcAft>
            </a:pPr>
            <a:r>
              <a:rPr sz="1200" b="1">
                <a:solidFill>
                  <a:srgbClr val="0F2A4A"/>
                </a:solidFill>
                <a:latin typeface="Calibri"/>
              </a:rPr>
              <a:t>▪ Takeaway: a handful of paid logos is the difference between stalling and reaching the seed bar.</a:t>
            </a:r>
          </a:p>
        </p:txBody>
      </p:sp>
      <p:sp>
        <p:nvSpPr>
          <p:cNvPr id="7" name="TextBox 6"/>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8" name="TextBox 7"/>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WEEKLY</a:t>
            </a:r>
          </a:p>
          <a:p>
            <a:r>
              <a:rPr sz="2600" b="1">
                <a:solidFill>
                  <a:srgbClr val="FFFFFF"/>
                </a:solidFill>
                <a:latin typeface="Calibri"/>
              </a:rPr>
              <a:t>13-week weekly cash (the near-term liquidity view)</a:t>
            </a:r>
          </a:p>
        </p:txBody>
      </p:sp>
      <p:graphicFrame>
        <p:nvGraphicFramePr>
          <p:cNvPr id="5" name="Table 4"/>
          <p:cNvGraphicFramePr>
            <a:graphicFrameLocks noGrp="1"/>
          </p:cNvGraphicFramePr>
          <p:nvPr/>
        </p:nvGraphicFramePr>
        <p:xfrm>
          <a:off x="457200" y="1280160"/>
          <a:ext cx="10515600" cy="4754880"/>
        </p:xfrm>
        <a:graphic>
          <a:graphicData uri="http://schemas.openxmlformats.org/drawingml/2006/table">
            <a:tbl>
              <a:tblPr firstRow="1" bandRow="1">
                <a:tableStyleId>{5C22544A-7EE6-4342-B048-85BDC9FD1C3A}</a:tableStyleId>
              </a:tblPr>
              <a:tblGrid>
                <a:gridCol w="1371600"/>
                <a:gridCol w="2377440"/>
                <a:gridCol w="2377440"/>
                <a:gridCol w="2560320"/>
                <a:gridCol w="1828800"/>
              </a:tblGrid>
              <a:tr h="339634">
                <a:tc>
                  <a:txBody>
                    <a:bodyPr/>
                    <a:lstStyle/>
                    <a:p>
                      <a:pPr algn="l"/>
                      <a:r>
                        <a:rPr sz="1050" b="1">
                          <a:solidFill>
                            <a:srgbClr val="FFFFFF"/>
                          </a:solidFill>
                          <a:latin typeface="Calibri"/>
                        </a:rPr>
                        <a:t>Week</a:t>
                      </a:r>
                    </a:p>
                  </a:txBody>
                  <a:tcPr anchor="ctr">
                    <a:solidFill>
                      <a:srgbClr val="0F2A4A"/>
                    </a:solidFill>
                  </a:tcPr>
                </a:tc>
                <a:tc>
                  <a:txBody>
                    <a:bodyPr/>
                    <a:lstStyle/>
                    <a:p>
                      <a:pPr algn="ctr"/>
                      <a:r>
                        <a:rPr sz="1050" b="1">
                          <a:solidFill>
                            <a:srgbClr val="FFFFFF"/>
                          </a:solidFill>
                          <a:latin typeface="Calibri"/>
                        </a:rPr>
                        <a:t>Cash in</a:t>
                      </a:r>
                    </a:p>
                  </a:txBody>
                  <a:tcPr anchor="ctr">
                    <a:solidFill>
                      <a:srgbClr val="0F2A4A"/>
                    </a:solidFill>
                  </a:tcPr>
                </a:tc>
                <a:tc>
                  <a:txBody>
                    <a:bodyPr/>
                    <a:lstStyle/>
                    <a:p>
                      <a:pPr algn="ctr"/>
                      <a:r>
                        <a:rPr sz="1050" b="1">
                          <a:solidFill>
                            <a:srgbClr val="FFFFFF"/>
                          </a:solidFill>
                          <a:latin typeface="Calibri"/>
                        </a:rPr>
                        <a:t>Cash out</a:t>
                      </a:r>
                    </a:p>
                  </a:txBody>
                  <a:tcPr anchor="ctr">
                    <a:solidFill>
                      <a:srgbClr val="0F2A4A"/>
                    </a:solidFill>
                  </a:tcPr>
                </a:tc>
                <a:tc>
                  <a:txBody>
                    <a:bodyPr/>
                    <a:lstStyle/>
                    <a:p>
                      <a:pPr algn="ctr"/>
                      <a:r>
                        <a:rPr sz="1050" b="1">
                          <a:solidFill>
                            <a:srgbClr val="FFFFFF"/>
                          </a:solidFill>
                          <a:latin typeface="Calibri"/>
                        </a:rPr>
                        <a:t>Ending cash</a:t>
                      </a:r>
                    </a:p>
                  </a:txBody>
                  <a:tcPr anchor="ctr">
                    <a:solidFill>
                      <a:srgbClr val="0F2A4A"/>
                    </a:solidFill>
                  </a:tcPr>
                </a:tc>
                <a:tc>
                  <a:txBody>
                    <a:bodyPr/>
                    <a:lstStyle/>
                    <a:p>
                      <a:pPr algn="ctr"/>
                      <a:r>
                        <a:rPr sz="1050" b="1">
                          <a:solidFill>
                            <a:srgbClr val="FFFFFF"/>
                          </a:solidFill>
                          <a:latin typeface="Calibri"/>
                        </a:rPr>
                        <a:t>Status</a:t>
                      </a:r>
                    </a:p>
                  </a:txBody>
                  <a:tcPr anchor="ctr">
                    <a:solidFill>
                      <a:srgbClr val="0F2A4A"/>
                    </a:solidFill>
                  </a:tcPr>
                </a:tc>
              </a:tr>
              <a:tr h="339634">
                <a:tc>
                  <a:txBody>
                    <a:bodyPr/>
                    <a:lstStyle/>
                    <a:p>
                      <a:pPr algn="l"/>
                      <a:r>
                        <a:rPr sz="1050">
                          <a:solidFill>
                            <a:srgbClr val="22262A"/>
                          </a:solidFill>
                          <a:latin typeface="Calibri"/>
                        </a:rPr>
                        <a:t>W1</a:t>
                      </a:r>
                    </a:p>
                  </a:txBody>
                  <a:tcPr anchor="ctr" marL="45720" marR="45720" marT="9144" marB="9144">
                    <a:solidFill>
                      <a:srgbClr val="FFFFFF"/>
                    </a:solidFill>
                  </a:tcPr>
                </a:tc>
                <a:tc>
                  <a:txBody>
                    <a:bodyPr/>
                    <a:lstStyle/>
                    <a:p>
                      <a:pPr algn="ctr"/>
                      <a:r>
                        <a:rPr sz="1050">
                          <a:solidFill>
                            <a:srgbClr val="22262A"/>
                          </a:solidFill>
                          <a:latin typeface="Calibri"/>
                        </a:rPr>
                        <a:t>2,000,000</a:t>
                      </a:r>
                    </a:p>
                  </a:txBody>
                  <a:tcPr anchor="ctr" marL="45720" marR="45720" marT="9144" marB="9144">
                    <a:solidFill>
                      <a:srgbClr val="FFFFFF"/>
                    </a:solidFill>
                  </a:tcPr>
                </a:tc>
                <a:tc>
                  <a:txBody>
                    <a:bodyPr/>
                    <a:lstStyle/>
                    <a:p>
                      <a:pPr algn="ctr"/>
                      <a:r>
                        <a:rPr sz="1050">
                          <a:solidFill>
                            <a:srgbClr val="22262A"/>
                          </a:solidFill>
                          <a:latin typeface="Calibri"/>
                        </a:rPr>
                        <a:t>158,084</a:t>
                      </a:r>
                    </a:p>
                  </a:txBody>
                  <a:tcPr anchor="ctr" marL="45720" marR="45720" marT="9144" marB="9144">
                    <a:solidFill>
                      <a:srgbClr val="FFFFFF"/>
                    </a:solidFill>
                  </a:tcPr>
                </a:tc>
                <a:tc>
                  <a:txBody>
                    <a:bodyPr/>
                    <a:lstStyle/>
                    <a:p>
                      <a:pPr algn="ctr"/>
                      <a:r>
                        <a:rPr sz="1050">
                          <a:solidFill>
                            <a:srgbClr val="22262A"/>
                          </a:solidFill>
                          <a:latin typeface="Calibri"/>
                        </a:rPr>
                        <a:t>1,841,916</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W2</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1,841,916</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4">
                <a:tc>
                  <a:txBody>
                    <a:bodyPr/>
                    <a:lstStyle/>
                    <a:p>
                      <a:pPr algn="l"/>
                      <a:r>
                        <a:rPr sz="1050">
                          <a:solidFill>
                            <a:srgbClr val="22262A"/>
                          </a:solidFill>
                          <a:latin typeface="Calibri"/>
                        </a:rPr>
                        <a:t>W3</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1,841,916</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W4</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69,109</a:t>
                      </a:r>
                    </a:p>
                  </a:txBody>
                  <a:tcPr anchor="ctr" marL="45720" marR="45720" marT="9144" marB="9144">
                    <a:solidFill>
                      <a:srgbClr val="EEF2F6"/>
                    </a:solidFill>
                  </a:tcPr>
                </a:tc>
                <a:tc>
                  <a:txBody>
                    <a:bodyPr/>
                    <a:lstStyle/>
                    <a:p>
                      <a:pPr algn="ctr"/>
                      <a:r>
                        <a:rPr sz="1050">
                          <a:solidFill>
                            <a:srgbClr val="22262A"/>
                          </a:solidFill>
                          <a:latin typeface="Calibri"/>
                        </a:rPr>
                        <a:t>1,772,807</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4">
                <a:tc>
                  <a:txBody>
                    <a:bodyPr/>
                    <a:lstStyle/>
                    <a:p>
                      <a:pPr algn="l"/>
                      <a:r>
                        <a:rPr sz="1050">
                          <a:solidFill>
                            <a:srgbClr val="22262A"/>
                          </a:solidFill>
                          <a:latin typeface="Calibri"/>
                        </a:rPr>
                        <a:t>W5</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1,772,807</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W6</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1,772,807</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4">
                <a:tc>
                  <a:txBody>
                    <a:bodyPr/>
                    <a:lstStyle/>
                    <a:p>
                      <a:pPr algn="l"/>
                      <a:r>
                        <a:rPr sz="1050">
                          <a:solidFill>
                            <a:srgbClr val="22262A"/>
                          </a:solidFill>
                          <a:latin typeface="Calibri"/>
                        </a:rPr>
                        <a:t>W7</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1,772,807</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W8</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1,772,807</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4">
                <a:tc>
                  <a:txBody>
                    <a:bodyPr/>
                    <a:lstStyle/>
                    <a:p>
                      <a:pPr algn="l"/>
                      <a:r>
                        <a:rPr sz="1050">
                          <a:solidFill>
                            <a:srgbClr val="22262A"/>
                          </a:solidFill>
                          <a:latin typeface="Calibri"/>
                        </a:rPr>
                        <a:t>W9</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153,309</a:t>
                      </a:r>
                    </a:p>
                  </a:txBody>
                  <a:tcPr anchor="ctr" marL="45720" marR="45720" marT="9144" marB="9144">
                    <a:solidFill>
                      <a:srgbClr val="FFFFFF"/>
                    </a:solidFill>
                  </a:tcPr>
                </a:tc>
                <a:tc>
                  <a:txBody>
                    <a:bodyPr/>
                    <a:lstStyle/>
                    <a:p>
                      <a:pPr algn="ctr"/>
                      <a:r>
                        <a:rPr sz="1050">
                          <a:solidFill>
                            <a:srgbClr val="22262A"/>
                          </a:solidFill>
                          <a:latin typeface="Calibri"/>
                        </a:rPr>
                        <a:t>1,619,499</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W10</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1,619,499</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4">
                <a:tc>
                  <a:txBody>
                    <a:bodyPr/>
                    <a:lstStyle/>
                    <a:p>
                      <a:pPr algn="l"/>
                      <a:r>
                        <a:rPr sz="1050">
                          <a:solidFill>
                            <a:srgbClr val="22262A"/>
                          </a:solidFill>
                          <a:latin typeface="Calibri"/>
                        </a:rPr>
                        <a:t>W11</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1,619,499</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r h="339634">
                <a:tc>
                  <a:txBody>
                    <a:bodyPr/>
                    <a:lstStyle/>
                    <a:p>
                      <a:pPr algn="l"/>
                      <a:r>
                        <a:rPr sz="1050">
                          <a:solidFill>
                            <a:srgbClr val="22262A"/>
                          </a:solidFill>
                          <a:latin typeface="Calibri"/>
                        </a:rPr>
                        <a:t>W12</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a:t>
                      </a:r>
                    </a:p>
                  </a:txBody>
                  <a:tcPr anchor="ctr" marL="45720" marR="45720" marT="9144" marB="9144">
                    <a:solidFill>
                      <a:srgbClr val="EEF2F6"/>
                    </a:solidFill>
                  </a:tcPr>
                </a:tc>
                <a:tc>
                  <a:txBody>
                    <a:bodyPr/>
                    <a:lstStyle/>
                    <a:p>
                      <a:pPr algn="ctr"/>
                      <a:r>
                        <a:rPr sz="1050">
                          <a:solidFill>
                            <a:srgbClr val="22262A"/>
                          </a:solidFill>
                          <a:latin typeface="Calibri"/>
                        </a:rPr>
                        <a:t>1,619,499</a:t>
                      </a:r>
                    </a:p>
                  </a:txBody>
                  <a:tcPr anchor="ctr" marL="45720" marR="45720" marT="9144" marB="9144">
                    <a:solidFill>
                      <a:srgbClr val="EEF2F6"/>
                    </a:solidFill>
                  </a:tcPr>
                </a:tc>
                <a:tc>
                  <a:txBody>
                    <a:bodyPr/>
                    <a:lstStyle/>
                    <a:p>
                      <a:pPr algn="ctr"/>
                      <a:r>
                        <a:rPr sz="1050" b="1">
                          <a:solidFill>
                            <a:srgbClr val="1E8E3E"/>
                          </a:solidFill>
                          <a:latin typeface="Calibri"/>
                        </a:rPr>
                        <a:t>OK</a:t>
                      </a:r>
                    </a:p>
                  </a:txBody>
                  <a:tcPr anchor="ctr" marL="45720" marR="45720" marT="9144" marB="9144">
                    <a:solidFill>
                      <a:srgbClr val="EEF2F6"/>
                    </a:solidFill>
                  </a:tcPr>
                </a:tc>
              </a:tr>
              <a:tr h="339638">
                <a:tc>
                  <a:txBody>
                    <a:bodyPr/>
                    <a:lstStyle/>
                    <a:p>
                      <a:pPr algn="l"/>
                      <a:r>
                        <a:rPr sz="1050">
                          <a:solidFill>
                            <a:srgbClr val="22262A"/>
                          </a:solidFill>
                          <a:latin typeface="Calibri"/>
                        </a:rPr>
                        <a:t>W13</a:t>
                      </a:r>
                    </a:p>
                  </a:txBody>
                  <a:tcPr anchor="ctr" marL="45720" marR="45720" marT="9144" marB="9144">
                    <a:solidFill>
                      <a:srgbClr val="FFFFFF"/>
                    </a:solidFill>
                  </a:tcPr>
                </a:tc>
                <a:tc>
                  <a:txBody>
                    <a:bodyPr/>
                    <a:lstStyle/>
                    <a:p>
                      <a:pPr algn="ctr"/>
                      <a:r>
                        <a:rPr sz="1050">
                          <a:solidFill>
                            <a:srgbClr val="22262A"/>
                          </a:solidFill>
                          <a:latin typeface="Calibri"/>
                        </a:rPr>
                        <a:t>—</a:t>
                      </a:r>
                    </a:p>
                  </a:txBody>
                  <a:tcPr anchor="ctr" marL="45720" marR="45720" marT="9144" marB="9144">
                    <a:solidFill>
                      <a:srgbClr val="FFFFFF"/>
                    </a:solidFill>
                  </a:tcPr>
                </a:tc>
                <a:tc>
                  <a:txBody>
                    <a:bodyPr/>
                    <a:lstStyle/>
                    <a:p>
                      <a:pPr algn="ctr"/>
                      <a:r>
                        <a:rPr sz="1050">
                          <a:solidFill>
                            <a:srgbClr val="22262A"/>
                          </a:solidFill>
                          <a:latin typeface="Calibri"/>
                        </a:rPr>
                        <a:t>153,309</a:t>
                      </a:r>
                    </a:p>
                  </a:txBody>
                  <a:tcPr anchor="ctr" marL="45720" marR="45720" marT="9144" marB="9144">
                    <a:solidFill>
                      <a:srgbClr val="FFFFFF"/>
                    </a:solidFill>
                  </a:tcPr>
                </a:tc>
                <a:tc>
                  <a:txBody>
                    <a:bodyPr/>
                    <a:lstStyle/>
                    <a:p>
                      <a:pPr algn="ctr"/>
                      <a:r>
                        <a:rPr sz="1050">
                          <a:solidFill>
                            <a:srgbClr val="22262A"/>
                          </a:solidFill>
                          <a:latin typeface="Calibri"/>
                        </a:rPr>
                        <a:t>1,466,190</a:t>
                      </a:r>
                    </a:p>
                  </a:txBody>
                  <a:tcPr anchor="ctr" marL="45720" marR="45720" marT="9144" marB="9144">
                    <a:solidFill>
                      <a:srgbClr val="FFFFFF"/>
                    </a:solidFill>
                  </a:tcPr>
                </a:tc>
                <a:tc>
                  <a:txBody>
                    <a:bodyPr/>
                    <a:lstStyle/>
                    <a:p>
                      <a:pPr algn="ctr"/>
                      <a:r>
                        <a:rPr sz="1050" b="1">
                          <a:solidFill>
                            <a:srgbClr val="1E8E3E"/>
                          </a:solidFill>
                          <a:latin typeface="Calibri"/>
                        </a:rPr>
                        <a:t>OK</a:t>
                      </a:r>
                    </a:p>
                  </a:txBody>
                  <a:tcPr anchor="ctr" marL="45720" marR="45720" marT="9144" marB="9144">
                    <a:solidFill>
                      <a:srgbClr val="FFFFFF"/>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WEEKLY</a:t>
            </a:r>
          </a:p>
          <a:p>
            <a:r>
              <a:rPr sz="2600" b="1">
                <a:solidFill>
                  <a:srgbClr val="FFFFFF"/>
                </a:solidFill>
                <a:latin typeface="Calibri"/>
              </a:rPr>
              <a:t>13-week weekly cash — why the first tranche size matters</a:t>
            </a:r>
          </a:p>
        </p:txBody>
      </p:sp>
      <p:pic>
        <p:nvPicPr>
          <p:cNvPr id="5" name="Picture 4" descr="weekly.png"/>
          <p:cNvPicPr>
            <a:picLocks noChangeAspect="1"/>
          </p:cNvPicPr>
          <p:nvPr/>
        </p:nvPicPr>
        <p:blipFill>
          <a:blip r:embed="rId2"/>
          <a:stretch>
            <a:fillRect/>
          </a:stretch>
        </p:blipFill>
        <p:spPr>
          <a:xfrm>
            <a:off x="457200" y="1325880"/>
            <a:ext cx="7863840" cy="3793146"/>
          </a:xfrm>
          <a:prstGeom prst="rect">
            <a:avLst/>
          </a:prstGeom>
        </p:spPr>
      </p:pic>
      <p:sp>
        <p:nvSpPr>
          <p:cNvPr id="6" name="TextBox 5"/>
          <p:cNvSpPr txBox="1"/>
          <p:nvPr/>
        </p:nvSpPr>
        <p:spPr>
          <a:xfrm>
            <a:off x="8503920" y="1554480"/>
            <a:ext cx="3383280" cy="4846320"/>
          </a:xfrm>
          <a:prstGeom prst="rect">
            <a:avLst/>
          </a:prstGeom>
          <a:noFill/>
        </p:spPr>
        <p:txBody>
          <a:bodyPr wrap="square">
            <a:spAutoFit/>
          </a:bodyPr>
          <a:lstStyle/>
          <a:p>
            <a:pPr>
              <a:spcAft>
                <a:spcPts val="600"/>
              </a:spcAft>
            </a:pPr>
            <a:r>
              <a:rPr sz="1200" b="1">
                <a:solidFill>
                  <a:srgbClr val="1E8E3E"/>
                </a:solidFill>
                <a:latin typeface="Calibri"/>
              </a:rPr>
              <a:t>▪ Lump sum: setup in W1 leaves ~SAR 1.84M; calm through the quarter (ends ~SAR 1.47M).</a:t>
            </a:r>
          </a:p>
          <a:p>
            <a:pPr>
              <a:spcAft>
                <a:spcPts val="600"/>
              </a:spcAft>
            </a:pPr>
            <a:r>
              <a:rPr sz="1200" b="1">
                <a:solidFill>
                  <a:srgbClr val="C0392B"/>
                </a:solidFill>
                <a:latin typeface="Calibri"/>
              </a:rPr>
              <a:t>▪ A too-small first tranche (e.g. SAR 200k) breaches the floor in Week 1 (ends SAR 41,916).</a:t>
            </a:r>
          </a:p>
          <a:p>
            <a:pPr>
              <a:spcAft>
                <a:spcPts val="600"/>
              </a:spcAft>
            </a:pPr>
            <a:r>
              <a:rPr sz="1200" b="1">
                <a:solidFill>
                  <a:srgbClr val="B8860B"/>
                </a:solidFill>
                <a:latin typeface="Calibri"/>
              </a:rPr>
              <a:t>▪ First tranche must clear setup + 1 month payroll + floor ≈ SAR 377,193.</a:t>
            </a:r>
          </a:p>
          <a:p>
            <a:pPr>
              <a:spcAft>
                <a:spcPts val="600"/>
              </a:spcAft>
            </a:pPr>
            <a:r>
              <a:rPr sz="1200" b="0">
                <a:solidFill>
                  <a:srgbClr val="0F2A4A"/>
                </a:solidFill>
                <a:latin typeface="Calibri"/>
              </a:rPr>
              <a:t>▪ This is the near-term liquidity early-warning the weekly view exists to give.</a:t>
            </a:r>
          </a:p>
        </p:txBody>
      </p:sp>
      <p:sp>
        <p:nvSpPr>
          <p:cNvPr id="7" name="TextBox 6"/>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8" name="TextBox 7"/>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STRESS TEST</a:t>
            </a:r>
          </a:p>
          <a:p>
            <a:r>
              <a:rPr sz="2600" b="1">
                <a:solidFill>
                  <a:srgbClr val="FFFFFF"/>
                </a:solidFill>
                <a:latin typeface="Calibri"/>
              </a:rPr>
              <a:t>Inflow timing: the single biggest risk</a:t>
            </a:r>
          </a:p>
        </p:txBody>
      </p:sp>
      <p:pic>
        <p:nvPicPr>
          <p:cNvPr id="5" name="Picture 4" descr="tranche.png"/>
          <p:cNvPicPr>
            <a:picLocks noChangeAspect="1"/>
          </p:cNvPicPr>
          <p:nvPr/>
        </p:nvPicPr>
        <p:blipFill>
          <a:blip r:embed="rId2"/>
          <a:stretch>
            <a:fillRect/>
          </a:stretch>
        </p:blipFill>
        <p:spPr>
          <a:xfrm>
            <a:off x="457200" y="1325880"/>
            <a:ext cx="7863840" cy="3793146"/>
          </a:xfrm>
          <a:prstGeom prst="rect">
            <a:avLst/>
          </a:prstGeom>
        </p:spPr>
      </p:pic>
      <p:sp>
        <p:nvSpPr>
          <p:cNvPr id="6" name="TextBox 5"/>
          <p:cNvSpPr txBox="1"/>
          <p:nvPr/>
        </p:nvSpPr>
        <p:spPr>
          <a:xfrm>
            <a:off x="8503920" y="1554480"/>
            <a:ext cx="3383280" cy="4846320"/>
          </a:xfrm>
          <a:prstGeom prst="rect">
            <a:avLst/>
          </a:prstGeom>
          <a:noFill/>
        </p:spPr>
        <p:txBody>
          <a:bodyPr wrap="square">
            <a:spAutoFit/>
          </a:bodyPr>
          <a:lstStyle/>
          <a:p>
            <a:pPr>
              <a:spcAft>
                <a:spcPts val="600"/>
              </a:spcAft>
            </a:pPr>
            <a:r>
              <a:rPr sz="1200" b="1">
                <a:solidFill>
                  <a:srgbClr val="0F2A4A"/>
                </a:solidFill>
                <a:latin typeface="Calibri"/>
              </a:rPr>
              <a:t>▪ Start cash is zero, so survival depends entirely on WHEN the 2.0M arrives.</a:t>
            </a:r>
          </a:p>
          <a:p>
            <a:pPr>
              <a:spcAft>
                <a:spcPts val="600"/>
              </a:spcAft>
            </a:pPr>
            <a:r>
              <a:rPr sz="1200" b="1">
                <a:solidFill>
                  <a:srgbClr val="B8860B"/>
                </a:solidFill>
                <a:latin typeface="Calibri"/>
              </a:rPr>
              <a:t>▪ Minimum first tranche ≈ SAR 377,193 (setup + 1 month payroll + floor).</a:t>
            </a:r>
          </a:p>
          <a:p>
            <a:pPr>
              <a:spcAft>
                <a:spcPts val="600"/>
              </a:spcAft>
            </a:pPr>
            <a:r>
              <a:rPr sz="1200" b="0">
                <a:solidFill>
                  <a:srgbClr val="C0392B"/>
                </a:solidFill>
                <a:latin typeface="Calibri"/>
              </a:rPr>
              <a:t>▪ A too-small first tranche breaches the floor in Week 1 (see weekly chart).</a:t>
            </a:r>
          </a:p>
          <a:p>
            <a:pPr>
              <a:spcAft>
                <a:spcPts val="600"/>
              </a:spcAft>
            </a:pPr>
            <a:r>
              <a:rPr sz="1200" b="0">
                <a:solidFill>
                  <a:srgbClr val="22262A"/>
                </a:solidFill>
                <a:latin typeface="Calibri"/>
              </a:rPr>
              <a:t>▪ With a 50/50 split, tranche 2 must land by ~Month 6.</a:t>
            </a:r>
          </a:p>
          <a:p>
            <a:pPr>
              <a:spcAft>
                <a:spcPts val="600"/>
              </a:spcAft>
            </a:pPr>
            <a:r>
              <a:rPr sz="1200" b="1">
                <a:solidFill>
                  <a:srgbClr val="C0392B"/>
                </a:solidFill>
                <a:latin typeface="Calibri"/>
              </a:rPr>
              <a:t>▪ If tranche 2 slips one month to M7, cash nearly hits zero (breach at Month 6).</a:t>
            </a:r>
          </a:p>
          <a:p>
            <a:pPr>
              <a:spcAft>
                <a:spcPts val="600"/>
              </a:spcAft>
            </a:pPr>
            <a:r>
              <a:rPr sz="1200" b="1">
                <a:solidFill>
                  <a:srgbClr val="1E8E3E"/>
                </a:solidFill>
                <a:latin typeface="Calibri"/>
              </a:rPr>
              <a:t>▪ Mitigation: lump sum, or a large front-loaded first tranche with wide spacing.</a:t>
            </a:r>
          </a:p>
        </p:txBody>
      </p:sp>
      <p:sp>
        <p:nvSpPr>
          <p:cNvPr id="7" name="TextBox 6"/>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8" name="TextBox 7"/>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SCENARIO (FLAGGED)</a:t>
            </a:r>
          </a:p>
          <a:p>
            <a:r>
              <a:rPr sz="2600" b="1">
                <a:solidFill>
                  <a:srgbClr val="FFFFFF"/>
                </a:solidFill>
                <a:latin typeface="Calibri"/>
              </a:rPr>
              <a:t>Illustrative upside — what revenue does</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600"/>
              </a:spcAft>
            </a:pPr>
            <a:r>
              <a:rPr sz="1300" b="1">
                <a:solidFill>
                  <a:srgbClr val="B8860B"/>
                </a:solidFill>
                <a:latin typeface="Calibri"/>
              </a:rPr>
              <a:t>▪ ALL figures here are illustrative assumptions from the repo's pricing ranges — nothing is signed.</a:t>
            </a:r>
          </a:p>
          <a:p>
            <a:pPr>
              <a:spcAft>
                <a:spcPts val="600"/>
              </a:spcAft>
            </a:pPr>
            <a:r>
              <a:rPr sz="1300" b="0">
                <a:solidFill>
                  <a:srgbClr val="22262A"/>
                </a:solidFill>
                <a:latin typeface="Calibri"/>
              </a:rPr>
              <a:t>▪ Assumed motion: the Inside Sales Executive (hired M2) + founders land mid-market logos in H2 after ramp + sales cycle.</a:t>
            </a:r>
          </a:p>
          <a:p>
            <a:pPr>
              <a:spcAft>
                <a:spcPts val="600"/>
              </a:spcAft>
            </a:pPr>
            <a:r>
              <a:rPr sz="1300" b="0">
                <a:solidFill>
                  <a:srgbClr val="22262A"/>
                </a:solidFill>
                <a:latin typeface="Calibri"/>
              </a:rPr>
              <a:t>▪ Deal economics (illustrative): SAR ~110,000 annual contract, paid up front (GCC norm) + ~SAR 22,000 implementation = ~SAR 132,000 cash per logo.</a:t>
            </a:r>
          </a:p>
          <a:p>
            <a:pPr>
              <a:spcAft>
                <a:spcPts val="600"/>
              </a:spcAft>
            </a:pPr>
            <a:r>
              <a:rPr sz="1300" b="0">
                <a:solidFill>
                  <a:srgbClr val="22262A"/>
                </a:solidFill>
                <a:latin typeface="Calibri"/>
              </a:rPr>
              <a:t>▪ Timing: one logo each in Months 6, 8, 10, 12 (≈ the repo's 3-5 paid design-partner seed milestone).</a:t>
            </a:r>
          </a:p>
          <a:p>
            <a:pPr>
              <a:spcAft>
                <a:spcPts val="600"/>
              </a:spcAft>
            </a:pPr>
            <a:r>
              <a:rPr sz="1300" b="1">
                <a:solidFill>
                  <a:srgbClr val="1E8E3E"/>
                </a:solidFill>
                <a:latin typeface="Calibri"/>
              </a:rPr>
              <a:t>▪ Cash impact: +SAR 528,000 across H2 → year-end cash ~SAR 614,410 (vs 86,410 base).</a:t>
            </a:r>
          </a:p>
          <a:p>
            <a:pPr>
              <a:spcAft>
                <a:spcPts val="600"/>
              </a:spcAft>
            </a:pPr>
            <a:r>
              <a:rPr sz="1300" b="0">
                <a:solidFill>
                  <a:srgbClr val="1E8E3E"/>
                </a:solidFill>
                <a:latin typeface="Calibri"/>
              </a:rPr>
              <a:t>▪ Year-end ARR ≈ SAR 440,000 (4 logos) — entering seed-ready territory.</a:t>
            </a:r>
          </a:p>
          <a:p>
            <a:pPr>
              <a:spcAft>
                <a:spcPts val="600"/>
              </a:spcAft>
            </a:pPr>
            <a:r>
              <a:rPr sz="1300" b="1">
                <a:solidFill>
                  <a:srgbClr val="5A636E"/>
                </a:solidFill>
                <a:latin typeface="Calibri"/>
              </a:rPr>
              <a:t>▪ Reality check: enterprise cycles are long; treat these dates as optimistic and pressure-test pilot→paid conversion.</a:t>
            </a:r>
          </a:p>
        </p:txBody>
      </p:sp>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WHAT'S MISSING</a:t>
            </a:r>
          </a:p>
          <a:p>
            <a:r>
              <a:rPr sz="2600" b="1">
                <a:solidFill>
                  <a:srgbClr val="FFFFFF"/>
                </a:solidFill>
                <a:latin typeface="Calibri"/>
              </a:rPr>
              <a:t>Gaps to close (ranked by impact)</a:t>
            </a:r>
          </a:p>
        </p:txBody>
      </p:sp>
      <p:graphicFrame>
        <p:nvGraphicFramePr>
          <p:cNvPr id="5" name="Table 4"/>
          <p:cNvGraphicFramePr>
            <a:graphicFrameLocks noGrp="1"/>
          </p:cNvGraphicFramePr>
          <p:nvPr/>
        </p:nvGraphicFramePr>
        <p:xfrm>
          <a:off x="457200" y="1325880"/>
          <a:ext cx="11274552" cy="4754880"/>
        </p:xfrm>
        <a:graphic>
          <a:graphicData uri="http://schemas.openxmlformats.org/drawingml/2006/table">
            <a:tbl>
              <a:tblPr firstRow="1" bandRow="1">
                <a:tableStyleId>{5C22544A-7EE6-4342-B048-85BDC9FD1C3A}</a:tableStyleId>
              </a:tblPr>
              <a:tblGrid>
                <a:gridCol w="548640"/>
                <a:gridCol w="3200400"/>
                <a:gridCol w="5852160"/>
                <a:gridCol w="1673352"/>
              </a:tblGrid>
              <a:tr h="594360">
                <a:tc>
                  <a:txBody>
                    <a:bodyPr/>
                    <a:lstStyle/>
                    <a:p>
                      <a:pPr algn="l"/>
                      <a:r>
                        <a:rPr sz="1150" b="1">
                          <a:solidFill>
                            <a:srgbClr val="FFFFFF"/>
                          </a:solidFill>
                          <a:latin typeface="Calibri"/>
                        </a:rPr>
                        <a:t>#</a:t>
                      </a:r>
                    </a:p>
                  </a:txBody>
                  <a:tcPr anchor="ctr">
                    <a:solidFill>
                      <a:srgbClr val="0F2A4A"/>
                    </a:solidFill>
                  </a:tcPr>
                </a:tc>
                <a:tc>
                  <a:txBody>
                    <a:bodyPr/>
                    <a:lstStyle/>
                    <a:p>
                      <a:pPr algn="ctr"/>
                      <a:r>
                        <a:rPr sz="1150" b="1">
                          <a:solidFill>
                            <a:srgbClr val="FFFFFF"/>
                          </a:solidFill>
                          <a:latin typeface="Calibri"/>
                        </a:rPr>
                        <a:t>Gap</a:t>
                      </a:r>
                    </a:p>
                  </a:txBody>
                  <a:tcPr anchor="ctr">
                    <a:solidFill>
                      <a:srgbClr val="0F2A4A"/>
                    </a:solidFill>
                  </a:tcPr>
                </a:tc>
                <a:tc>
                  <a:txBody>
                    <a:bodyPr/>
                    <a:lstStyle/>
                    <a:p>
                      <a:pPr algn="ctr"/>
                      <a:r>
                        <a:rPr sz="1150" b="1">
                          <a:solidFill>
                            <a:srgbClr val="FFFFFF"/>
                          </a:solidFill>
                          <a:latin typeface="Calibri"/>
                        </a:rPr>
                        <a:t>Why it matters</a:t>
                      </a:r>
                    </a:p>
                  </a:txBody>
                  <a:tcPr anchor="ctr">
                    <a:solidFill>
                      <a:srgbClr val="0F2A4A"/>
                    </a:solidFill>
                  </a:tcPr>
                </a:tc>
                <a:tc>
                  <a:txBody>
                    <a:bodyPr/>
                    <a:lstStyle/>
                    <a:p>
                      <a:pPr algn="ctr"/>
                      <a:r>
                        <a:rPr sz="1150" b="1">
                          <a:solidFill>
                            <a:srgbClr val="FFFFFF"/>
                          </a:solidFill>
                          <a:latin typeface="Calibri"/>
                        </a:rPr>
                        <a:t>Impact</a:t>
                      </a:r>
                    </a:p>
                  </a:txBody>
                  <a:tcPr anchor="ctr">
                    <a:solidFill>
                      <a:srgbClr val="0F2A4A"/>
                    </a:solidFill>
                  </a:tcPr>
                </a:tc>
              </a:tr>
              <a:tr h="594360">
                <a:tc>
                  <a:txBody>
                    <a:bodyPr/>
                    <a:lstStyle/>
                    <a:p>
                      <a:pPr algn="l"/>
                      <a:r>
                        <a:rPr sz="1150">
                          <a:solidFill>
                            <a:srgbClr val="22262A"/>
                          </a:solidFill>
                          <a:latin typeface="Calibri"/>
                        </a:rPr>
                        <a:t>1</a:t>
                      </a:r>
                    </a:p>
                  </a:txBody>
                  <a:tcPr anchor="ctr" marL="45720" marR="45720" marT="9144" marB="9144">
                    <a:solidFill>
                      <a:srgbClr val="FFFFFF"/>
                    </a:solidFill>
                  </a:tcPr>
                </a:tc>
                <a:tc>
                  <a:txBody>
                    <a:bodyPr/>
                    <a:lstStyle/>
                    <a:p>
                      <a:pPr algn="ctr"/>
                      <a:r>
                        <a:rPr sz="1150">
                          <a:solidFill>
                            <a:srgbClr val="22262A"/>
                          </a:solidFill>
                          <a:latin typeface="Calibri"/>
                        </a:rPr>
                        <a:t>Inflow timing of the 2.0M</a:t>
                      </a:r>
                    </a:p>
                  </a:txBody>
                  <a:tcPr anchor="ctr" marL="45720" marR="45720" marT="9144" marB="9144">
                    <a:solidFill>
                      <a:srgbClr val="FFFFFF"/>
                    </a:solidFill>
                  </a:tcPr>
                </a:tc>
                <a:tc>
                  <a:txBody>
                    <a:bodyPr/>
                    <a:lstStyle/>
                    <a:p>
                      <a:pPr algn="ctr"/>
                      <a:r>
                        <a:rPr sz="1150">
                          <a:solidFill>
                            <a:srgbClr val="22262A"/>
                          </a:solidFill>
                          <a:latin typeface="Calibri"/>
                        </a:rPr>
                        <a:t>Zero start cash → survival hinges on when money lands</a:t>
                      </a:r>
                    </a:p>
                  </a:txBody>
                  <a:tcPr anchor="ctr" marL="45720" marR="45720" marT="9144" marB="9144">
                    <a:solidFill>
                      <a:srgbClr val="FFFFFF"/>
                    </a:solidFill>
                  </a:tcPr>
                </a:tc>
                <a:tc>
                  <a:txBody>
                    <a:bodyPr/>
                    <a:lstStyle/>
                    <a:p>
                      <a:pPr algn="ctr"/>
                      <a:r>
                        <a:rPr sz="1150" b="1">
                          <a:solidFill>
                            <a:srgbClr val="1E8E3E"/>
                          </a:solidFill>
                          <a:latin typeface="Calibri"/>
                        </a:rPr>
                        <a:t>HIGH</a:t>
                      </a:r>
                    </a:p>
                  </a:txBody>
                  <a:tcPr anchor="ctr" marL="45720" marR="45720" marT="9144" marB="9144">
                    <a:solidFill>
                      <a:srgbClr val="FFFFFF"/>
                    </a:solidFill>
                  </a:tcPr>
                </a:tc>
              </a:tr>
              <a:tr h="594360">
                <a:tc>
                  <a:txBody>
                    <a:bodyPr/>
                    <a:lstStyle/>
                    <a:p>
                      <a:pPr algn="l"/>
                      <a:r>
                        <a:rPr sz="1150">
                          <a:solidFill>
                            <a:srgbClr val="22262A"/>
                          </a:solidFill>
                          <a:latin typeface="Calibri"/>
                        </a:rPr>
                        <a:t>2</a:t>
                      </a:r>
                    </a:p>
                  </a:txBody>
                  <a:tcPr anchor="ctr" marL="45720" marR="45720" marT="9144" marB="9144">
                    <a:solidFill>
                      <a:srgbClr val="EEF2F6"/>
                    </a:solidFill>
                  </a:tcPr>
                </a:tc>
                <a:tc>
                  <a:txBody>
                    <a:bodyPr/>
                    <a:lstStyle/>
                    <a:p>
                      <a:pPr algn="ctr"/>
                      <a:r>
                        <a:rPr sz="1150">
                          <a:solidFill>
                            <a:srgbClr val="22262A"/>
                          </a:solidFill>
                          <a:latin typeface="Calibri"/>
                        </a:rPr>
                        <a:t>Revenue (none decided)</a:t>
                      </a:r>
                    </a:p>
                  </a:txBody>
                  <a:tcPr anchor="ctr" marL="45720" marR="45720" marT="9144" marB="9144">
                    <a:solidFill>
                      <a:srgbClr val="EEF2F6"/>
                    </a:solidFill>
                  </a:tcPr>
                </a:tc>
                <a:tc>
                  <a:txBody>
                    <a:bodyPr/>
                    <a:lstStyle/>
                    <a:p>
                      <a:pPr algn="ctr"/>
                      <a:r>
                        <a:rPr sz="1150">
                          <a:solidFill>
                            <a:srgbClr val="22262A"/>
                          </a:solidFill>
                          <a:latin typeface="Calibri"/>
                        </a:rPr>
                        <a:t>Sets the real cash-out month; flips default-dead → alive</a:t>
                      </a:r>
                    </a:p>
                  </a:txBody>
                  <a:tcPr anchor="ctr" marL="45720" marR="45720" marT="9144" marB="9144">
                    <a:solidFill>
                      <a:srgbClr val="EEF2F6"/>
                    </a:solidFill>
                  </a:tcPr>
                </a:tc>
                <a:tc>
                  <a:txBody>
                    <a:bodyPr/>
                    <a:lstStyle/>
                    <a:p>
                      <a:pPr algn="ctr"/>
                      <a:r>
                        <a:rPr sz="1150" b="1">
                          <a:solidFill>
                            <a:srgbClr val="1E8E3E"/>
                          </a:solidFill>
                          <a:latin typeface="Calibri"/>
                        </a:rPr>
                        <a:t>HIGH</a:t>
                      </a:r>
                    </a:p>
                  </a:txBody>
                  <a:tcPr anchor="ctr" marL="45720" marR="45720" marT="9144" marB="9144">
                    <a:solidFill>
                      <a:srgbClr val="EEF2F6"/>
                    </a:solidFill>
                  </a:tcPr>
                </a:tc>
              </a:tr>
              <a:tr h="594360">
                <a:tc>
                  <a:txBody>
                    <a:bodyPr/>
                    <a:lstStyle/>
                    <a:p>
                      <a:pPr algn="l"/>
                      <a:r>
                        <a:rPr sz="1150">
                          <a:solidFill>
                            <a:srgbClr val="22262A"/>
                          </a:solidFill>
                          <a:latin typeface="Calibri"/>
                        </a:rPr>
                        <a:t>3</a:t>
                      </a:r>
                    </a:p>
                  </a:txBody>
                  <a:tcPr anchor="ctr" marL="45720" marR="45720" marT="9144" marB="9144">
                    <a:solidFill>
                      <a:srgbClr val="FFFFFF"/>
                    </a:solidFill>
                  </a:tcPr>
                </a:tc>
                <a:tc>
                  <a:txBody>
                    <a:bodyPr/>
                    <a:lstStyle/>
                    <a:p>
                      <a:pPr algn="ctr"/>
                      <a:r>
                        <a:rPr sz="1150">
                          <a:solidFill>
                            <a:srgbClr val="22262A"/>
                          </a:solidFill>
                          <a:latin typeface="Calibri"/>
                        </a:rPr>
                        <a:t>Taxes &amp; timing (Zakat/VAT/WHT)</a:t>
                      </a:r>
                    </a:p>
                  </a:txBody>
                  <a:tcPr anchor="ctr" marL="45720" marR="45720" marT="9144" marB="9144">
                    <a:solidFill>
                      <a:srgbClr val="FFFFFF"/>
                    </a:solidFill>
                  </a:tcPr>
                </a:tc>
                <a:tc>
                  <a:txBody>
                    <a:bodyPr/>
                    <a:lstStyle/>
                    <a:p>
                      <a:pPr algn="ctr"/>
                      <a:r>
                        <a:rPr sz="1150">
                          <a:solidFill>
                            <a:srgbClr val="22262A"/>
                          </a:solidFill>
                          <a:latin typeface="Calibri"/>
                        </a:rPr>
                        <a:t>Real cash outflows; need ownership %, VAT status, vendors</a:t>
                      </a:r>
                    </a:p>
                  </a:txBody>
                  <a:tcPr anchor="ctr" marL="45720" marR="45720" marT="9144" marB="9144">
                    <a:solidFill>
                      <a:srgbClr val="FFFFFF"/>
                    </a:solidFill>
                  </a:tcPr>
                </a:tc>
                <a:tc>
                  <a:txBody>
                    <a:bodyPr/>
                    <a:lstStyle/>
                    <a:p>
                      <a:pPr algn="ctr"/>
                      <a:r>
                        <a:rPr sz="1150" b="1">
                          <a:solidFill>
                            <a:srgbClr val="1E8E3E"/>
                          </a:solidFill>
                          <a:latin typeface="Calibri"/>
                        </a:rPr>
                        <a:t>MED-HIGH</a:t>
                      </a:r>
                    </a:p>
                  </a:txBody>
                  <a:tcPr anchor="ctr" marL="45720" marR="45720" marT="9144" marB="9144">
                    <a:solidFill>
                      <a:srgbClr val="FFFFFF"/>
                    </a:solidFill>
                  </a:tcPr>
                </a:tc>
              </a:tr>
              <a:tr h="594360">
                <a:tc>
                  <a:txBody>
                    <a:bodyPr/>
                    <a:lstStyle/>
                    <a:p>
                      <a:pPr algn="l"/>
                      <a:r>
                        <a:rPr sz="1150">
                          <a:solidFill>
                            <a:srgbClr val="22262A"/>
                          </a:solidFill>
                          <a:latin typeface="Calibri"/>
                        </a:rPr>
                        <a:t>4</a:t>
                      </a:r>
                    </a:p>
                  </a:txBody>
                  <a:tcPr anchor="ctr" marL="45720" marR="45720" marT="9144" marB="9144">
                    <a:solidFill>
                      <a:srgbClr val="EEF2F6"/>
                    </a:solidFill>
                  </a:tcPr>
                </a:tc>
                <a:tc>
                  <a:txBody>
                    <a:bodyPr/>
                    <a:lstStyle/>
                    <a:p>
                      <a:pPr algn="ctr"/>
                      <a:r>
                        <a:rPr sz="1150">
                          <a:solidFill>
                            <a:srgbClr val="22262A"/>
                          </a:solidFill>
                          <a:latin typeface="Calibri"/>
                        </a:rPr>
                        <a:t>Pillar 3 burden inclusion</a:t>
                      </a:r>
                    </a:p>
                  </a:txBody>
                  <a:tcPr anchor="ctr" marL="45720" marR="45720" marT="9144" marB="9144">
                    <a:solidFill>
                      <a:srgbClr val="EEF2F6"/>
                    </a:solidFill>
                  </a:tcPr>
                </a:tc>
                <a:tc>
                  <a:txBody>
                    <a:bodyPr/>
                    <a:lstStyle/>
                    <a:p>
                      <a:pPr algn="ctr"/>
                      <a:r>
                        <a:rPr sz="1150">
                          <a:solidFill>
                            <a:srgbClr val="22262A"/>
                          </a:solidFill>
                          <a:latin typeface="Calibri"/>
                        </a:rPr>
                        <a:t>Do role budgets include GOSI/levies, or are they on top?</a:t>
                      </a:r>
                    </a:p>
                  </a:txBody>
                  <a:tcPr anchor="ctr" marL="45720" marR="45720" marT="9144" marB="9144">
                    <a:solidFill>
                      <a:srgbClr val="EEF2F6"/>
                    </a:solidFill>
                  </a:tcPr>
                </a:tc>
                <a:tc>
                  <a:txBody>
                    <a:bodyPr/>
                    <a:lstStyle/>
                    <a:p>
                      <a:pPr algn="ctr"/>
                      <a:r>
                        <a:rPr sz="1150" b="1">
                          <a:solidFill>
                            <a:srgbClr val="1E8E3E"/>
                          </a:solidFill>
                          <a:latin typeface="Calibri"/>
                        </a:rPr>
                        <a:t>MEDIUM</a:t>
                      </a:r>
                    </a:p>
                  </a:txBody>
                  <a:tcPr anchor="ctr" marL="45720" marR="45720" marT="9144" marB="9144">
                    <a:solidFill>
                      <a:srgbClr val="EEF2F6"/>
                    </a:solidFill>
                  </a:tcPr>
                </a:tc>
              </a:tr>
              <a:tr h="594360">
                <a:tc>
                  <a:txBody>
                    <a:bodyPr/>
                    <a:lstStyle/>
                    <a:p>
                      <a:pPr algn="l"/>
                      <a:r>
                        <a:rPr sz="1150">
                          <a:solidFill>
                            <a:srgbClr val="22262A"/>
                          </a:solidFill>
                          <a:latin typeface="Calibri"/>
                        </a:rPr>
                        <a:t>5</a:t>
                      </a:r>
                    </a:p>
                  </a:txBody>
                  <a:tcPr anchor="ctr" marL="45720" marR="45720" marT="9144" marB="9144">
                    <a:solidFill>
                      <a:srgbClr val="FFFFFF"/>
                    </a:solidFill>
                  </a:tcPr>
                </a:tc>
                <a:tc>
                  <a:txBody>
                    <a:bodyPr/>
                    <a:lstStyle/>
                    <a:p>
                      <a:pPr algn="ctr"/>
                      <a:r>
                        <a:rPr sz="1150">
                          <a:solidFill>
                            <a:srgbClr val="22262A"/>
                          </a:solidFill>
                          <a:latin typeface="Calibri"/>
                        </a:rPr>
                        <a:t>Missing GTM / contingency budget</a:t>
                      </a:r>
                    </a:p>
                  </a:txBody>
                  <a:tcPr anchor="ctr" marL="45720" marR="45720" marT="9144" marB="9144">
                    <a:solidFill>
                      <a:srgbClr val="FFFFFF"/>
                    </a:solidFill>
                  </a:tcPr>
                </a:tc>
                <a:tc>
                  <a:txBody>
                    <a:bodyPr/>
                    <a:lstStyle/>
                    <a:p>
                      <a:pPr algn="ctr"/>
                      <a:r>
                        <a:rPr sz="1150">
                          <a:solidFill>
                            <a:srgbClr val="22262A"/>
                          </a:solidFill>
                          <a:latin typeface="Calibri"/>
                        </a:rPr>
                        <a:t>No marketing/travel line; 86k is the only cushion</a:t>
                      </a:r>
                    </a:p>
                  </a:txBody>
                  <a:tcPr anchor="ctr" marL="45720" marR="45720" marT="9144" marB="9144">
                    <a:solidFill>
                      <a:srgbClr val="FFFFFF"/>
                    </a:solidFill>
                  </a:tcPr>
                </a:tc>
                <a:tc>
                  <a:txBody>
                    <a:bodyPr/>
                    <a:lstStyle/>
                    <a:p>
                      <a:pPr algn="ctr"/>
                      <a:r>
                        <a:rPr sz="1150" b="1">
                          <a:solidFill>
                            <a:srgbClr val="1E8E3E"/>
                          </a:solidFill>
                          <a:latin typeface="Calibri"/>
                        </a:rPr>
                        <a:t>MEDIUM</a:t>
                      </a:r>
                    </a:p>
                  </a:txBody>
                  <a:tcPr anchor="ctr" marL="45720" marR="45720" marT="9144" marB="9144">
                    <a:solidFill>
                      <a:srgbClr val="FFFFFF"/>
                    </a:solidFill>
                  </a:tcPr>
                </a:tc>
              </a:tr>
              <a:tr h="594360">
                <a:tc>
                  <a:txBody>
                    <a:bodyPr/>
                    <a:lstStyle/>
                    <a:p>
                      <a:pPr algn="l"/>
                      <a:r>
                        <a:rPr sz="1150">
                          <a:solidFill>
                            <a:srgbClr val="22262A"/>
                          </a:solidFill>
                          <a:latin typeface="Calibri"/>
                        </a:rPr>
                        <a:t>6</a:t>
                      </a:r>
                    </a:p>
                  </a:txBody>
                  <a:tcPr anchor="ctr" marL="45720" marR="45720" marT="9144" marB="9144">
                    <a:solidFill>
                      <a:srgbClr val="EEF2F6"/>
                    </a:solidFill>
                  </a:tcPr>
                </a:tc>
                <a:tc>
                  <a:txBody>
                    <a:bodyPr/>
                    <a:lstStyle/>
                    <a:p>
                      <a:pPr algn="ctr"/>
                      <a:r>
                        <a:rPr sz="1150">
                          <a:solidFill>
                            <a:srgbClr val="22262A"/>
                          </a:solidFill>
                          <a:latin typeface="Calibri"/>
                        </a:rPr>
                        <a:t>Exact pay dates / week timing</a:t>
                      </a:r>
                    </a:p>
                  </a:txBody>
                  <a:tcPr anchor="ctr" marL="45720" marR="45720" marT="9144" marB="9144">
                    <a:solidFill>
                      <a:srgbClr val="EEF2F6"/>
                    </a:solidFill>
                  </a:tcPr>
                </a:tc>
                <a:tc>
                  <a:txBody>
                    <a:bodyPr/>
                    <a:lstStyle/>
                    <a:p>
                      <a:pPr algn="ctr"/>
                      <a:r>
                        <a:rPr sz="1150">
                          <a:solidFill>
                            <a:srgbClr val="22262A"/>
                          </a:solidFill>
                          <a:latin typeface="Calibri"/>
                        </a:rPr>
                        <a:t>Refines the weekly view (currently month-end default)</a:t>
                      </a:r>
                    </a:p>
                  </a:txBody>
                  <a:tcPr anchor="ctr" marL="45720" marR="45720" marT="9144" marB="9144">
                    <a:solidFill>
                      <a:srgbClr val="EEF2F6"/>
                    </a:solidFill>
                  </a:tcPr>
                </a:tc>
                <a:tc>
                  <a:txBody>
                    <a:bodyPr/>
                    <a:lstStyle/>
                    <a:p>
                      <a:pPr algn="ctr"/>
                      <a:r>
                        <a:rPr sz="1150" b="1">
                          <a:solidFill>
                            <a:srgbClr val="1E8E3E"/>
                          </a:solidFill>
                          <a:latin typeface="Calibri"/>
                        </a:rPr>
                        <a:t>LOW</a:t>
                      </a:r>
                    </a:p>
                  </a:txBody>
                  <a:tcPr anchor="ctr" marL="45720" marR="45720" marT="9144" marB="9144">
                    <a:solidFill>
                      <a:srgbClr val="EEF2F6"/>
                    </a:solidFill>
                  </a:tcPr>
                </a:tc>
              </a:tr>
              <a:tr h="594360">
                <a:tc>
                  <a:txBody>
                    <a:bodyPr/>
                    <a:lstStyle/>
                    <a:p>
                      <a:pPr algn="l"/>
                      <a:r>
                        <a:rPr sz="1150">
                          <a:solidFill>
                            <a:srgbClr val="22262A"/>
                          </a:solidFill>
                          <a:latin typeface="Calibri"/>
                        </a:rPr>
                        <a:t>7</a:t>
                      </a:r>
                    </a:p>
                  </a:txBody>
                  <a:tcPr anchor="ctr" marL="45720" marR="45720" marT="9144" marB="9144">
                    <a:solidFill>
                      <a:srgbClr val="FFFFFF"/>
                    </a:solidFill>
                  </a:tcPr>
                </a:tc>
                <a:tc>
                  <a:txBody>
                    <a:bodyPr/>
                    <a:lstStyle/>
                    <a:p>
                      <a:pPr algn="ctr"/>
                      <a:r>
                        <a:rPr sz="1150">
                          <a:solidFill>
                            <a:srgbClr val="22262A"/>
                          </a:solidFill>
                          <a:latin typeface="Calibri"/>
                        </a:rPr>
                        <a:t>715k vs 720k salary; Saudi/expat split</a:t>
                      </a:r>
                    </a:p>
                  </a:txBody>
                  <a:tcPr anchor="ctr" marL="45720" marR="45720" marT="9144" marB="9144">
                    <a:solidFill>
                      <a:srgbClr val="FFFFFF"/>
                    </a:solidFill>
                  </a:tcPr>
                </a:tc>
                <a:tc>
                  <a:txBody>
                    <a:bodyPr/>
                    <a:lstStyle/>
                    <a:p>
                      <a:pPr algn="ctr"/>
                      <a:r>
                        <a:rPr sz="1150">
                          <a:solidFill>
                            <a:srgbClr val="22262A"/>
                          </a:solidFill>
                          <a:latin typeface="Calibri"/>
                        </a:rPr>
                        <a:t>Minor reconciliations</a:t>
                      </a:r>
                    </a:p>
                  </a:txBody>
                  <a:tcPr anchor="ctr" marL="45720" marR="45720" marT="9144" marB="9144">
                    <a:solidFill>
                      <a:srgbClr val="FFFFFF"/>
                    </a:solidFill>
                  </a:tcPr>
                </a:tc>
                <a:tc>
                  <a:txBody>
                    <a:bodyPr/>
                    <a:lstStyle/>
                    <a:p>
                      <a:pPr algn="ctr"/>
                      <a:r>
                        <a:rPr sz="1150" b="1">
                          <a:solidFill>
                            <a:srgbClr val="1E8E3E"/>
                          </a:solidFill>
                          <a:latin typeface="Calibri"/>
                        </a:rPr>
                        <a:t>LOW</a:t>
                      </a:r>
                    </a:p>
                  </a:txBody>
                  <a:tcPr anchor="ctr" marL="45720" marR="45720" marT="9144" marB="9144">
                    <a:solidFill>
                      <a:srgbClr val="FFFFFF"/>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WHAT TO DO</a:t>
            </a:r>
          </a:p>
          <a:p>
            <a:r>
              <a:rPr sz="2600" b="1">
                <a:solidFill>
                  <a:srgbClr val="FFFFFF"/>
                </a:solidFill>
                <a:latin typeface="Calibri"/>
              </a:rPr>
              <a:t>Recommendations &amp; decision gates</a:t>
            </a:r>
          </a:p>
        </p:txBody>
      </p:sp>
      <p:sp>
        <p:nvSpPr>
          <p:cNvPr id="5" name="TextBox 4"/>
          <p:cNvSpPr txBox="1"/>
          <p:nvPr/>
        </p:nvSpPr>
        <p:spPr>
          <a:xfrm>
            <a:off x="548640" y="1371600"/>
            <a:ext cx="11064240" cy="4846320"/>
          </a:xfrm>
          <a:prstGeom prst="rect">
            <a:avLst/>
          </a:prstGeom>
          <a:noFill/>
        </p:spPr>
        <p:txBody>
          <a:bodyPr wrap="square">
            <a:spAutoFit/>
          </a:bodyPr>
          <a:lstStyle/>
          <a:p>
            <a:pPr>
              <a:spcAft>
                <a:spcPts val="600"/>
              </a:spcAft>
            </a:pPr>
            <a:r>
              <a:rPr sz="1400" b="1">
                <a:solidFill>
                  <a:srgbClr val="0F2A4A"/>
                </a:solidFill>
                <a:latin typeface="Calibri"/>
              </a:rPr>
              <a:t>▪ CAPITAL: take the 2.0M as a lump sum or a large front-loaded first tranche (≥ ~SAR 377k); avoid thin/late tranches.</a:t>
            </a:r>
          </a:p>
          <a:p>
            <a:pPr>
              <a:spcAft>
                <a:spcPts val="600"/>
              </a:spcAft>
            </a:pPr>
            <a:r>
              <a:rPr sz="1400" b="0">
                <a:solidFill>
                  <a:srgbClr val="22262A"/>
                </a:solidFill>
                <a:latin typeface="Calibri"/>
              </a:rPr>
              <a:t>▪ RUNWAY: plan to the floor, not to zero — at current burn the 150k floor hits around Month 11-12 with no revenue.</a:t>
            </a:r>
          </a:p>
          <a:p>
            <a:pPr>
              <a:spcAft>
                <a:spcPts val="600"/>
              </a:spcAft>
            </a:pPr>
            <a:r>
              <a:rPr sz="1400" b="1">
                <a:solidFill>
                  <a:srgbClr val="1E8E3E"/>
                </a:solidFill>
                <a:latin typeface="Calibri"/>
              </a:rPr>
              <a:t>▪ REVENUE: make H2 paid logos the gating milestone; even 3-5 mid-market deals change survival and unlock the seed round.</a:t>
            </a:r>
          </a:p>
          <a:p>
            <a:pPr>
              <a:spcAft>
                <a:spcPts val="600"/>
              </a:spcAft>
            </a:pPr>
            <a:r>
              <a:rPr sz="1400" b="0">
                <a:solidFill>
                  <a:srgbClr val="22262A"/>
                </a:solidFill>
                <a:latin typeface="Calibri"/>
              </a:rPr>
              <a:t>▪ BUDGET: itemize the missing lines (taxes, GTM, contingency) and decide if GTM comes from this raise or the next.</a:t>
            </a:r>
          </a:p>
          <a:p>
            <a:pPr>
              <a:spcAft>
                <a:spcPts val="600"/>
              </a:spcAft>
            </a:pPr>
            <a:r>
              <a:rPr sz="1400" b="1">
                <a:solidFill>
                  <a:srgbClr val="B8860B"/>
                </a:solidFill>
                <a:latin typeface="Calibri"/>
              </a:rPr>
              <a:t>▪ RAISE PLAN: this round funds ~12 months with no cushion → start the seed raise by ~Month 6-7 (MENA processes run 6-9 months).</a:t>
            </a:r>
          </a:p>
          <a:p>
            <a:pPr>
              <a:spcAft>
                <a:spcPts val="600"/>
              </a:spcAft>
            </a:pPr>
            <a:r>
              <a:rPr sz="1400" b="0">
                <a:solidFill>
                  <a:srgbClr val="22262A"/>
                </a:solidFill>
                <a:latin typeface="Calibri"/>
              </a:rPr>
              <a:t>▪ VERIFY: confirm ownership split (Zakat vs CIT), VAT registration, and WHT on foreign cloud/SaaS before filing.</a:t>
            </a:r>
          </a:p>
          <a:p>
            <a:pPr>
              <a:spcAft>
                <a:spcPts val="600"/>
              </a:spcAft>
            </a:pPr>
            <a:r>
              <a:rPr sz="1400" b="0">
                <a:solidFill>
                  <a:srgbClr val="22262A"/>
                </a:solidFill>
                <a:latin typeface="Calibri"/>
              </a:rPr>
              <a:t>▪ GOVERNANCE: review cash weekly for the first 6 months; re-run this model monthly against actuals.</a:t>
            </a:r>
          </a:p>
        </p:txBody>
      </p:sp>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89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338560" cy="868680"/>
          </a:xfrm>
          <a:prstGeom prst="rect">
            <a:avLst/>
          </a:prstGeom>
          <a:noFill/>
        </p:spPr>
        <p:txBody>
          <a:bodyPr wrap="square">
            <a:spAutoFit/>
          </a:bodyPr>
          <a:lstStyle/>
          <a:p>
            <a:pPr algn="l"/>
            <a:r>
              <a:rPr sz="1200" b="1" i="0">
                <a:solidFill>
                  <a:srgbClr val="189AB4"/>
                </a:solidFill>
                <a:latin typeface="Calibri"/>
              </a:rPr>
              <a:t>APPENDIX</a:t>
            </a:r>
          </a:p>
          <a:p>
            <a:r>
              <a:rPr sz="2600" b="1">
                <a:solidFill>
                  <a:srgbClr val="FFFFFF"/>
                </a:solidFill>
                <a:latin typeface="Calibri"/>
              </a:rPr>
              <a:t>Appendix — monthly detail (illustrative upside)</a:t>
            </a:r>
          </a:p>
        </p:txBody>
      </p:sp>
      <p:graphicFrame>
        <p:nvGraphicFramePr>
          <p:cNvPr id="5" name="Table 4"/>
          <p:cNvGraphicFramePr>
            <a:graphicFrameLocks noGrp="1"/>
          </p:cNvGraphicFramePr>
          <p:nvPr/>
        </p:nvGraphicFramePr>
        <p:xfrm>
          <a:off x="457200" y="1280160"/>
          <a:ext cx="11612880" cy="4754880"/>
        </p:xfrm>
        <a:graphic>
          <a:graphicData uri="http://schemas.openxmlformats.org/drawingml/2006/table">
            <a:tbl>
              <a:tblPr firstRow="1" bandRow="1">
                <a:tableStyleId>{5C22544A-7EE6-4342-B048-85BDC9FD1C3A}</a:tableStyleId>
              </a:tblPr>
              <a:tblGrid>
                <a:gridCol w="1371600"/>
                <a:gridCol w="2194560"/>
                <a:gridCol w="2194560"/>
                <a:gridCol w="2194560"/>
                <a:gridCol w="2194560"/>
                <a:gridCol w="1463040"/>
              </a:tblGrid>
              <a:tr h="365760">
                <a:tc>
                  <a:txBody>
                    <a:bodyPr/>
                    <a:lstStyle/>
                    <a:p>
                      <a:pPr algn="l"/>
                      <a:r>
                        <a:rPr sz="1100" b="1">
                          <a:solidFill>
                            <a:srgbClr val="FFFFFF"/>
                          </a:solidFill>
                          <a:latin typeface="Calibri"/>
                        </a:rPr>
                        <a:t>Month</a:t>
                      </a:r>
                    </a:p>
                  </a:txBody>
                  <a:tcPr anchor="ctr">
                    <a:solidFill>
                      <a:srgbClr val="0F2A4A"/>
                    </a:solidFill>
                  </a:tcPr>
                </a:tc>
                <a:tc>
                  <a:txBody>
                    <a:bodyPr/>
                    <a:lstStyle/>
                    <a:p>
                      <a:pPr algn="ctr"/>
                      <a:r>
                        <a:rPr sz="1100" b="1">
                          <a:solidFill>
                            <a:srgbClr val="FFFFFF"/>
                          </a:solidFill>
                          <a:latin typeface="Calibri"/>
                        </a:rPr>
                        <a:t>Revenue cash</a:t>
                      </a:r>
                    </a:p>
                  </a:txBody>
                  <a:tcPr anchor="ctr">
                    <a:solidFill>
                      <a:srgbClr val="0F2A4A"/>
                    </a:solidFill>
                  </a:tcPr>
                </a:tc>
                <a:tc>
                  <a:txBody>
                    <a:bodyPr/>
                    <a:lstStyle/>
                    <a:p>
                      <a:pPr algn="ctr"/>
                      <a:r>
                        <a:rPr sz="1100" b="1">
                          <a:solidFill>
                            <a:srgbClr val="FFFFFF"/>
                          </a:solidFill>
                          <a:latin typeface="Calibri"/>
                        </a:rPr>
                        <a:t>Total in</a:t>
                      </a:r>
                    </a:p>
                  </a:txBody>
                  <a:tcPr anchor="ctr">
                    <a:solidFill>
                      <a:srgbClr val="0F2A4A"/>
                    </a:solidFill>
                  </a:tcPr>
                </a:tc>
                <a:tc>
                  <a:txBody>
                    <a:bodyPr/>
                    <a:lstStyle/>
                    <a:p>
                      <a:pPr algn="ctr"/>
                      <a:r>
                        <a:rPr sz="1100" b="1">
                          <a:solidFill>
                            <a:srgbClr val="FFFFFF"/>
                          </a:solidFill>
                          <a:latin typeface="Calibri"/>
                        </a:rPr>
                        <a:t>Cash out</a:t>
                      </a:r>
                    </a:p>
                  </a:txBody>
                  <a:tcPr anchor="ctr">
                    <a:solidFill>
                      <a:srgbClr val="0F2A4A"/>
                    </a:solidFill>
                  </a:tcPr>
                </a:tc>
                <a:tc>
                  <a:txBody>
                    <a:bodyPr/>
                    <a:lstStyle/>
                    <a:p>
                      <a:pPr algn="ctr"/>
                      <a:r>
                        <a:rPr sz="1100" b="1">
                          <a:solidFill>
                            <a:srgbClr val="FFFFFF"/>
                          </a:solidFill>
                          <a:latin typeface="Calibri"/>
                        </a:rPr>
                        <a:t>Ending cash</a:t>
                      </a:r>
                    </a:p>
                  </a:txBody>
                  <a:tcPr anchor="ctr">
                    <a:solidFill>
                      <a:srgbClr val="0F2A4A"/>
                    </a:solidFill>
                  </a:tcPr>
                </a:tc>
                <a:tc>
                  <a:txBody>
                    <a:bodyPr/>
                    <a:lstStyle/>
                    <a:p>
                      <a:pPr algn="ctr"/>
                      <a:r>
                        <a:rPr sz="1100" b="1">
                          <a:solidFill>
                            <a:srgbClr val="FFFFFF"/>
                          </a:solidFill>
                          <a:latin typeface="Calibri"/>
                        </a:rPr>
                        <a:t>Status</a:t>
                      </a:r>
                    </a:p>
                  </a:txBody>
                  <a:tcPr anchor="ctr">
                    <a:solidFill>
                      <a:srgbClr val="0F2A4A"/>
                    </a:solidFill>
                  </a:tcPr>
                </a:tc>
              </a:tr>
              <a:tr h="365760">
                <a:tc>
                  <a:txBody>
                    <a:bodyPr/>
                    <a:lstStyle/>
                    <a:p>
                      <a:pPr algn="l"/>
                      <a:r>
                        <a:rPr sz="1100">
                          <a:solidFill>
                            <a:srgbClr val="22262A"/>
                          </a:solidFill>
                          <a:latin typeface="Calibri"/>
                        </a:rPr>
                        <a:t>M1</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2,000,000</a:t>
                      </a:r>
                    </a:p>
                  </a:txBody>
                  <a:tcPr anchor="ctr" marL="45720" marR="45720" marT="9144" marB="9144">
                    <a:solidFill>
                      <a:srgbClr val="FFFFFF"/>
                    </a:solidFill>
                  </a:tcPr>
                </a:tc>
                <a:tc>
                  <a:txBody>
                    <a:bodyPr/>
                    <a:lstStyle/>
                    <a:p>
                      <a:pPr algn="ctr"/>
                      <a:r>
                        <a:rPr sz="1100">
                          <a:solidFill>
                            <a:srgbClr val="22262A"/>
                          </a:solidFill>
                          <a:latin typeface="Calibri"/>
                        </a:rPr>
                        <a:t>227,193</a:t>
                      </a:r>
                    </a:p>
                  </a:txBody>
                  <a:tcPr anchor="ctr" marL="45720" marR="45720" marT="9144" marB="9144">
                    <a:solidFill>
                      <a:srgbClr val="FFFFFF"/>
                    </a:solidFill>
                  </a:tcPr>
                </a:tc>
                <a:tc>
                  <a:txBody>
                    <a:bodyPr/>
                    <a:lstStyle/>
                    <a:p>
                      <a:pPr algn="ctr"/>
                      <a:r>
                        <a:rPr sz="1100">
                          <a:solidFill>
                            <a:srgbClr val="22262A"/>
                          </a:solidFill>
                          <a:latin typeface="Calibri"/>
                        </a:rPr>
                        <a:t>1,772,807</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M2</a:t>
                      </a:r>
                    </a:p>
                  </a:txBody>
                  <a:tcPr anchor="ctr" marL="45720" marR="45720" marT="9144" marB="9144">
                    <a:solidFill>
                      <a:srgbClr val="EEF2F6"/>
                    </a:solidFill>
                  </a:tcPr>
                </a:tc>
                <a:tc>
                  <a:txBody>
                    <a:bodyPr/>
                    <a:lstStyle/>
                    <a:p>
                      <a:pPr algn="ctr"/>
                      <a:r>
                        <a:rPr sz="1100">
                          <a:solidFill>
                            <a:srgbClr val="22262A"/>
                          </a:solidFill>
                          <a:latin typeface="Calibri"/>
                        </a:rPr>
                        <a:t>—</a:t>
                      </a:r>
                    </a:p>
                  </a:txBody>
                  <a:tcPr anchor="ctr" marL="45720" marR="45720" marT="9144" marB="9144">
                    <a:solidFill>
                      <a:srgbClr val="EEF2F6"/>
                    </a:solidFill>
                  </a:tcPr>
                </a:tc>
                <a:tc>
                  <a:txBody>
                    <a:bodyPr/>
                    <a:lstStyle/>
                    <a:p>
                      <a:pPr algn="ctr"/>
                      <a:r>
                        <a:rPr sz="1100">
                          <a:solidFill>
                            <a:srgbClr val="22262A"/>
                          </a:solidFill>
                          <a:latin typeface="Calibri"/>
                        </a:rPr>
                        <a:t>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1,619,499</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r h="365760">
                <a:tc>
                  <a:txBody>
                    <a:bodyPr/>
                    <a:lstStyle/>
                    <a:p>
                      <a:pPr algn="l"/>
                      <a:r>
                        <a:rPr sz="1100">
                          <a:solidFill>
                            <a:srgbClr val="22262A"/>
                          </a:solidFill>
                          <a:latin typeface="Calibri"/>
                        </a:rPr>
                        <a:t>M3</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0</a:t>
                      </a:r>
                    </a:p>
                  </a:txBody>
                  <a:tcPr anchor="ctr" marL="45720" marR="45720" marT="9144" marB="9144">
                    <a:solidFill>
                      <a:srgbClr val="FFFFFF"/>
                    </a:solidFill>
                  </a:tcPr>
                </a:tc>
                <a:tc>
                  <a:txBody>
                    <a:bodyPr/>
                    <a:lstStyle/>
                    <a:p>
                      <a:pPr algn="ctr"/>
                      <a:r>
                        <a:rPr sz="1100">
                          <a:solidFill>
                            <a:srgbClr val="22262A"/>
                          </a:solidFill>
                          <a:latin typeface="Calibri"/>
                        </a:rPr>
                        <a:t>153,309</a:t>
                      </a:r>
                    </a:p>
                  </a:txBody>
                  <a:tcPr anchor="ctr" marL="45720" marR="45720" marT="9144" marB="9144">
                    <a:solidFill>
                      <a:srgbClr val="FFFFFF"/>
                    </a:solidFill>
                  </a:tcPr>
                </a:tc>
                <a:tc>
                  <a:txBody>
                    <a:bodyPr/>
                    <a:lstStyle/>
                    <a:p>
                      <a:pPr algn="ctr"/>
                      <a:r>
                        <a:rPr sz="1100">
                          <a:solidFill>
                            <a:srgbClr val="22262A"/>
                          </a:solidFill>
                          <a:latin typeface="Calibri"/>
                        </a:rPr>
                        <a:t>1,466,190</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M4</a:t>
                      </a:r>
                    </a:p>
                  </a:txBody>
                  <a:tcPr anchor="ctr" marL="45720" marR="45720" marT="9144" marB="9144">
                    <a:solidFill>
                      <a:srgbClr val="EEF2F6"/>
                    </a:solidFill>
                  </a:tcPr>
                </a:tc>
                <a:tc>
                  <a:txBody>
                    <a:bodyPr/>
                    <a:lstStyle/>
                    <a:p>
                      <a:pPr algn="ctr"/>
                      <a:r>
                        <a:rPr sz="1100">
                          <a:solidFill>
                            <a:srgbClr val="22262A"/>
                          </a:solidFill>
                          <a:latin typeface="Calibri"/>
                        </a:rPr>
                        <a:t>—</a:t>
                      </a:r>
                    </a:p>
                  </a:txBody>
                  <a:tcPr anchor="ctr" marL="45720" marR="45720" marT="9144" marB="9144">
                    <a:solidFill>
                      <a:srgbClr val="EEF2F6"/>
                    </a:solidFill>
                  </a:tcPr>
                </a:tc>
                <a:tc>
                  <a:txBody>
                    <a:bodyPr/>
                    <a:lstStyle/>
                    <a:p>
                      <a:pPr algn="ctr"/>
                      <a:r>
                        <a:rPr sz="1100">
                          <a:solidFill>
                            <a:srgbClr val="22262A"/>
                          </a:solidFill>
                          <a:latin typeface="Calibri"/>
                        </a:rPr>
                        <a:t>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1,312,881</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r h="365760">
                <a:tc>
                  <a:txBody>
                    <a:bodyPr/>
                    <a:lstStyle/>
                    <a:p>
                      <a:pPr algn="l"/>
                      <a:r>
                        <a:rPr sz="1100">
                          <a:solidFill>
                            <a:srgbClr val="22262A"/>
                          </a:solidFill>
                          <a:latin typeface="Calibri"/>
                        </a:rPr>
                        <a:t>M5</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0</a:t>
                      </a:r>
                    </a:p>
                  </a:txBody>
                  <a:tcPr anchor="ctr" marL="45720" marR="45720" marT="9144" marB="9144">
                    <a:solidFill>
                      <a:srgbClr val="FFFFFF"/>
                    </a:solidFill>
                  </a:tcPr>
                </a:tc>
                <a:tc>
                  <a:txBody>
                    <a:bodyPr/>
                    <a:lstStyle/>
                    <a:p>
                      <a:pPr algn="ctr"/>
                      <a:r>
                        <a:rPr sz="1100">
                          <a:solidFill>
                            <a:srgbClr val="22262A"/>
                          </a:solidFill>
                          <a:latin typeface="Calibri"/>
                        </a:rPr>
                        <a:t>153,309</a:t>
                      </a:r>
                    </a:p>
                  </a:txBody>
                  <a:tcPr anchor="ctr" marL="45720" marR="45720" marT="9144" marB="9144">
                    <a:solidFill>
                      <a:srgbClr val="FFFFFF"/>
                    </a:solidFill>
                  </a:tcPr>
                </a:tc>
                <a:tc>
                  <a:txBody>
                    <a:bodyPr/>
                    <a:lstStyle/>
                    <a:p>
                      <a:pPr algn="ctr"/>
                      <a:r>
                        <a:rPr sz="1100">
                          <a:solidFill>
                            <a:srgbClr val="22262A"/>
                          </a:solidFill>
                          <a:latin typeface="Calibri"/>
                        </a:rPr>
                        <a:t>1,159,572</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M6</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1,138,263</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r h="365760">
                <a:tc>
                  <a:txBody>
                    <a:bodyPr/>
                    <a:lstStyle/>
                    <a:p>
                      <a:pPr algn="l"/>
                      <a:r>
                        <a:rPr sz="1100">
                          <a:solidFill>
                            <a:srgbClr val="22262A"/>
                          </a:solidFill>
                          <a:latin typeface="Calibri"/>
                        </a:rPr>
                        <a:t>M7</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0</a:t>
                      </a:r>
                    </a:p>
                  </a:txBody>
                  <a:tcPr anchor="ctr" marL="45720" marR="45720" marT="9144" marB="9144">
                    <a:solidFill>
                      <a:srgbClr val="FFFFFF"/>
                    </a:solidFill>
                  </a:tcPr>
                </a:tc>
                <a:tc>
                  <a:txBody>
                    <a:bodyPr/>
                    <a:lstStyle/>
                    <a:p>
                      <a:pPr algn="ctr"/>
                      <a:r>
                        <a:rPr sz="1100">
                          <a:solidFill>
                            <a:srgbClr val="22262A"/>
                          </a:solidFill>
                          <a:latin typeface="Calibri"/>
                        </a:rPr>
                        <a:t>153,309</a:t>
                      </a:r>
                    </a:p>
                  </a:txBody>
                  <a:tcPr anchor="ctr" marL="45720" marR="45720" marT="9144" marB="9144">
                    <a:solidFill>
                      <a:srgbClr val="FFFFFF"/>
                    </a:solidFill>
                  </a:tcPr>
                </a:tc>
                <a:tc>
                  <a:txBody>
                    <a:bodyPr/>
                    <a:lstStyle/>
                    <a:p>
                      <a:pPr algn="ctr"/>
                      <a:r>
                        <a:rPr sz="1100">
                          <a:solidFill>
                            <a:srgbClr val="22262A"/>
                          </a:solidFill>
                          <a:latin typeface="Calibri"/>
                        </a:rPr>
                        <a:t>984,954</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M8</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963,645</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r h="365760">
                <a:tc>
                  <a:txBody>
                    <a:bodyPr/>
                    <a:lstStyle/>
                    <a:p>
                      <a:pPr algn="l"/>
                      <a:r>
                        <a:rPr sz="1100">
                          <a:solidFill>
                            <a:srgbClr val="22262A"/>
                          </a:solidFill>
                          <a:latin typeface="Calibri"/>
                        </a:rPr>
                        <a:t>M9</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0</a:t>
                      </a:r>
                    </a:p>
                  </a:txBody>
                  <a:tcPr anchor="ctr" marL="45720" marR="45720" marT="9144" marB="9144">
                    <a:solidFill>
                      <a:srgbClr val="FFFFFF"/>
                    </a:solidFill>
                  </a:tcPr>
                </a:tc>
                <a:tc>
                  <a:txBody>
                    <a:bodyPr/>
                    <a:lstStyle/>
                    <a:p>
                      <a:pPr algn="ctr"/>
                      <a:r>
                        <a:rPr sz="1100">
                          <a:solidFill>
                            <a:srgbClr val="22262A"/>
                          </a:solidFill>
                          <a:latin typeface="Calibri"/>
                        </a:rPr>
                        <a:t>153,309</a:t>
                      </a:r>
                    </a:p>
                  </a:txBody>
                  <a:tcPr anchor="ctr" marL="45720" marR="45720" marT="9144" marB="9144">
                    <a:solidFill>
                      <a:srgbClr val="FFFFFF"/>
                    </a:solidFill>
                  </a:tcPr>
                </a:tc>
                <a:tc>
                  <a:txBody>
                    <a:bodyPr/>
                    <a:lstStyle/>
                    <a:p>
                      <a:pPr algn="ctr"/>
                      <a:r>
                        <a:rPr sz="1100">
                          <a:solidFill>
                            <a:srgbClr val="22262A"/>
                          </a:solidFill>
                          <a:latin typeface="Calibri"/>
                        </a:rPr>
                        <a:t>810,337</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M10</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789,028</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r h="365760">
                <a:tc>
                  <a:txBody>
                    <a:bodyPr/>
                    <a:lstStyle/>
                    <a:p>
                      <a:pPr algn="l"/>
                      <a:r>
                        <a:rPr sz="1100">
                          <a:solidFill>
                            <a:srgbClr val="22262A"/>
                          </a:solidFill>
                          <a:latin typeface="Calibri"/>
                        </a:rPr>
                        <a:t>M11</a:t>
                      </a:r>
                    </a:p>
                  </a:txBody>
                  <a:tcPr anchor="ctr" marL="45720" marR="45720" marT="9144" marB="9144">
                    <a:solidFill>
                      <a:srgbClr val="FFFFFF"/>
                    </a:solidFill>
                  </a:tcPr>
                </a:tc>
                <a:tc>
                  <a:txBody>
                    <a:bodyPr/>
                    <a:lstStyle/>
                    <a:p>
                      <a:pPr algn="ctr"/>
                      <a:r>
                        <a:rPr sz="1100">
                          <a:solidFill>
                            <a:srgbClr val="22262A"/>
                          </a:solidFill>
                          <a:latin typeface="Calibri"/>
                        </a:rPr>
                        <a:t>—</a:t>
                      </a:r>
                    </a:p>
                  </a:txBody>
                  <a:tcPr anchor="ctr" marL="45720" marR="45720" marT="9144" marB="9144">
                    <a:solidFill>
                      <a:srgbClr val="FFFFFF"/>
                    </a:solidFill>
                  </a:tcPr>
                </a:tc>
                <a:tc>
                  <a:txBody>
                    <a:bodyPr/>
                    <a:lstStyle/>
                    <a:p>
                      <a:pPr algn="ctr"/>
                      <a:r>
                        <a:rPr sz="1100">
                          <a:solidFill>
                            <a:srgbClr val="22262A"/>
                          </a:solidFill>
                          <a:latin typeface="Calibri"/>
                        </a:rPr>
                        <a:t>0</a:t>
                      </a:r>
                    </a:p>
                  </a:txBody>
                  <a:tcPr anchor="ctr" marL="45720" marR="45720" marT="9144" marB="9144">
                    <a:solidFill>
                      <a:srgbClr val="FFFFFF"/>
                    </a:solidFill>
                  </a:tcPr>
                </a:tc>
                <a:tc>
                  <a:txBody>
                    <a:bodyPr/>
                    <a:lstStyle/>
                    <a:p>
                      <a:pPr algn="ctr"/>
                      <a:r>
                        <a:rPr sz="1100">
                          <a:solidFill>
                            <a:srgbClr val="22262A"/>
                          </a:solidFill>
                          <a:latin typeface="Calibri"/>
                        </a:rPr>
                        <a:t>153,309</a:t>
                      </a:r>
                    </a:p>
                  </a:txBody>
                  <a:tcPr anchor="ctr" marL="45720" marR="45720" marT="9144" marB="9144">
                    <a:solidFill>
                      <a:srgbClr val="FFFFFF"/>
                    </a:solidFill>
                  </a:tcPr>
                </a:tc>
                <a:tc>
                  <a:txBody>
                    <a:bodyPr/>
                    <a:lstStyle/>
                    <a:p>
                      <a:pPr algn="ctr"/>
                      <a:r>
                        <a:rPr sz="1100">
                          <a:solidFill>
                            <a:srgbClr val="22262A"/>
                          </a:solidFill>
                          <a:latin typeface="Calibri"/>
                        </a:rPr>
                        <a:t>635,719</a:t>
                      </a:r>
                    </a:p>
                  </a:txBody>
                  <a:tcPr anchor="ctr" marL="45720" marR="45720" marT="9144" marB="9144">
                    <a:solidFill>
                      <a:srgbClr val="FFFFFF"/>
                    </a:solidFill>
                  </a:tcPr>
                </a:tc>
                <a:tc>
                  <a:txBody>
                    <a:bodyPr/>
                    <a:lstStyle/>
                    <a:p>
                      <a:pPr algn="ctr"/>
                      <a:r>
                        <a:rPr sz="1100" b="1">
                          <a:solidFill>
                            <a:srgbClr val="1E8E3E"/>
                          </a:solidFill>
                          <a:latin typeface="Calibri"/>
                        </a:rPr>
                        <a:t>OK</a:t>
                      </a:r>
                    </a:p>
                  </a:txBody>
                  <a:tcPr anchor="ctr" marL="45720" marR="45720" marT="9144" marB="9144">
                    <a:solidFill>
                      <a:srgbClr val="FFFFFF"/>
                    </a:solidFill>
                  </a:tcPr>
                </a:tc>
              </a:tr>
              <a:tr h="365760">
                <a:tc>
                  <a:txBody>
                    <a:bodyPr/>
                    <a:lstStyle/>
                    <a:p>
                      <a:pPr algn="l"/>
                      <a:r>
                        <a:rPr sz="1100">
                          <a:solidFill>
                            <a:srgbClr val="22262A"/>
                          </a:solidFill>
                          <a:latin typeface="Calibri"/>
                        </a:rPr>
                        <a:t>M12</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132,000</a:t>
                      </a:r>
                    </a:p>
                  </a:txBody>
                  <a:tcPr anchor="ctr" marL="45720" marR="45720" marT="9144" marB="9144">
                    <a:solidFill>
                      <a:srgbClr val="EEF2F6"/>
                    </a:solidFill>
                  </a:tcPr>
                </a:tc>
                <a:tc>
                  <a:txBody>
                    <a:bodyPr/>
                    <a:lstStyle/>
                    <a:p>
                      <a:pPr algn="ctr"/>
                      <a:r>
                        <a:rPr sz="1100">
                          <a:solidFill>
                            <a:srgbClr val="22262A"/>
                          </a:solidFill>
                          <a:latin typeface="Calibri"/>
                        </a:rPr>
                        <a:t>153,309</a:t>
                      </a:r>
                    </a:p>
                  </a:txBody>
                  <a:tcPr anchor="ctr" marL="45720" marR="45720" marT="9144" marB="9144">
                    <a:solidFill>
                      <a:srgbClr val="EEF2F6"/>
                    </a:solidFill>
                  </a:tcPr>
                </a:tc>
                <a:tc>
                  <a:txBody>
                    <a:bodyPr/>
                    <a:lstStyle/>
                    <a:p>
                      <a:pPr algn="ctr"/>
                      <a:r>
                        <a:rPr sz="1100">
                          <a:solidFill>
                            <a:srgbClr val="22262A"/>
                          </a:solidFill>
                          <a:latin typeface="Calibri"/>
                        </a:rPr>
                        <a:t>614,410</a:t>
                      </a:r>
                    </a:p>
                  </a:txBody>
                  <a:tcPr anchor="ctr" marL="45720" marR="45720" marT="9144" marB="9144">
                    <a:solidFill>
                      <a:srgbClr val="EEF2F6"/>
                    </a:solidFill>
                  </a:tcPr>
                </a:tc>
                <a:tc>
                  <a:txBody>
                    <a:bodyPr/>
                    <a:lstStyle/>
                    <a:p>
                      <a:pPr algn="ctr"/>
                      <a:r>
                        <a:rPr sz="1100" b="1">
                          <a:solidFill>
                            <a:srgbClr val="1E8E3E"/>
                          </a:solidFill>
                          <a:latin typeface="Calibri"/>
                        </a:rPr>
                        <a:t>OK</a:t>
                      </a:r>
                    </a:p>
                  </a:txBody>
                  <a:tcPr anchor="ctr" marL="45720" marR="45720" marT="9144" marB="9144">
                    <a:solidFill>
                      <a:srgbClr val="EEF2F6"/>
                    </a:solidFill>
                  </a:tcPr>
                </a:tc>
              </a:tr>
            </a:tbl>
          </a:graphicData>
        </a:graphic>
      </p:graphicFrame>
      <p:sp>
        <p:nvSpPr>
          <p:cNvPr id="6" name="TextBox 5"/>
          <p:cNvSpPr txBox="1"/>
          <p:nvPr/>
        </p:nvSpPr>
        <p:spPr>
          <a:xfrm>
            <a:off x="457200" y="6446520"/>
            <a:ext cx="11247120" cy="320040"/>
          </a:xfrm>
          <a:prstGeom prst="rect">
            <a:avLst/>
          </a:prstGeom>
          <a:noFill/>
        </p:spPr>
        <p:txBody>
          <a:bodyPr wrap="square">
            <a:spAutoFit/>
          </a:bodyPr>
          <a:lstStyle/>
          <a:p>
            <a:pPr algn="l"/>
            <a:r>
              <a:rPr sz="800" b="0" i="0">
                <a:solidFill>
                  <a:srgbClr val="5A636E"/>
                </a:solidFill>
                <a:latin typeface="Calibri"/>
              </a:rPr>
              <a:t>Partner Revenue OS · Pre-Seed Runway · SAR · figures from founder cost data (Pillars 1-3); revenue base=0, upside illustrative</a:t>
            </a:r>
          </a:p>
        </p:txBody>
      </p:sp>
      <p:sp>
        <p:nvSpPr>
          <p:cNvPr id="7" name="TextBox 6"/>
          <p:cNvSpPr txBox="1"/>
          <p:nvPr/>
        </p:nvSpPr>
        <p:spPr>
          <a:xfrm>
            <a:off x="11338560" y="6446520"/>
            <a:ext cx="640080" cy="320040"/>
          </a:xfrm>
          <a:prstGeom prst="rect">
            <a:avLst/>
          </a:prstGeom>
          <a:noFill/>
        </p:spPr>
        <p:txBody>
          <a:bodyPr wrap="square">
            <a:spAutoFit/>
          </a:bodyPr>
          <a:lstStyle/>
          <a:p>
            <a:pPr algn="r"/>
            <a:r>
              <a:rPr sz="900" b="0" i="0">
                <a:solidFill>
                  <a:srgbClr val="5A63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